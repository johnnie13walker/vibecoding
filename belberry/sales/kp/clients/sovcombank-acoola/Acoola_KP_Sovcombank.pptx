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 snapToObjects="1">
      <p:cViewPr varScale="1">
        <p:scale>
          <a:sx n="114" d="100"/>
          <a:sy n="114" d="100"/>
        </p:scale>
        <p:origin x="49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5486400"/>
            <a:ext cx="3657600" cy="3657600"/>
          </a:xfrm>
          <a:prstGeom prst="ellipse">
            <a:avLst/>
          </a:prstGeom>
          <a:noFill/>
          <a:ln w="1905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502920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187184" y="502920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33488" y="502920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479792" y="502920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626096" y="502920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040880" y="649224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87184" y="649224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33488" y="649224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479792" y="649224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26096" y="649224"/>
            <a:ext cx="41148" cy="41148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banking_portra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34440"/>
            <a:ext cx="4373575" cy="5029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178040" y="1234440"/>
            <a:ext cx="4373575" cy="50292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F2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66560" y="1005840"/>
            <a:ext cx="822960" cy="822960"/>
          </a:xfrm>
          <a:prstGeom prst="ellipse">
            <a:avLst/>
          </a:prstGeom>
          <a:noFill/>
          <a:ln w="2540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43800" y="5029200"/>
            <a:ext cx="2743200" cy="868680"/>
          </a:xfrm>
          <a:prstGeom prst="roundRect">
            <a:avLst>
              <a:gd name="adj" fmla="val 12000"/>
            </a:avLst>
          </a:prstGeom>
          <a:solidFill>
            <a:srgbClr val="3086FB"/>
          </a:solidFill>
          <a:ln w="9525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51937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00" b="1" spc="300">
                <a:solidFill>
                  <a:srgbClr val="FFFFFF"/>
                </a:solidFill>
                <a:latin typeface="Gilroy"/>
              </a:rPr>
              <a:t>ДЛЯ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41324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Manrope"/>
              </a:rPr>
              <a:t>ПАО «Совкомбанк»</a:t>
            </a:r>
          </a:p>
        </p:txBody>
      </p:sp>
      <p:pic>
        <p:nvPicPr>
          <p:cNvPr id="20" name="Picture 19" descr="acool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430579" cy="3840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91440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00" b="1" spc="400">
                <a:solidFill>
                  <a:srgbClr val="6E6E78"/>
                </a:solidFill>
                <a:latin typeface="Gilroy"/>
              </a:rPr>
              <a:t>DIGITAL-АГЕНТСТВО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184708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178308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КОММЕРЧЕСКОЕ ПРЕДЛОЖЕНИЕ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331720"/>
            <a:ext cx="63093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4800" b="1">
                <a:solidFill>
                  <a:srgbClr val="0E1116"/>
                </a:solidFill>
                <a:latin typeface="Manrope"/>
              </a:rPr>
              <a:t>Сопровождение</a:t>
            </a:r>
          </a:p>
          <a:p>
            <a:pPr>
              <a:lnSpc>
                <a:spcPct val="95000"/>
              </a:lnSpc>
            </a:pPr>
            <a:r>
              <a:rPr sz="4800" b="1">
                <a:solidFill>
                  <a:srgbClr val="0E1116"/>
                </a:solidFill>
                <a:latin typeface="Manrope"/>
              </a:rPr>
              <a:t>сайта</a:t>
            </a:r>
          </a:p>
          <a:p>
            <a:pPr>
              <a:lnSpc>
                <a:spcPct val="95000"/>
              </a:lnSpc>
            </a:pPr>
            <a:r>
              <a:rPr sz="4800" b="1">
                <a:solidFill>
                  <a:srgbClr val="3086FB"/>
                </a:solidFill>
                <a:latin typeface="Manrope"/>
              </a:rPr>
              <a:t>и маркетинга.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40680"/>
            <a:ext cx="6126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313131"/>
                </a:solidFill>
                <a:latin typeface="Manrope"/>
              </a:rPr>
              <a:t>Внешний маркетингово-технический контур для банка.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989320"/>
            <a:ext cx="274320" cy="36576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1560" y="59436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spc="300">
                <a:solidFill>
                  <a:srgbClr val="6E6E78"/>
                </a:solidFill>
                <a:latin typeface="Gilroy"/>
              </a:rPr>
              <a:t>ACOOLA TEAM   /   2025   /   acoola.team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7040880" y="91440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205472" y="91440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70064" y="91440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107899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205472" y="107899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70064" y="107899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040880" y="124358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05472" y="124358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70064" y="124358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40880" y="140817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05472" y="140817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370064" y="140817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040880" y="157276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205472" y="157276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370064" y="157276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40880" y="173736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05472" y="173736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70064" y="173736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40880" y="190195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205472" y="190195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370064" y="190195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40880" y="206654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05472" y="206654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70064" y="206654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40880" y="223113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205472" y="223113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370064" y="223113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040880" y="239572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05472" y="239572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370064" y="2395728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040880" y="25603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205472" y="25603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370064" y="25603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040880" y="27249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205472" y="27249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370064" y="27249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team_portrai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4236415" cy="50292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7315200" y="1280160"/>
            <a:ext cx="4236415" cy="50292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F2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995160" y="5989320"/>
            <a:ext cx="640080" cy="640080"/>
          </a:xfrm>
          <a:prstGeom prst="ellipse">
            <a:avLst/>
          </a:prstGeom>
          <a:noFill/>
          <a:ln w="2540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635240" y="498348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863840" y="5120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00" b="1" spc="300">
                <a:solidFill>
                  <a:srgbClr val="6E6E78"/>
                </a:solidFill>
                <a:latin typeface="Gilroy"/>
              </a:rPr>
              <a:t>В КОМАНДЕ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349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0E1116"/>
                </a:solidFill>
                <a:latin typeface="Manrope"/>
              </a:rPr>
              <a:t>7 ролей</a:t>
            </a:r>
          </a:p>
        </p:txBody>
      </p:sp>
      <p:sp>
        <p:nvSpPr>
          <p:cNvPr id="47" name="Oval 46"/>
          <p:cNvSpPr/>
          <p:nvPr/>
        </p:nvSpPr>
        <p:spPr>
          <a:xfrm>
            <a:off x="640080" y="134416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2960" y="128016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01 / КОМУ ЭТО АДРЕСОВАНО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17373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3800" b="1">
                <a:solidFill>
                  <a:srgbClr val="0E1116"/>
                </a:solidFill>
                <a:latin typeface="Manrope"/>
              </a:rPr>
              <a:t>Это для банка</a:t>
            </a:r>
          </a:p>
          <a:p>
            <a:pPr>
              <a:lnSpc>
                <a:spcPct val="95000"/>
              </a:lnSpc>
            </a:pPr>
            <a:r>
              <a:rPr sz="3800" b="1">
                <a:solidFill>
                  <a:srgbClr val="0E1116"/>
                </a:solidFill>
                <a:latin typeface="Manrope"/>
              </a:rPr>
              <a:t>с большим сайтом</a:t>
            </a:r>
          </a:p>
          <a:p>
            <a:pPr>
              <a:lnSpc>
                <a:spcPct val="95000"/>
              </a:lnSpc>
            </a:pPr>
            <a:r>
              <a:rPr sz="3800" b="1">
                <a:solidFill>
                  <a:srgbClr val="3086FB"/>
                </a:solidFill>
                <a:latin typeface="Manrope"/>
              </a:rPr>
              <a:t>и подрядчиками.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074920"/>
            <a:ext cx="62179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350" b="0">
                <a:solidFill>
                  <a:srgbClr val="6E6E78"/>
                </a:solidFill>
                <a:latin typeface="Gilroy"/>
              </a:rPr>
              <a:t>Это предложение для банка с работающим сайтом, продуктовыми лендингами, активными релизами и командой подрядчиков. Маркетингу не хватает технической экспертизы под рукой.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pic>
        <p:nvPicPr>
          <p:cNvPr id="5" name="Picture 4" descr="hero_dashboard_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80160"/>
            <a:ext cx="3657600" cy="2103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280160"/>
            <a:ext cx="3657600" cy="210312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F2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0" y="3108960"/>
            <a:ext cx="548640" cy="548640"/>
          </a:xfrm>
          <a:prstGeom prst="ellipse">
            <a:avLst/>
          </a:prstGeom>
          <a:noFill/>
          <a:ln w="2540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02 / 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>
                <a:solidFill>
                  <a:srgbClr val="0E1116"/>
                </a:solidFill>
                <a:latin typeface="Manrope"/>
              </a:rPr>
              <a:t>Сайт банка</a:t>
            </a:r>
          </a:p>
          <a:p>
            <a:pPr>
              <a:lnSpc>
                <a:spcPct val="100000"/>
              </a:lnSpc>
            </a:pPr>
            <a:r>
              <a:rPr sz="4400" b="1">
                <a:solidFill>
                  <a:srgbClr val="3086FB"/>
                </a:solidFill>
                <a:latin typeface="Manrope"/>
              </a:rPr>
              <a:t>ломается тихо.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0">
                <a:solidFill>
                  <a:srgbClr val="6E6E78"/>
                </a:solidFill>
                <a:latin typeface="Gilroy"/>
              </a:rPr>
              <a:t>Подрядчик случайно закрыл продуктовую страницу от индексации. Маркетинг обновил тарифы, и калькулятор перестал считать. Падение трафика заметили через две недели.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295" y="470916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0615" y="4892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spc="200">
                <a:solidFill>
                  <a:srgbClr val="3086FB"/>
                </a:solidFill>
                <a:latin typeface="Manrop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615" y="52120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Нет экспертизы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615" y="5577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Маркетингу не хватает технической стороны.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3503" y="470916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7823" y="4892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spc="200">
                <a:solidFill>
                  <a:srgbClr val="3086FB"/>
                </a:solidFill>
                <a:latin typeface="Manrop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7823" y="52120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Нет контроля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823" y="5577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Подрядчики выпускают задачи без проверки.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0711" y="470916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5031" y="4892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spc="200">
                <a:solidFill>
                  <a:srgbClr val="3086FB"/>
                </a:solidFill>
                <a:latin typeface="Manrop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52120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Нет системности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5031" y="5577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Никто не смотрит на сайт целиком.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7919" y="470916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32239" y="489204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spc="200">
                <a:solidFill>
                  <a:srgbClr val="3086FB"/>
                </a:solidFill>
                <a:latin typeface="Manrop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2239" y="52120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Нет SEO-надзора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2239" y="557784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Доработки идут без оценки рисков для трафика.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457200" cy="5486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8686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00" b="1" spc="300">
                <a:solidFill>
                  <a:srgbClr val="6E6E78"/>
                </a:solidFill>
                <a:latin typeface="Gilroy"/>
              </a:rPr>
              <a:t>03 / НАША РОЛЬ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219456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Внешний маркетингово-</a:t>
            </a:r>
          </a:p>
          <a:p>
            <a:pPr>
              <a:lnSpc>
                <a:spcPct val="100000"/>
              </a:lnSpc>
            </a:pPr>
            <a:r>
              <a:rPr sz="3600" b="1">
                <a:solidFill>
                  <a:srgbClr val="3086FB"/>
                </a:solidFill>
                <a:latin typeface="Manrope"/>
              </a:rPr>
              <a:t>технический отдел банка.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400" b="0">
                <a:solidFill>
                  <a:srgbClr val="6E6E78"/>
                </a:solidFill>
                <a:latin typeface="Gilroy"/>
              </a:rPr>
              <a:t>Мы не заменяем маркетинг банка и не вытесняем подрядчиков. Помогаем им работать чище: ставим задачи, проверяем результат, замечаем риски заранее. Acoola Team становится тем самым старшим специалистом, который держит сайт в порядке.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587" y="493776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0907" y="51846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2387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Контроль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907" y="5650992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Следим за подрядчиками и доработками.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627" y="493776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09947" y="51846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1427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Экспертиза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9947" y="5650992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SEO, разработка, контент, аналитика.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4667" y="4937760"/>
            <a:ext cx="352044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58987" y="51846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0467" y="5166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Прозрачность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8987" y="5650992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Отчёт по часам и задачам каждый месяц.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04 / ЧТО МЫ ДЕЛАЕМ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Внутри ежемесячного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пакета часов.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3075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21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Разбираем задачи и расставляем приоритеты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27939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702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Ставим задачи подрядчикам и нашим специалистам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2803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Проверяем результат до и после внедрения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376671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6752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Следим за SEO-рисками доработок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73075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21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Помогаем маркетингу банка с технической частью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427939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Работаем с контентом, продуктовыми страницами, аналитикой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4828032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188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Ведём отчёт по часам и задачам каждый месяц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5376671"/>
            <a:ext cx="256032" cy="25603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Gilro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6752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0">
                <a:solidFill>
                  <a:srgbClr val="0E1116"/>
                </a:solidFill>
                <a:latin typeface="Gilroy"/>
              </a:rPr>
              <a:t>Даём рекомендации по сайту и инфраструктуре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9601200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65792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30384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94976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59568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24160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88752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753344" y="960120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01200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65792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930384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94976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259568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424160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588752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53344" y="1124712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01200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765792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930384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094976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259568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424160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588752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53344" y="1289304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200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765792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30384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94976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259568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24160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588752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53344" y="1453896"/>
            <a:ext cx="45720" cy="45720"/>
          </a:xfrm>
          <a:prstGeom prst="ellipse">
            <a:avLst/>
          </a:prstGeom>
          <a:solidFill>
            <a:srgbClr val="A0A0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05 / КОМАНДА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1417320"/>
            <a:ext cx="10972800" cy="1828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Кто работает</a:t>
            </a:r>
          </a:p>
          <a:p>
            <a:pPr>
              <a:lnSpc>
                <a:spcPct val="10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внутри пакета часов.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6118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300" b="0">
                <a:solidFill>
                  <a:srgbClr val="6E6E78"/>
                </a:solidFill>
                <a:latin typeface="Gilroy"/>
              </a:rPr>
              <a:t>Банк общается с одним аккаунт-менеджером. Команду под задачу подбираем сами.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6879" y="41605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1199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95831" y="4389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Аккаунт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95831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07511" y="41605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681831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6463" y="4389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SEO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6463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Специалист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8143" y="41605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452463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37095" y="4389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Разработчик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7095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Front / Back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48775" y="41605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223095" y="443484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7727" y="438912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Контент-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07727" y="4663440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менеджер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022195" y="5285232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2296515" y="55595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1147" y="551383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Копирайтер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1147" y="578815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SEO-тексты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92827" y="5285232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5067147" y="55595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1779" y="551383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Дизайнер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1779" y="578815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Web / UI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3459" y="5285232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837779" y="5559552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2411" y="5513832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1">
                <a:solidFill>
                  <a:srgbClr val="0E1116"/>
                </a:solidFill>
                <a:latin typeface="Manrope"/>
              </a:rPr>
              <a:t>Аналитик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2411" y="578815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Метрики, GA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06 / ФОРМАТ РАБОТЫ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Один цикл,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повторяющийся каждый месяц.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431" y="3749039"/>
            <a:ext cx="2157984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0031" y="3977639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spc="200">
                <a:solidFill>
                  <a:srgbClr val="3086FB"/>
                </a:solidFill>
                <a:latin typeface="Manro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031" y="4526279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Запрос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31" y="4983479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Задача поступает в закреплённый канал.</a:t>
            </a:r>
          </a:p>
        </p:txBody>
      </p:sp>
      <p:sp>
        <p:nvSpPr>
          <p:cNvPr id="12" name="Right Triangle 11"/>
          <p:cNvSpPr/>
          <p:nvPr/>
        </p:nvSpPr>
        <p:spPr>
          <a:xfrm>
            <a:off x="2639415" y="4800599"/>
            <a:ext cx="109728" cy="91440"/>
          </a:xfrm>
          <a:prstGeom prst="rtTriangle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9143" y="3749039"/>
            <a:ext cx="2157984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7743" y="3977639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spc="200">
                <a:solidFill>
                  <a:srgbClr val="3086FB"/>
                </a:solidFill>
                <a:latin typeface="Manrope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7743" y="4526279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Оценка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7743" y="4983479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Аккаунт фиксирует часы и приоритет.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4907127" y="4800599"/>
            <a:ext cx="109728" cy="91440"/>
          </a:xfrm>
          <a:prstGeom prst="rtTriangle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16855" y="3749039"/>
            <a:ext cx="2157984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45455" y="3977639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spc="200">
                <a:solidFill>
                  <a:srgbClr val="3086FB"/>
                </a:solidFill>
                <a:latin typeface="Manrope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5455" y="4526279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Исполнение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5455" y="4983479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Задача уходит нужному специалисту.</a:t>
            </a:r>
          </a:p>
        </p:txBody>
      </p:sp>
      <p:sp>
        <p:nvSpPr>
          <p:cNvPr id="22" name="Right Triangle 21"/>
          <p:cNvSpPr/>
          <p:nvPr/>
        </p:nvSpPr>
        <p:spPr>
          <a:xfrm>
            <a:off x="7174839" y="4800599"/>
            <a:ext cx="109728" cy="91440"/>
          </a:xfrm>
          <a:prstGeom prst="rtTriangle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84567" y="3749039"/>
            <a:ext cx="2157984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513167" y="3977639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spc="200">
                <a:solidFill>
                  <a:srgbClr val="3086FB"/>
                </a:solidFill>
                <a:latin typeface="Manrope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3167" y="4526279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Проверка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3167" y="4983479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Внутренний контроль качества.</a:t>
            </a:r>
          </a:p>
        </p:txBody>
      </p:sp>
      <p:sp>
        <p:nvSpPr>
          <p:cNvPr id="27" name="Right Triangle 26"/>
          <p:cNvSpPr/>
          <p:nvPr/>
        </p:nvSpPr>
        <p:spPr>
          <a:xfrm>
            <a:off x="9442551" y="4800599"/>
            <a:ext cx="109728" cy="91440"/>
          </a:xfrm>
          <a:prstGeom prst="rtTriangle">
            <a:avLst/>
          </a:prstGeom>
          <a:solidFill>
            <a:srgbClr val="E3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52279" y="3749039"/>
            <a:ext cx="2157984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80879" y="3977639"/>
            <a:ext cx="640080" cy="365760"/>
          </a:xfrm>
          <a:prstGeom prst="roundRect">
            <a:avLst>
              <a:gd name="adj" fmla="val 30000"/>
            </a:avLst>
          </a:prstGeom>
          <a:solidFill>
            <a:srgbClr val="F7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spc="200">
                <a:solidFill>
                  <a:srgbClr val="3086FB"/>
                </a:solidFill>
                <a:latin typeface="Manrop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0879" y="4526279"/>
            <a:ext cx="17007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1">
                <a:solidFill>
                  <a:srgbClr val="0E1116"/>
                </a:solidFill>
                <a:latin typeface="Manrope"/>
              </a:rPr>
              <a:t>Отчёт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0879" y="4983479"/>
            <a:ext cx="170078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050" b="0">
                <a:solidFill>
                  <a:srgbClr val="6E6E78"/>
                </a:solidFill>
                <a:latin typeface="Gilroy"/>
              </a:rPr>
              <a:t>По итогам месяца: часы и статусы задач.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Раз в квартал проводим стратегическую встречу: что работает, что менять.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07 / ТАРИФЫ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0E1116"/>
                </a:solidFill>
                <a:latin typeface="Manrope"/>
              </a:rPr>
              <a:t>Часы × ставка =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3086FB"/>
                </a:solidFill>
                <a:latin typeface="Manrope"/>
              </a:rPr>
              <a:t>абонентская плата.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0" spc="200">
                <a:solidFill>
                  <a:srgbClr val="6E6E78"/>
                </a:solidFill>
                <a:latin typeface="Gilroy"/>
              </a:rPr>
              <a:t>Все цены без НДС.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307" y="365760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6627" y="38862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Базовый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627" y="42976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70 000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6627" y="507492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₽ в месяц, без НДС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5440680"/>
            <a:ext cx="0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6627" y="55321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Часов в месяц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9667" y="55321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627" y="57607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Ставка часа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69667" y="57607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3 500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627" y="59893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Сверхчас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9667" y="59893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4 000 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5627" y="3520440"/>
            <a:ext cx="3520440" cy="269748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>
            <a:solidFill>
              <a:srgbClr val="0E11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35627" y="3200400"/>
            <a:ext cx="3520440" cy="320040"/>
          </a:xfrm>
          <a:prstGeom prst="roundRect">
            <a:avLst>
              <a:gd name="adj" fmla="val 40000"/>
            </a:avLst>
          </a:prstGeom>
          <a:solidFill>
            <a:srgbClr val="3086FB"/>
          </a:solidFill>
          <a:ln w="9525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576" rIns="0" bIns="0" rtlCol="0" anchor="ctr"/>
          <a:lstStyle/>
          <a:p>
            <a:pPr algn="ctr"/>
            <a:r>
              <a:rPr sz="900" b="1" spc="400">
                <a:solidFill>
                  <a:srgbClr val="FFFFFF"/>
                </a:solidFill>
                <a:latin typeface="Gilroy"/>
              </a:rPr>
              <a:t>ВЫБОР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9947" y="374904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FFFFFF"/>
                </a:solidFill>
                <a:latin typeface="Manrope"/>
              </a:rPr>
              <a:t>Оптимальный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47" y="416052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600" b="1">
                <a:solidFill>
                  <a:srgbClr val="3086FB"/>
                </a:solidFill>
                <a:latin typeface="Manrope"/>
              </a:rPr>
              <a:t>128 000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9947" y="493776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₽ в месяц, без НДС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0" y="5303520"/>
            <a:ext cx="0" cy="0"/>
          </a:xfrm>
          <a:prstGeom prst="line">
            <a:avLst/>
          </a:prstGeom>
          <a:ln w="6350">
            <a:solidFill>
              <a:srgbClr val="333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609947" y="539495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Часов в месяц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2987" y="539495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Gilroy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9947" y="562355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Ставка часа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2987" y="562355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Gilroy"/>
              </a:rPr>
              <a:t>3 200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9947" y="585215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Сверхчас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2987" y="585215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FFFFFF"/>
                </a:solidFill>
                <a:latin typeface="Gilroy"/>
              </a:rPr>
              <a:t>3 500 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8947" y="3657600"/>
            <a:ext cx="35204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13267" y="388620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E1116"/>
                </a:solidFill>
                <a:latin typeface="Manrope"/>
              </a:rPr>
              <a:t>Максимальный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267" y="4297680"/>
            <a:ext cx="2971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224 000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3267" y="5074920"/>
            <a:ext cx="2971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₽ в месяц, без НДС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0" y="5440680"/>
            <a:ext cx="0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313267" y="55321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Часов в месяц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6307" y="55321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3267" y="57607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Ставка часа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76307" y="57607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2 800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3267" y="598931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Сверхчас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76307" y="5989319"/>
            <a:ext cx="15087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50" b="1">
                <a:solidFill>
                  <a:srgbClr val="0E1116"/>
                </a:solidFill>
                <a:latin typeface="Gilroy"/>
              </a:rPr>
              <a:t>3 200 ₽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08 / ПРИМЕРЫ ЗАДАЧ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Что можно решать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в рамках поддержки.</a:t>
            </a:r>
          </a:p>
        </p:txBody>
      </p:sp>
      <p:pic>
        <p:nvPicPr>
          <p:cNvPr id="8" name="Picture 7" descr="chart_w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280160"/>
            <a:ext cx="4236415" cy="1280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280160"/>
            <a:ext cx="4236415" cy="128016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F2F2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5147" y="365760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5147" y="376732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747" y="382219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Проверить задачу подрядчика перед запуском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29787" y="365760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29787" y="376732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8387" y="382219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Оценить SEO-риски доработки продуктовой страницы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365760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4427" y="376732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93027" y="382219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Подготовить ТЗ для разработчика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9067" y="365760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99067" y="376732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7667" y="382219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Проверить корректность калькуляторов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147" y="44348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5147" y="454456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747" y="45994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Обновить тарифы и условия на сайте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29787" y="44348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29787" y="454456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58387" y="45994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Доработать страницы вкладов и кредитов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4348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54456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93027" y="45994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Проверить формы заявок и аналитику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9067" y="443484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99067" y="454456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27667" y="45994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Исправить технические ошибки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147" y="52120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5147" y="532180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3747" y="53766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Проконтролировать подрядчика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9787" y="52120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29787" y="532180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58387" y="53766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Дать рекомендации маркетингу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4427" y="52120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64427" y="532180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93027" y="53766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Проверить посадочные перед рекламой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99067" y="5212080"/>
            <a:ext cx="269748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99067" y="5321808"/>
            <a:ext cx="36576" cy="420624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27667" y="537667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30000"/>
              </a:lnSpc>
            </a:pPr>
            <a:r>
              <a:rPr sz="1050" b="0">
                <a:solidFill>
                  <a:srgbClr val="0E1116"/>
                </a:solidFill>
                <a:latin typeface="Gilroy"/>
              </a:rPr>
              <a:t>Подготовить SEO-тексты для продуктов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09 / ЧТО БАНК ПОЛУЧАЕТ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18288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600" b="1">
                <a:solidFill>
                  <a:srgbClr val="0E1116"/>
                </a:solidFill>
                <a:latin typeface="Manrope"/>
              </a:rPr>
              <a:t>Внешняя команда,</a:t>
            </a:r>
          </a:p>
          <a:p>
            <a:pPr>
              <a:lnSpc>
                <a:spcPct val="100000"/>
              </a:lnSpc>
            </a:pPr>
            <a:r>
              <a:rPr sz="3600" b="1">
                <a:solidFill>
                  <a:srgbClr val="3086FB"/>
                </a:solidFill>
                <a:latin typeface="Manrope"/>
              </a:rPr>
              <a:t>которая держит сайт в порядке.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6587" y="3703320"/>
            <a:ext cx="3520440" cy="45720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6587" y="3931920"/>
            <a:ext cx="3520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400" b="1">
                <a:solidFill>
                  <a:srgbClr val="0E1116"/>
                </a:solidFill>
                <a:latin typeface="Manrop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87" y="52578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 spc="300">
                <a:solidFill>
                  <a:srgbClr val="3086FB"/>
                </a:solidFill>
                <a:latin typeface="Gilroy"/>
              </a:rPr>
              <a:t>ТОЧКА ВХОДА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587" y="5577839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Один аккаунт-менеджер на стороне Acoola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5627" y="3703320"/>
            <a:ext cx="3520440" cy="45720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5627" y="3931920"/>
            <a:ext cx="3520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400" b="1">
                <a:solidFill>
                  <a:srgbClr val="0E1116"/>
                </a:solidFill>
                <a:latin typeface="Manrope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5627" y="52578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 spc="300">
                <a:solidFill>
                  <a:srgbClr val="3086FB"/>
                </a:solidFill>
                <a:latin typeface="Gilroy"/>
              </a:rPr>
              <a:t>РОЛЕЙ В КОМАНДЕ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5627" y="5577839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PM, SEO, dev, контент, копирайтер, дизайнер, аналитик.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4667" y="3703320"/>
            <a:ext cx="3520440" cy="45720"/>
          </a:xfrm>
          <a:prstGeom prst="rect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84667" y="3931920"/>
            <a:ext cx="3520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8400" b="1">
                <a:solidFill>
                  <a:srgbClr val="0E1116"/>
                </a:solidFill>
                <a:latin typeface="Manrope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4667" y="525780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 spc="300">
                <a:solidFill>
                  <a:srgbClr val="3086FB"/>
                </a:solidFill>
                <a:latin typeface="Gilroy"/>
              </a:rPr>
              <a:t>ПРОЗРАЧНОСТЬ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4667" y="5577839"/>
            <a:ext cx="3337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100" b="0">
                <a:solidFill>
                  <a:srgbClr val="6E6E78"/>
                </a:solidFill>
                <a:latin typeface="Gilroy"/>
              </a:rPr>
              <a:t>Отчёт по каждому потраченному часу.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10 / ЧТО НЕ ВХОДИТ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Границы услуги.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Чтобы не было разночтений.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73075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21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гарантируем рост заявок и конверсии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27939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702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выкупаем рекламные бюджеты и сторонние сервисы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2803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188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разрабатываем сайт с нуля в рамках абонплаты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376671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6752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делаем брендинг и фирменный стиль</a:t>
            </a:r>
          </a:p>
        </p:txBody>
      </p:sp>
      <p:sp>
        <p:nvSpPr>
          <p:cNvPr id="16" name="Oval 15"/>
          <p:cNvSpPr/>
          <p:nvPr/>
        </p:nvSpPr>
        <p:spPr>
          <a:xfrm>
            <a:off x="6035040" y="373075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21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ведём рекламу как отдельный продукт</a:t>
            </a:r>
          </a:p>
        </p:txBody>
      </p:sp>
      <p:sp>
        <p:nvSpPr>
          <p:cNvPr id="18" name="Oval 17"/>
          <p:cNvSpPr/>
          <p:nvPr/>
        </p:nvSpPr>
        <p:spPr>
          <a:xfrm>
            <a:off x="6035040" y="427939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702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настраиваем CRM и автоматизацию продаж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4828032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188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отвечаем за юридические и регуляторные формулировки</a:t>
            </a:r>
          </a:p>
        </p:txBody>
      </p:sp>
      <p:sp>
        <p:nvSpPr>
          <p:cNvPr id="22" name="Oval 21"/>
          <p:cNvSpPr/>
          <p:nvPr/>
        </p:nvSpPr>
        <p:spPr>
          <a:xfrm>
            <a:off x="6035040" y="5376671"/>
            <a:ext cx="256032" cy="256032"/>
          </a:xfrm>
          <a:prstGeom prst="ellipse">
            <a:avLst/>
          </a:prstGeom>
          <a:solidFill>
            <a:srgbClr val="F7F7FA"/>
          </a:solidFill>
          <a:ln w="10160">
            <a:solidFill>
              <a:srgbClr val="A0A0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6E6E78"/>
                </a:solidFill>
                <a:latin typeface="Gilroy"/>
              </a:rPr>
              <a:t>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67527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6E6E78"/>
                </a:solidFill>
                <a:latin typeface="Gilroy"/>
              </a:rPr>
              <a:t>Не отвечаем за подрядчиков, выбранных против рекомендаций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A0A0AA"/>
                </a:solidFill>
                <a:latin typeface="Gilroy"/>
              </a:rPr>
              <a:t>Эти задачи можно подключить отдельным проектом или передать профильным партнёрам.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acool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5760"/>
            <a:ext cx="1430579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acoola.team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2412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96012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6E6E78"/>
                </a:solidFill>
                <a:latin typeface="Gilroy"/>
              </a:rPr>
              <a:t>11 / СВЕРХЧАСЫ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Если задач больше,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600" b="1">
                <a:solidFill>
                  <a:srgbClr val="0E1116"/>
                </a:solidFill>
                <a:latin typeface="Manrope"/>
              </a:rPr>
              <a:t>чем покрывает пакет.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451" y="3520440"/>
            <a:ext cx="10908792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2931" y="36850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3000" b="1">
                <a:solidFill>
                  <a:srgbClr val="3086FB"/>
                </a:solidFill>
                <a:latin typeface="Manrope"/>
              </a:rPr>
              <a:t>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8731" y="3813048"/>
            <a:ext cx="944575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350" b="0">
                <a:solidFill>
                  <a:srgbClr val="0E1116"/>
                </a:solidFill>
                <a:latin typeface="Gilroy"/>
              </a:rPr>
              <a:t>Дополнительные часы выставляются отдельным счётом по итогам месяца, по ставке сверхчаса выбранного тарифа. О приближении к лимиту предупреждаем заранее и согласовываем продолжение работ.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587" y="5349240"/>
            <a:ext cx="35204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0907" y="5513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1116"/>
                </a:solidFill>
                <a:latin typeface="Manrope"/>
              </a:rPr>
              <a:t>Базовый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0907" y="5806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за час сверх пакета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907" y="56235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3086FB"/>
                </a:solidFill>
                <a:latin typeface="Manrope"/>
              </a:rPr>
              <a:t>4 000 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5627" y="5349240"/>
            <a:ext cx="35204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9947" y="5513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1116"/>
                </a:solidFill>
                <a:latin typeface="Manrope"/>
              </a:rPr>
              <a:t>Оптимальный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9947" y="5806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за час сверх пакета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9947" y="56235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3086FB"/>
                </a:solidFill>
                <a:latin typeface="Manrope"/>
              </a:rPr>
              <a:t>3 500 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4667" y="5349240"/>
            <a:ext cx="35204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8987" y="551383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200" b="1">
                <a:solidFill>
                  <a:srgbClr val="0E1116"/>
                </a:solidFill>
                <a:latin typeface="Manrope"/>
              </a:rPr>
              <a:t>Максимальный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8987" y="5806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за час сверх пакета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8987" y="562356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800" b="1">
                <a:solidFill>
                  <a:srgbClr val="3086FB"/>
                </a:solidFill>
                <a:latin typeface="Manrope"/>
              </a:rPr>
              <a:t>3 200 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E3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6E6E78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6E6E78"/>
                </a:solidFill>
                <a:latin typeface="Gilroy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ndshak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34295" y="228600"/>
            <a:ext cx="2286000" cy="2286000"/>
          </a:xfrm>
          <a:prstGeom prst="ellipse">
            <a:avLst/>
          </a:prstGeom>
          <a:noFill/>
          <a:ln w="2540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92640" y="1463040"/>
            <a:ext cx="731520" cy="731520"/>
          </a:xfrm>
          <a:prstGeom prst="ellipse">
            <a:avLst/>
          </a:prstGeom>
          <a:noFill/>
          <a:ln w="25400">
            <a:solidFill>
              <a:srgbClr val="3086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coola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1430579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08415" y="457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acoola.team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47088"/>
            <a:ext cx="73152" cy="73152"/>
          </a:xfrm>
          <a:prstGeom prst="ellipse">
            <a:avLst/>
          </a:prstGeom>
          <a:solidFill>
            <a:srgbClr val="308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7315200" cy="2560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 spc="300">
                <a:solidFill>
                  <a:srgbClr val="C0C4CC"/>
                </a:solidFill>
                <a:latin typeface="Gilroy"/>
              </a:rPr>
              <a:t>12 / СЛЕДУЮЩИЙ ШАГ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0972800" cy="274320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Manrope"/>
              </a:rPr>
              <a:t>Готовы начать</a:t>
            </a:r>
          </a:p>
          <a:p>
            <a:pPr>
              <a:lnSpc>
                <a:spcPct val="95000"/>
              </a:lnSpc>
            </a:pPr>
            <a:r>
              <a:rPr sz="5800" b="1">
                <a:solidFill>
                  <a:srgbClr val="FFFFFF"/>
                </a:solidFill>
                <a:latin typeface="Manrope"/>
              </a:rPr>
              <a:t>со следующего</a:t>
            </a:r>
          </a:p>
          <a:p>
            <a:pPr>
              <a:lnSpc>
                <a:spcPct val="95000"/>
              </a:lnSpc>
            </a:pPr>
            <a:r>
              <a:rPr sz="5800" b="1">
                <a:solidFill>
                  <a:srgbClr val="3086FB"/>
                </a:solidFill>
                <a:latin typeface="Manrope"/>
              </a:rPr>
              <a:t>рабочего дня.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451" y="5532120"/>
            <a:ext cx="10908792" cy="8686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ctr"/>
          <a:lstStyle/>
          <a:p>
            <a:pPr algn="ctr"/>
            <a:r>
              <a:rPr sz="1500" b="1">
                <a:solidFill>
                  <a:srgbClr val="0E1116"/>
                </a:solidFill>
                <a:latin typeface="Manrope"/>
              </a:rPr>
              <a:t>acoola.team   /   hello@acoola.team   /   +7 (___) ___ __ __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309360"/>
            <a:ext cx="10911535" cy="0"/>
          </a:xfrm>
          <a:prstGeom prst="line">
            <a:avLst/>
          </a:prstGeom>
          <a:ln w="6350">
            <a:solidFill>
              <a:srgbClr val="333A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C0C4CC"/>
                </a:solidFill>
                <a:latin typeface="Gilroy"/>
              </a:rPr>
              <a:t>Сопровождение сайта и маркетинга  /  для Совкомбанка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6400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0">
                <a:solidFill>
                  <a:srgbClr val="C0C4CC"/>
                </a:solidFill>
                <a:latin typeface="Gilroy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932</Words>
  <Application>Microsoft Macintosh PowerPoint</Application>
  <PresentationFormat>Широкоэкранный</PresentationFormat>
  <Paragraphs>244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Gilroy</vt:lpstr>
      <vt:lpstr>Manrope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Evgeny Shchemelev</cp:lastModifiedBy>
  <cp:revision>2</cp:revision>
  <dcterms:created xsi:type="dcterms:W3CDTF">2013-01-27T09:14:16Z</dcterms:created>
  <dcterms:modified xsi:type="dcterms:W3CDTF">2026-05-07T09:57:36Z</dcterms:modified>
  <cp:category/>
</cp:coreProperties>
</file>