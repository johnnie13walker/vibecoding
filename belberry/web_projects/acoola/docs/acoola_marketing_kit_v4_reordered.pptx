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 · МАРКЕТИНГ-КИТ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2286000"/>
            <a:ext cx="7772400" cy="1463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6400" b="1" i="0">
                <a:solidFill>
                  <a:srgbClr val="7A7A85"/>
                </a:solidFill>
                <a:latin typeface="Manrope"/>
              </a:rPr>
              <a:t>Кто-то обещает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3108960"/>
            <a:ext cx="7772400" cy="13716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0" b="1" i="0">
                <a:solidFill>
                  <a:srgbClr val="FFFFFF"/>
                </a:solidFill>
                <a:latin typeface="Manrope"/>
              </a:rPr>
              <a:t>топ-10.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480560"/>
            <a:ext cx="777240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0" b="1" i="0">
                <a:solidFill>
                  <a:srgbClr val="2B7CE9"/>
                </a:solidFill>
                <a:latin typeface="Manrope"/>
              </a:rPr>
              <a:t>Мы —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377440"/>
            <a:ext cx="2945200" cy="237744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2560320"/>
            <a:ext cx="2488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ПОДГОТОВЛЕНО ДЛЯ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880360"/>
            <a:ext cx="24880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1">
                <a:solidFill>
                  <a:srgbClr val="FFFFFF"/>
                </a:solidFill>
                <a:latin typeface="Manrope"/>
              </a:rPr>
              <a:t>{COMPANY_NAME}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566160"/>
            <a:ext cx="2488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1">
                <a:solidFill>
                  <a:srgbClr val="7A7A85"/>
                </a:solidFill>
                <a:latin typeface="Inter"/>
              </a:rPr>
              <a:t>Сайт: {DOMAIN}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931920"/>
            <a:ext cx="2488000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1">
                <a:solidFill>
                  <a:srgbClr val="CCCCD0"/>
                </a:solidFill>
                <a:latin typeface="Inter"/>
              </a:rPr>
              <a:t>Видим {N} точки роста — расскажем на встрече.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389120"/>
            <a:ext cx="2488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800" b="0" i="1">
                <a:solidFill>
                  <a:srgbClr val="7A7A85"/>
                </a:solidFill>
                <a:latin typeface="Inter"/>
              </a:rPr>
              <a:t>[ заменить на данные получателя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630936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ACOOLA.TEAM · digital-агентство полного цикла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4480" y="6309360"/>
            <a:ext cx="2743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100" b="0" i="1">
                <a:solidFill>
                  <a:srgbClr val="7A7A85"/>
                </a:solidFill>
                <a:latin typeface="Inter"/>
              </a:rPr>
              <a:t>→ дальше — почему именно так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Что сломалось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1097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600" b="1" i="0">
                <a:solidFill>
                  <a:srgbClr val="000000"/>
                </a:solidFill>
                <a:latin typeface="Manrope"/>
              </a:rPr>
              <a:t>В digital сломалась модель.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320" y="3383280"/>
            <a:ext cx="3048693" cy="1463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Подрядчиков 5.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Ответственных за результат —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320" y="4846320"/>
            <a:ext cx="3048693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Дизайн делает один. Разработка — другой. SEO — третий. Через год никто не помнит, кто что обещал.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333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653" y="3383280"/>
            <a:ext cx="3048693" cy="1463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Метрика — позиции в выдаче.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Финдиректору показать нечего.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653" y="4846320"/>
            <a:ext cx="3048693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Топ-10 — это слайд для презентации. Выручка — это разговор с собственником.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666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8986" y="3383280"/>
            <a:ext cx="3048693" cy="1463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Релиз — финал работы.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Через год сайт устарел.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8986" y="4846320"/>
            <a:ext cx="3048693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Сайт-актив требует ведения, а не «сдачи под ключ» с архивацией доступов.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Манифест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5029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делаем сайты.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057400"/>
            <a:ext cx="1107200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превращаем сайт в актив.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11072000" cy="5029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считаем клики.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246120"/>
            <a:ext cx="1107200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считаем обращения.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3931920"/>
            <a:ext cx="11072000" cy="5029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уходим после релиза.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4434840"/>
            <a:ext cx="1107200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остаёмся 3,5+ года.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120640"/>
            <a:ext cx="11072000" cy="5029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пять разных подрядчиков.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623560"/>
            <a:ext cx="1107200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— одна команда на 6 направлений.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2926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32000" b="1" i="0">
                <a:solidFill>
                  <a:srgbClr val="2B7CE9"/>
                </a:solidFill>
                <a:latin typeface="Manrope"/>
              </a:rPr>
              <a:t>3,5+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4206240"/>
            <a:ext cx="110720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Manrope"/>
              </a:rPr>
              <a:t>лет — средний срок сотрудничества с клиентом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493776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В digital это в 2,5–3 раза дольше отраслевой нормы.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548640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Клиенты остаются. Это и есть результат.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400" b="1" i="0">
                <a:solidFill>
                  <a:srgbClr val="000000"/>
                </a:solidFill>
                <a:latin typeface="Manrope"/>
              </a:rPr>
              <a:t>95 из 100 клиентов продлевают контракт.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7200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91384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65568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39752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3936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8120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62304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6488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10672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4856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7200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91384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65568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39752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13936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88120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62304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36488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10672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4856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7200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91384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65568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39752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13936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88120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62304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36488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10672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4856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7200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391384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765568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39752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513936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88120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62304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636488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010672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84856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17200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91384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765568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139752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513936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888120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262304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636488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010672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384856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17200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91384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765568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139752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513936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888120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262304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636488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010672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384856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17200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391384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765568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139752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513936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888120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262304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36488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010672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384856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17200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391384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765568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139752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513936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888120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262304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636488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010672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384856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17200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391384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765568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2139752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513936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2888120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262304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3636488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010672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384856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17200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391384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765568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139752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513936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888120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262304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636488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010672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384856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30768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56320" y="2468880"/>
            <a:ext cx="5775680" cy="3657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Inter"/>
              </a:rPr>
              <a:t>95 клиентов остаются на следующий цикл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307680" y="3108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856320" y="3108960"/>
            <a:ext cx="5775680" cy="3657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Inter"/>
              </a:rPr>
              <a:t>5 уходят. Это нормально.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07680" y="4114800"/>
            <a:ext cx="6324320" cy="18288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0" i="1">
                <a:solidFill>
                  <a:srgbClr val="7A7A85"/>
                </a:solidFill>
                <a:latin typeface="Inter"/>
              </a:rPr>
              <a:t>Расскажем честно, в каких случаях</a:t>
            </a:r>
          </a:p>
          <a:p>
            <a:r>
              <a:rPr sz="1500" b="0" i="1">
                <a:solidFill>
                  <a:srgbClr val="7A7A85"/>
                </a:solidFill>
                <a:latin typeface="Inter"/>
              </a:rPr>
              <a:t>уходят — и почему мы</a:t>
            </a:r>
          </a:p>
          <a:p>
            <a:r>
              <a:rPr sz="1500" b="0" i="1">
                <a:solidFill>
                  <a:srgbClr val="7A7A85"/>
                </a:solidFill>
                <a:latin typeface="Inter"/>
              </a:rPr>
              <a:t>не берёмся за эти проекты.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07680" y="5760720"/>
            <a:ext cx="632432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↓ следующий слайд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Чего мы не возьмёмся делать.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743200"/>
            <a:ext cx="45720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640" y="2743200"/>
            <a:ext cx="1052336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Накручивать позиции в Яндексе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246120"/>
            <a:ext cx="45720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640" y="3246120"/>
            <a:ext cx="1052336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Запускать рекламу без аналитики на сайте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3749040"/>
            <a:ext cx="45720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640" y="3749040"/>
            <a:ext cx="1052336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Делать дизайн «как у конкурента»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4251960"/>
            <a:ext cx="45720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640" y="4251960"/>
            <a:ext cx="1052336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Обещать топ-10 «к Новому году»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00" y="4754880"/>
            <a:ext cx="45720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640" y="4754880"/>
            <a:ext cx="1052336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Заходить в SEO там, где сайт нужно переделать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" y="5257800"/>
            <a:ext cx="45720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640" y="5257800"/>
            <a:ext cx="1052336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Учиться GEO на вашем проекте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Отказ — это форма уважения. И к клиенту, и к команде.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Где мы слабые.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37744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0" i="1">
                <a:solidFill>
                  <a:srgbClr val="7A7A85"/>
                </a:solidFill>
                <a:latin typeface="Inter"/>
              </a:rPr>
              <a:t>Чтобы вы знали заранее, а не на третьем месяце.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310896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40" y="3383280"/>
            <a:ext cx="48259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ML /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40" y="3977640"/>
            <a:ext cx="4825920" cy="3414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У нас нет такой команды. Для AI-продуктов работаем в партнёрстве с [TODO: имя партнёра].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6000" y="310896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6040" y="3383280"/>
            <a:ext cx="48259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Мобильная разработка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040" y="3977640"/>
            <a:ext cx="4825920" cy="3414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Не делаем приложения для iOS/Android. Только web и веб-сервисы.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68772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040" y="4962040"/>
            <a:ext cx="48259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Маленькие бюджеты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040" y="5556400"/>
            <a:ext cx="4825920" cy="3414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Мы дороже фрилансера. Если бюджет на маркетинг до 150 000 ₽/мес — мы не подходим, и это нормально.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6000" y="468772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040" y="4962040"/>
            <a:ext cx="48259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Ниши не наши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040" y="5556400"/>
            <a:ext cx="4825920" cy="3414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Фарма, food retail, банки физлиц — рекомендуем коллег. Ритуалка — отказ принципиальный: с повторными продажами там объективные сложности.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1">
                <a:solidFill>
                  <a:srgbClr val="7A7A85"/>
                </a:solidFill>
                <a:latin typeface="Inter"/>
              </a:rPr>
              <a:t>Это часть честного разговора. Полный список — на встрече.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РАЗРАБОТКА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TEO by COSMOSCOW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Онлайн-маркетплейс искусства · разработка платформы ·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2022 год.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COSMOSCOW — крупнейшая международная ярмарка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современного искусства в России.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Задача: создать онлайн-платформу TEO,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которая напрямую связывает авторов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работ и покупателей.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Разработали маркетплейс с нуля: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от UX до интеграций, под нагрузку аукциона.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83760" y="2743200"/>
            <a:ext cx="3848240" cy="373075"/>
          </a:xfrm>
          <a:prstGeom prst="roundRect">
            <a:avLst>
              <a:gd name="adj" fmla="val 4000"/>
            </a:avLst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8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4A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760" y="2743200"/>
            <a:ext cx="3048240" cy="373075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800" b="0" i="0">
                <a:solidFill>
                  <a:srgbClr val="7A7A85"/>
                </a:solidFill>
                <a:latin typeface="Inter"/>
              </a:rPr>
              <a:t>teo.cosmoscow.com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3760" y="3116275"/>
            <a:ext cx="3848240" cy="2735885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7A7A85"/>
                </a:solidFill>
                <a:latin typeface="Inter"/>
              </a:rPr>
              <a:t>[ СКРИНШОТ TEO ]</a:t>
            </a:r>
          </a:p>
          <a:p>
            <a:pPr algn="ctr"/>
            <a:r>
              <a:rPr sz="1200" b="0" i="0">
                <a:solidFill>
                  <a:srgbClr val="7A7A85"/>
                </a:solidFill>
                <a:latin typeface="Inter"/>
              </a:rPr>
              <a:t>дизайнер: подставить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Онлайн-платформа · авторы ↔ покупатели · нагрузка под аукцион · acoola.team/projects/teo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wwerb.com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Часовой магазин · SEO · 2 года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Март 2020.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Лид в категории «премиальные часы» стоит 18 400 ₽.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Это потолок маржи — реклама убыточна.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Взялись за SEO с фокусом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на органику и торговую матрицу.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Через два года лид — 582 ₽.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Органика +223%. Через сайт прошло 164+ млн ₽ выручки.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3760" y="2863200"/>
            <a:ext cx="354824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1" i="0">
                <a:solidFill>
                  <a:srgbClr val="7A7A85"/>
                </a:solidFill>
                <a:latin typeface="Inter"/>
              </a:rPr>
              <a:t>Органика · рост за 2 года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3760" y="5352160"/>
            <a:ext cx="3288240" cy="8000"/>
          </a:xfrm>
          <a:prstGeom prst="rect">
            <a:avLst/>
          </a:prstGeom>
          <a:solidFill>
            <a:srgbClr val="555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33760" y="521671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051" y="518658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0342" y="515645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8634" y="51263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46925" y="50962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25217" y="506607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508" y="50359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81800" y="50058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0091" y="497568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8382" y="494556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16674" y="491543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94965" y="488530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73257" y="48551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1548" y="482504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29840" y="479492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29840" y="479492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08131" y="47497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86422" y="470453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64714" y="46593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43005" y="461415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1297" y="456896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99588" y="452376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77880" y="44785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56171" y="443338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34462" y="438819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12754" y="43430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91045" y="429780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69337" y="42526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147628" y="420742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25920" y="4162231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225920" y="4162231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4211" y="40944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82502" y="402665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460794" y="395886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539085" y="389108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617377" y="382329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695668" y="375550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773960" y="36877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852251" y="36199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930542" y="355214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008834" y="348435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1087125" y="341656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1165417" y="33487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1243708" y="328098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322000" y="32132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953760" y="5136712"/>
            <a:ext cx="220000" cy="2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013760" y="5196712"/>
            <a:ext cx="100000" cy="1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69840" y="473492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165920" y="4102231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1242000" y="3133200"/>
            <a:ext cx="220000" cy="2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302000" y="3193200"/>
            <a:ext cx="100000" cy="1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63760" y="4866712"/>
            <a:ext cx="160000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2 757 визитов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52000" y="3423200"/>
            <a:ext cx="160000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6 548 · +223%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2B7CE9"/>
                </a:solidFill>
                <a:latin typeface="Manrope"/>
              </a:rPr>
              <a:t>18 400 ₽  →  582 ₽   ·   органика +223%   ·   164+ млн ₽ выручки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Kenner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Производство мебели · Яндекс.Директ + аналитика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Старт работ.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Производитель мебели заходит в digital.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Цель — прямые продажи через интернет-магазин,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не через дилеров.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Связали контекстную рекламу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с аналитикой и воронкой сайта: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оптимизация не по CPL, а по ROI кампании.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ROI 140%. CPL 1 374 ₽ за добавление в корзину,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4 067 ₽ за оформленную продажу.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3760" y="3017520"/>
            <a:ext cx="38482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ROI ПРОЕКТА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3760" y="3474720"/>
            <a:ext cx="3848240" cy="1463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3200" b="1" i="0">
                <a:solidFill>
                  <a:srgbClr val="FFFFFF"/>
                </a:solidFill>
                <a:latin typeface="Manrope"/>
              </a:rPr>
              <a:t>140%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3760" y="4983480"/>
            <a:ext cx="38482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CPL 1 374 ₽ (корзина)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3760" y="5349240"/>
            <a:ext cx="38482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CPL 4 067 ₽ (продажа)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ROI 140%   ·   CPL 1 374 ₽ / 4 067 ₽   ·   Яндекс.Директ + аналитика   ·   acoola.team/projects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УПРАВЛЕНИЕ РЕПУТАЦИЕЙ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anrope"/>
              </a:rPr>
              <a:t>Крупный бренд охранных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Безопасность · работа с репутацией на 30+ площадках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Точка входа.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В выдаче по бренду — массив негативных отзывов.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Конкуренты вытесняют из карточек 2ГИС, Яндекс.Карт.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Доверие падает.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Запустили систему: регламент работы с отзывами,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карта присутствия, мониторинг через Brand Analytics,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ежемесячные отчёты по динамике.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Доля негатива упала с 29% до 7%.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Средний рейтинг бренда — 4,07 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3760" y="2971800"/>
            <a:ext cx="384824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7A7A85"/>
                </a:solidFill>
                <a:latin typeface="Inter"/>
              </a:rPr>
              <a:t>ДОЛЯ НЕГАТИВА В ВЫДАЧЕ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6640" y="3383280"/>
            <a:ext cx="109728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БЫЛО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6640" y="3657600"/>
            <a:ext cx="2385200" cy="994867"/>
          </a:xfrm>
          <a:prstGeom prst="roundRect">
            <a:avLst>
              <a:gd name="adj" fmla="val 10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17600" y="3566160"/>
            <a:ext cx="731520" cy="1177747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Manrope"/>
              </a:rPr>
              <a:t>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6640" y="4835347"/>
            <a:ext cx="109728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СТАЛО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6640" y="5109667"/>
            <a:ext cx="572448" cy="994867"/>
          </a:xfrm>
          <a:prstGeom prst="roundRect">
            <a:avLst>
              <a:gd name="adj" fmla="val 1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6248" y="5018227"/>
            <a:ext cx="914400" cy="1177747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Manrope"/>
              </a:rPr>
              <a:t>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3760" y="5440680"/>
            <a:ext cx="38482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2B7CE9"/>
                </a:solidFill>
                <a:latin typeface="Manrope"/>
              </a:rPr>
              <a:t>Средний рейтинг бренда — 4,07 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Негатив 29% → 7%   ·   рейтинг 4,07 ★   ·   30+ площадок мониторинга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ПРОВАЛ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E06A6A"/>
                </a:solidFill>
                <a:latin typeface="Manrope"/>
              </a:rPr>
              <a:t>КЕЙС, КОТОРЫЙ НЕ ПОЛУЧИЛСЯ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783080"/>
            <a:ext cx="11072000" cy="7315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nrope"/>
              </a:rPr>
              <a:t>Когда мы расстались первыми.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60604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1">
                <a:solidFill>
                  <a:srgbClr val="7A7A85"/>
                </a:solidFill>
                <a:latin typeface="Inter"/>
              </a:rPr>
              <a:t>Интернет-магазин стройматериалов · SEO + контекст · 7 месяцев [TODO: реальный кейс]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154680"/>
            <a:ext cx="11072000" cy="8686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2022 год.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3794760"/>
            <a:ext cx="11072000" cy="8686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Inter"/>
              </a:rPr>
              <a:t>Зашли в проект на договоре 6 месяцев.</a:t>
            </a:r>
          </a:p>
          <a:p>
            <a:r>
              <a:rPr sz="1700" b="0" i="0">
                <a:solidFill>
                  <a:srgbClr val="FFFFFF"/>
                </a:solidFill>
                <a:latin typeface="Inter"/>
              </a:rPr>
              <a:t>SEO + контекст. Цели — рост обращений на 40%.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4434840"/>
            <a:ext cx="11072000" cy="8686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0">
                <a:solidFill>
                  <a:srgbClr val="CCCCD0"/>
                </a:solidFill>
                <a:latin typeface="Inter"/>
              </a:rPr>
              <a:t>За полгода выросли позиции, но обращений почти нет.</a:t>
            </a:r>
          </a:p>
          <a:p>
            <a:r>
              <a:rPr sz="1600" b="0" i="0">
                <a:solidFill>
                  <a:srgbClr val="CCCCD0"/>
                </a:solidFill>
                <a:latin typeface="Inter"/>
              </a:rPr>
              <a:t>Проблема — в сайте: устаревшая структура, сломанная воронка,</a:t>
            </a:r>
          </a:p>
          <a:p>
            <a:r>
              <a:rPr sz="1600" b="0" i="0">
                <a:solidFill>
                  <a:srgbClr val="CCCCD0"/>
                </a:solidFill>
                <a:latin typeface="Inter"/>
              </a:rPr>
              <a:t>мобильная версия не работает. Клиент не был готов трогать сайт.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074920"/>
            <a:ext cx="11072000" cy="8686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Расстались по нашей инициативе на 7-м месяце.</a:t>
            </a:r>
          </a:p>
          <a:p>
            <a:r>
              <a:rPr sz="1800" b="1" i="0">
                <a:solidFill>
                  <a:srgbClr val="FFFFFF"/>
                </a:solidFill>
                <a:latin typeface="Manrope"/>
              </a:rPr>
              <a:t>Вернули нерасходованную часть бюджета.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715000"/>
            <a:ext cx="11072000" cy="8686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1" i="0">
                <a:solidFill>
                  <a:srgbClr val="2B7CE9"/>
                </a:solidFill>
                <a:latin typeface="Inter"/>
              </a:rPr>
              <a:t>Что поняли: SEO не работает там, где сайт нужно переделать.</a:t>
            </a:r>
          </a:p>
          <a:p>
            <a:r>
              <a:rPr sz="1600" b="1" i="0">
                <a:solidFill>
                  <a:srgbClr val="2B7CE9"/>
                </a:solidFill>
                <a:latin typeface="Inter"/>
              </a:rPr>
              <a:t>С тех пор это в нашем стоп-листе — слайд 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" y="621792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000" b="0" i="1">
                <a:solidFill>
                  <a:srgbClr val="7A7A85"/>
                </a:solidFill>
                <a:latin typeface="Inter"/>
              </a:rPr>
              <a:t>[ЧЕРНОВИК — заменить на реальную историю от заказчика]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Клиенты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34440"/>
            <a:ext cx="11072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Manrope"/>
              </a:rPr>
              <a:t>Наши клиенты.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1">
                <a:solidFill>
                  <a:srgbClr val="CCCCD0"/>
                </a:solidFill>
                <a:latin typeface="Inter"/>
              </a:rPr>
              <a:t>70+ проектов в работе ежемесячно. Tier-1 клиенты с длинной дистанцией — средний срок 3,5+ года.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834640"/>
            <a:ext cx="1691640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Финансы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640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00" y="2834640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БыстроБанк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7672" y="2880360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7712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4872" y="2834640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Трансстройбанк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3744" y="2880360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3784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0944" y="2834640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NZT Rusfond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9816" y="2880360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9856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7016" y="2834640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PROFIT CONF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5888" y="2880360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35928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3088" y="2834640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НПФ «Будущее»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11960" y="2880360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000" y="3554728"/>
            <a:ext cx="1691640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Недвижимость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640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00" y="3554728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Главстрой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7672" y="3600448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7712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4872" y="3554728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DOGMA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3744" y="3600448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3784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0944" y="3554728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Запстрой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9816" y="3600448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9856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7016" y="3554728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Pioneer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5888" y="3600448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35928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73088" y="3554728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Prime Park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11960" y="3600448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000" y="4274816"/>
            <a:ext cx="1691640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Промышленность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31640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00" y="4274816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HOHMAN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07672" y="4320536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7712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4872" y="4274816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Robomaster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3744" y="4320536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3784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20944" y="4274816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РУСЭЛ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9816" y="4320536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9856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7016" y="4274816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Yarus Networks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5888" y="4320536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35928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73088" y="4274816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Эксара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11960" y="4320536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0000" y="4994904"/>
            <a:ext cx="1691640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E-commerce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31640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68800" y="4994904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J.Prettier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7672" y="5040624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07712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4872" y="4994904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Титан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83744" y="5040624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83784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20944" y="4994904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MARKIN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59816" y="5040624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9856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7016" y="4994904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Coolstream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35888" y="5040624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35928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73088" y="4994904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Latrika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11960" y="5040624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0000" y="5714992"/>
            <a:ext cx="1691640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IT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331640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68800" y="5714992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DIS Group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07672" y="5760712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7712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44872" y="5714992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NGENIX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83744" y="5760712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83784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20944" y="5714992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textback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59816" y="5760712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959856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7016" y="5714992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SBER API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35888" y="5760712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835928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973088" y="5714992"/>
            <a:ext cx="1384592" cy="64008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SBER DEVICES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11960" y="5760712"/>
            <a:ext cx="274320" cy="274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0" i="1">
                <a:solidFill>
                  <a:srgbClr val="7A7A85"/>
                </a:solidFill>
                <a:latin typeface="Inter"/>
              </a:rPr>
              <a:t>Дизайнер: вместо текстовых имён — фирменные логотипы клиентов в монохромном виде.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Не «команда мечты с лендинга».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А конкретные люди, которые знают ваш проект — и которых вы узнаёте по именам со 2-го месяца.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0000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40" y="2953512"/>
            <a:ext cx="292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40" y="3776472"/>
            <a:ext cx="292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digital-специалистов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40" y="4114800"/>
            <a:ext cx="2928666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 6 направлениях работ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1626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1626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1666" y="2953512"/>
            <a:ext cx="292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3,5+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666" y="3776472"/>
            <a:ext cx="292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года средний срок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1666" y="4114800"/>
            <a:ext cx="2928666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Командой со своими проектами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3252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3252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3292" y="2953512"/>
            <a:ext cx="292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3292" y="3776472"/>
            <a:ext cx="292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платформы сертификации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3292" y="4114800"/>
            <a:ext cx="2928666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Google · Яндекс · 1С Битрикс · Brand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0000" y="4709160"/>
            <a:ext cx="11072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760" y="4937760"/>
            <a:ext cx="103404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КТО РАБОТАЕТ НАД ВАШИМ ПРОЕКТОМ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5760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080" y="539496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Менеджер проекта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080" y="580644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Постоянный контакт. Знает план, статусы, метрики.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4506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8826" y="539496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Технический лид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8826" y="580644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Отвечает за качество. Еженедельные созвоны.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3252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7572" y="539496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Профильные специалисты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7572" y="580644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Разработка, SEO, контекст, ORM — по задачам проекта.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1">
                <a:solidFill>
                  <a:srgbClr val="2B7CE9"/>
                </a:solidFill>
                <a:latin typeface="Inter"/>
              </a:rPr>
              <a:t>Не один менеджер на 50 клиентов. Постоянная команда на каждый проект.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География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200" b="1" i="0">
                <a:solidFill>
                  <a:srgbClr val="000000"/>
                </a:solidFill>
                <a:latin typeface="Manrope"/>
              </a:rPr>
              <a:t>Не одна Москва. Не один Яндекс.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600" b="0" i="1">
                <a:solidFill>
                  <a:srgbClr val="7A7A85"/>
                </a:solidFill>
                <a:latin typeface="Inter"/>
              </a:rPr>
              <a:t>Работаем там, где работают ваши клиенты — в 6 странах.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83464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600" y="2999232"/>
            <a:ext cx="403942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Локализация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600" y="3429000"/>
            <a:ext cx="4039420" cy="167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Контент на языках местных рынков, не дословный перевод.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387096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600" y="4035552"/>
            <a:ext cx="403942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Местные поисковые системы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600" y="4465320"/>
            <a:ext cx="4039420" cy="167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Не только Яндекс — Google, локальные поисковики и каталоги под каждый рынок.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90728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600" y="5071872"/>
            <a:ext cx="403942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Культура и регулятор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00" y="5501640"/>
            <a:ext cx="4039420" cy="167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Кейсы в разных правовых, культурных и налоговых средах. Адаптируем подачу.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22380" y="2834640"/>
            <a:ext cx="62096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20" y="3108960"/>
            <a:ext cx="1463040" cy="13716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0" b="1" i="0">
                <a:solidFill>
                  <a:srgbClr val="2B7CE9"/>
                </a:solidFill>
                <a:latin typeface="Manrope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60" y="3337560"/>
            <a:ext cx="438082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стран присутствия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60" y="3749040"/>
            <a:ext cx="43808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70+ проектов ежемесячно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6700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16700" y="4592000"/>
            <a:ext cx="588997" cy="237752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5697" y="4592000"/>
            <a:ext cx="588997" cy="237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94694" y="4592000"/>
            <a:ext cx="588999" cy="2377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00" y="4899752"/>
            <a:ext cx="1806993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Италия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3693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43693" y="4592000"/>
            <a:ext cx="1766993" cy="79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43693" y="4671250"/>
            <a:ext cx="1766993" cy="79250"/>
          </a:xfrm>
          <a:prstGeom prst="rect">
            <a:avLst/>
          </a:prstGeom>
          <a:solidFill>
            <a:srgbClr val="003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43693" y="4750500"/>
            <a:ext cx="1766993" cy="792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3693" y="4899752"/>
            <a:ext cx="1806993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Россия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0686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70686" y="4592000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70686" y="4625964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0686" y="4659928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70686" y="4693892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70686" y="4727856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70686" y="4761820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70686" y="4795784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70686" y="4592000"/>
            <a:ext cx="706797" cy="135856"/>
          </a:xfrm>
          <a:prstGeom prst="rect">
            <a:avLst/>
          </a:prstGeom>
          <a:solidFill>
            <a:srgbClr val="3C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20686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97385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974084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20686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797385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74084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0686" y="4899752"/>
            <a:ext cx="1806993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США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96700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16700" y="5134920"/>
            <a:ext cx="1766993" cy="158501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716700" y="5293421"/>
            <a:ext cx="1766993" cy="79251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16700" y="5134920"/>
            <a:ext cx="40000" cy="237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96700" y="5442672"/>
            <a:ext cx="1806993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Беларусь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23693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643693" y="5134920"/>
            <a:ext cx="1766993" cy="237752"/>
          </a:xfrm>
          <a:prstGeom prst="roundRect">
            <a:avLst>
              <a:gd name="adj" fmla="val 5000"/>
            </a:avLst>
          </a:prstGeom>
          <a:solidFill>
            <a:srgbClr val="00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74356" y="5200962"/>
            <a:ext cx="105667" cy="105667"/>
          </a:xfrm>
          <a:prstGeom prst="roundRect">
            <a:avLst>
              <a:gd name="adj" fmla="val 50000"/>
            </a:avLst>
          </a:prstGeom>
          <a:solidFill>
            <a:srgbClr val="FE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3693" y="5442672"/>
            <a:ext cx="1806993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Казахстан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50686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570686" y="5134920"/>
            <a:ext cx="441748" cy="2377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012434" y="5134920"/>
            <a:ext cx="1325245" cy="79250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12434" y="5214170"/>
            <a:ext cx="1325245" cy="7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012434" y="5293420"/>
            <a:ext cx="1325245" cy="79252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50686" y="5442672"/>
            <a:ext cx="1806993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ОАЭ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Среди клиентов — компании из Москвы, ОАЭ, Италии, США, Беларуси и Казахстана.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5 страхов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34440"/>
            <a:ext cx="1107200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5 страхов — и наш ответ.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70% клиентов уже разочарованы прошлым подрядчиком. Мы знаем почему — и закрыли это в договоре.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743200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320" y="2743200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680" y="2816352"/>
            <a:ext cx="382514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680" y="3035808"/>
            <a:ext cx="382514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Смета подрастёт на ходу.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5260" y="2743200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620" y="2816352"/>
            <a:ext cx="59667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9620" y="3035808"/>
            <a:ext cx="596670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Фиксированная стоимость в договоре. Дополнительные работы — только по отдельному акту с вашей подписью.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00" y="3408424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320" y="3408424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680" y="3481576"/>
            <a:ext cx="382514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680" y="3701032"/>
            <a:ext cx="382514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Сорвут сроки.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5260" y="3408424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9620" y="3481576"/>
            <a:ext cx="59667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620" y="3701032"/>
            <a:ext cx="596670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Таймлайн и KPI прописаны в договоре. Право расторжения с возвратом нерасходованной части бюджета.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4073648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320" y="4073648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680" y="4146800"/>
            <a:ext cx="382514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680" y="4366256"/>
            <a:ext cx="382514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Окажусь у них в заложниках.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5260" y="4073648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9620" y="4146800"/>
            <a:ext cx="59667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9620" y="4366256"/>
            <a:ext cx="596670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Все рекламные аккаунты, аналитика, домен и CMS — на ваше юр.лицо. У нас — только рабочий доступ.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0000" y="4738872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320" y="4738872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8680" y="4812024"/>
            <a:ext cx="382514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680" y="5031480"/>
            <a:ext cx="382514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Опять отчёты про позиции, а не про деньги.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5260" y="4738872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39620" y="4812024"/>
            <a:ext cx="59667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39620" y="5031480"/>
            <a:ext cx="596670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Ежемесячный отчёт по обращениям и выручке. Доступ к Метрике и CRM — у вас онлайн, 24/7.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0000" y="5404096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320" y="5404096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8680" y="5477248"/>
            <a:ext cx="382514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8680" y="5696704"/>
            <a:ext cx="382514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Уйдут в тень при первой проблеме.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5260" y="5404096"/>
            <a:ext cx="457200" cy="5852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39620" y="5477248"/>
            <a:ext cx="59667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9620" y="5696704"/>
            <a:ext cx="5966700" cy="265184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Закреплённый менеджер. Еженедельные созвоны. SLA на ответ в часах, прописанный в договоре.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Хотите увидеть эти условия в договоре до подписания? Запросите шаблон: hello@acoola.team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Что бывает, если выбрать дешевле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Цена ошибки выбора подрядчика.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Иллюстративный сценарий [TODO: подтвердить числа с заказчиком]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7772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C83E3E"/>
                </a:solidFill>
                <a:latin typeface="Inter"/>
              </a:rPr>
              <a:t>ВАРИАНТ A — Фрилансер за 80 000 ₽/мес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880" y="3429000"/>
            <a:ext cx="15173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880" y="3840480"/>
            <a:ext cx="1517340" cy="5029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Найм фрилансера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880" y="4434840"/>
            <a:ext cx="1517340" cy="1097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Экономия −170 000 ₽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vs наша вилка от 250 000 ₽/мес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31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5980" y="3429000"/>
            <a:ext cx="15173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980" y="3840480"/>
            <a:ext cx="1517340" cy="5029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Сайт не доработан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5980" y="4434840"/>
            <a:ext cx="1517340" cy="1097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Бюджет на контекст слит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−450 000 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62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9080" y="3429000"/>
            <a:ext cx="15173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9080" y="3840480"/>
            <a:ext cx="1517340" cy="5029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Новый подрядчик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9080" y="4434840"/>
            <a:ext cx="1517340" cy="1097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Переделка с нуля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−350 000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93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2180" y="3429000"/>
            <a:ext cx="15173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2180" y="3840480"/>
            <a:ext cx="1517340" cy="5029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Сайт работает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2180" y="4434840"/>
            <a:ext cx="1517340" cy="1097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Простой 8 месяцев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~600 000 ₽ упущенной выручки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[TODO: уточнить под нишу]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06720" y="2743200"/>
            <a:ext cx="3025280" cy="3291840"/>
          </a:xfrm>
          <a:prstGeom prst="roundRect">
            <a:avLst>
              <a:gd name="adj" fmla="val 5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1040" y="3108960"/>
            <a:ext cx="24766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ИТОГ ЗА ГОД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1040" y="3657600"/>
            <a:ext cx="2476640" cy="13716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Manrope"/>
              </a:rPr>
              <a:t>−1 230 000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040" y="4937760"/>
            <a:ext cx="24766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Inter"/>
              </a:rPr>
              <a:t>+ 8 месяцев простоя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в продажах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00" y="621792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1">
                <a:solidFill>
                  <a:srgbClr val="2B7CE9"/>
                </a:solidFill>
                <a:latin typeface="Inter"/>
              </a:rPr>
              <a:t>С нами было бы — от 250 000 ₽/мес × 12 = 3 000 000 ₽ за год + работающий сайт + рост обращений.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Спектр · карта услуг по жизни сайта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Один партнёр на весь путь сайта.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4884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От первой строчки кода до видимости в AI-поиске. Цены — с сайта acoola.team.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00" y="3306470"/>
            <a:ext cx="10912000" cy="8000"/>
          </a:xfrm>
          <a:prstGeom prst="rect">
            <a:avLst/>
          </a:prstGeom>
          <a:solidFill>
            <a:srgbClr val="CCC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69333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000" y="2697480"/>
            <a:ext cx="177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ДО ЗАПУСКА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35033" y="3803462"/>
            <a:ext cx="30000" cy="15240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33633" y="3803462"/>
            <a:ext cx="30000" cy="15240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34333" y="3765362"/>
            <a:ext cx="30000" cy="2286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00" y="4217990"/>
            <a:ext cx="161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00" y="5040950"/>
            <a:ext cx="161866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190 000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" y="5452430"/>
            <a:ext cx="1618666" cy="41117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Сайт-актив, готовый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к продвижению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999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8666" y="2697480"/>
            <a:ext cx="177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ПРИ ЗАПУСКЕ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8666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70839" y="374250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16559" y="378822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62279" y="3833942"/>
            <a:ext cx="91440" cy="9144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8666" y="4217990"/>
            <a:ext cx="161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Контекстная реклама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8666" y="5040950"/>
            <a:ext cx="161866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50 000 ₽/мес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8666" y="5452430"/>
            <a:ext cx="1618666" cy="41117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Первые заявки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за дни, не месяцы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6665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7332" y="2697480"/>
            <a:ext cx="177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ЧЕРЕЗ МЕСЯЦ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7332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90465" y="3765362"/>
            <a:ext cx="152400" cy="22860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52365" y="3727262"/>
            <a:ext cx="228600" cy="82296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7332" y="4217990"/>
            <a:ext cx="161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SEO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7332" y="5040950"/>
            <a:ext cx="161866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7332" y="5452430"/>
            <a:ext cx="1618666" cy="41117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Системный рост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обращений из органики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5331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998" y="2697480"/>
            <a:ext cx="177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ЧЕРЕЗ 3 МЕСЯЦА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35998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99601" y="3731072"/>
            <a:ext cx="251460" cy="297180"/>
          </a:xfrm>
          <a:prstGeom prst="roundRect">
            <a:avLst>
              <a:gd name="adj" fmla="val 3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5998" y="4217990"/>
            <a:ext cx="161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Управление репутацией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5998" y="5040950"/>
            <a:ext cx="161866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5998" y="5452430"/>
            <a:ext cx="1618666" cy="41117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Защищаем то,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что вы построили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03997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94664" y="2697480"/>
            <a:ext cx="177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ПОСТОЯННО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94664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19989" y="378822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69697" y="3948242"/>
            <a:ext cx="228600" cy="2743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4664" y="4217990"/>
            <a:ext cx="161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Техническая техподдержка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4664" y="5040950"/>
            <a:ext cx="161866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30 000 ₽/мес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4664" y="5452430"/>
            <a:ext cx="1618666" cy="41117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Сайт всегда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на связи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62663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53330" y="2697480"/>
            <a:ext cx="177866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6B4FE9"/>
                </a:solidFill>
                <a:latin typeface="Inter"/>
              </a:rPr>
              <a:t>ЧЕРЕЗ 6 МЕСЯЦЕВ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53330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ECE6F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662653" y="3799652"/>
            <a:ext cx="160020" cy="16002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728947" y="3705926"/>
            <a:ext cx="27432" cy="82296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728947" y="3971102"/>
            <a:ext cx="27432" cy="82296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568927" y="3865946"/>
            <a:ext cx="82296" cy="2743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834103" y="3865946"/>
            <a:ext cx="82296" cy="2743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33330" y="4217990"/>
            <a:ext cx="1618666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GEO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3330" y="5040950"/>
            <a:ext cx="161866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6B4FE9"/>
                </a:solidFill>
                <a:latin typeface="Manrope"/>
              </a:rPr>
              <a:t>от 90 000 ₽/мес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33330" y="5452430"/>
            <a:ext cx="1618666" cy="41117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Видимость бренда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в AI-поиске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Один подрядчик — один план — одна точка ответственности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Прайс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34440"/>
            <a:ext cx="11072000" cy="7315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400" b="1" i="0">
                <a:solidFill>
                  <a:srgbClr val="000000"/>
                </a:solidFill>
                <a:latin typeface="Manrope"/>
              </a:rPr>
              <a:t>Цены с нашего сайта.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96596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1">
                <a:solidFill>
                  <a:srgbClr val="7A7A85"/>
                </a:solidFill>
                <a:latin typeface="Inter"/>
              </a:rPr>
              <a:t>Стартовые вилки. Точная стоимость под ваш проект — на встрече.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606040"/>
            <a:ext cx="345525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0000" y="2606040"/>
            <a:ext cx="60000" cy="356616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480" y="2926080"/>
            <a:ext cx="2815177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РАЗОВЫЕ ИНВЕСТИЦИИ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10" y="3642360"/>
            <a:ext cx="30000" cy="16764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8670" y="3642360"/>
            <a:ext cx="30000" cy="16764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7940" y="3600450"/>
            <a:ext cx="30000" cy="25146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480" y="4160520"/>
            <a:ext cx="2815177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480" y="4709160"/>
            <a:ext cx="2815177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200" b="1" i="0">
                <a:solidFill>
                  <a:srgbClr val="2B7CE9"/>
                </a:solidFill>
                <a:latin typeface="Manrope"/>
              </a:rPr>
              <a:t>от 190 000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480" y="5394960"/>
            <a:ext cx="2815177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За проект под ключ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480" y="5806440"/>
            <a:ext cx="2632297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1" i="1">
                <a:solidFill>
                  <a:srgbClr val="2B7CE9"/>
                </a:solidFill>
                <a:latin typeface="Inter"/>
              </a:rPr>
              <a:t>+ 30 дней техподдержки в подарок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577" y="2606040"/>
            <a:ext cx="734242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1057" y="2926080"/>
            <a:ext cx="6702343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ЕЖЕМЕСЯЧНЫЕ ИНВЕСТИЦИИ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1057" y="3474720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5857" y="3522726"/>
            <a:ext cx="167640" cy="25146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3947" y="3480816"/>
            <a:ext cx="251460" cy="90525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9737" y="3493008"/>
            <a:ext cx="3259731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SEO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9737" y="3785616"/>
            <a:ext cx="3259731" cy="164592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Визитка / услуги / магазин / портал — 70/75/100/120k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6628" y="3383280"/>
            <a:ext cx="2193892" cy="53035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1057" y="3913632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1057" y="4005072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98801" y="4027932"/>
            <a:ext cx="301752" cy="30175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49093" y="40782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99385" y="41285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9737" y="4023360"/>
            <a:ext cx="3259731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Контекстная реклама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9737" y="4315968"/>
            <a:ext cx="3259731" cy="164592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За ведение + рекламный бюджет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6628" y="3913632"/>
            <a:ext cx="2193892" cy="53035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50 000 ₽/мес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1057" y="4443984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01057" y="4535424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11374" y="4545711"/>
            <a:ext cx="276606" cy="326898"/>
          </a:xfrm>
          <a:prstGeom prst="roundRect">
            <a:avLst>
              <a:gd name="adj" fmla="val 3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9737" y="4553712"/>
            <a:ext cx="3259731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Управление репутацией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9737" y="4846320"/>
            <a:ext cx="3259731" cy="164592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Карта присутствия + сканер репутации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6628" y="4443984"/>
            <a:ext cx="2193892" cy="53035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1057" y="4974336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01057" y="5065776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79268" y="5138928"/>
            <a:ext cx="140817" cy="140817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23947" y="5314950"/>
            <a:ext cx="251460" cy="30175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9737" y="5084064"/>
            <a:ext cx="3259731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Техническая техподдержка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9737" y="5376672"/>
            <a:ext cx="3259731" cy="164592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Месячный пакет часов + SLA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6628" y="4974336"/>
            <a:ext cx="2193892" cy="53035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30 000 ₽/мес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1057" y="5504688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701057" y="5596128"/>
            <a:ext cx="60000" cy="34747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61666" y="5681853"/>
            <a:ext cx="176022" cy="17602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134589" y="5578754"/>
            <a:ext cx="30175" cy="9052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134589" y="5870449"/>
            <a:ext cx="30175" cy="9052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958567" y="5754776"/>
            <a:ext cx="90525" cy="3017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250262" y="5754776"/>
            <a:ext cx="90525" cy="3017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29737" y="5614416"/>
            <a:ext cx="3259731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GEO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9737" y="5907024"/>
            <a:ext cx="3259731" cy="164592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Видимость бренда в AI-поиске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6628" y="5504688"/>
            <a:ext cx="2193892" cy="53035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r"/>
            <a:r>
              <a:rPr sz="2200" b="1" i="0">
                <a:solidFill>
                  <a:srgbClr val="6B4FE9"/>
                </a:solidFill>
                <a:latin typeface="Manrope"/>
              </a:rPr>
              <a:t>от 90 000 ₽/мес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1">
                <a:solidFill>
                  <a:srgbClr val="2B7CE9"/>
                </a:solidFill>
                <a:latin typeface="Inter"/>
              </a:rPr>
              <a:t>Источник цен — acoola.team. Точная конфигурация — на встрече.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Награды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Внешняя валидация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4592" y="2816352"/>
            <a:ext cx="1439616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Золотой партнёр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592" y="3749040"/>
            <a:ext cx="1439616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Автоматизируем бизнес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88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3392" y="2816352"/>
            <a:ext cx="1439616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Мониторинг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392" y="3749040"/>
            <a:ext cx="1439616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Участник программы качества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76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1A4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2192" y="2816352"/>
            <a:ext cx="1439616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Сертифицированное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агентство Яндекса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2192" y="3749040"/>
            <a:ext cx="1439616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Яндекс.Директ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64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0992" y="2816352"/>
            <a:ext cx="1439616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Google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0992" y="3749040"/>
            <a:ext cx="1439616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Сертифицированный партнёр Google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9520" y="2651760"/>
            <a:ext cx="3482480" cy="169164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9520" y="2788920"/>
            <a:ext cx="348248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Manrope"/>
              </a:rP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9520" y="3886200"/>
            <a:ext cx="34824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довольных клиентов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880" y="4846320"/>
            <a:ext cx="2342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Яндекс.Метрика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880" y="5349240"/>
            <a:ext cx="2342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8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880" y="4846320"/>
            <a:ext cx="2342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Google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0880" y="5349240"/>
            <a:ext cx="2342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6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880" y="4846320"/>
            <a:ext cx="2342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Brand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880" y="5349240"/>
            <a:ext cx="2342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4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6880" y="4846320"/>
            <a:ext cx="2342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Calltouch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6880" y="5349240"/>
            <a:ext cx="2342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000" b="0" i="1">
                <a:solidFill>
                  <a:srgbClr val="7A7A85"/>
                </a:solidFill>
                <a:latin typeface="Inter"/>
              </a:rPr>
              <a:t>NPS 100 за последний год · 95 за общий период — программа мониторинга качества 1С Битрикс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6B4FE9"/>
                </a:solidFill>
                <a:latin typeface="Inter"/>
              </a:rPr>
              <a:t>Наша модель · кульминация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13716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Мы запустили GEO в 2025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2800" b="1" i="0">
                <a:solidFill>
                  <a:srgbClr val="6B4FE9"/>
                </a:solidFill>
                <a:latin typeface="Manrope"/>
              </a:rPr>
              <a:t>до того, как остальные услышали это слово.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3200400"/>
            <a:ext cx="5943600" cy="1737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0">
                <a:solidFill>
                  <a:srgbClr val="CCCCD0"/>
                </a:solidFill>
                <a:latin typeface="Inter"/>
              </a:rPr>
              <a:t>Когда клиент спрашивает у ChatGPT —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«кому позвонить по [вашей категории] в Москве»,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мы делаем так, чтобы ответ назвал ваш бренд.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/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GEO — это не отдельная новая команда.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Это наши SEO, контент и ORM в новом продукте.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200400"/>
            <a:ext cx="4774000" cy="173736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4774000" cy="312724"/>
          </a:xfrm>
          <a:prstGeom prst="roundRect">
            <a:avLst>
              <a:gd name="adj" fmla="val 4000"/>
            </a:avLst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78000" y="3316762"/>
            <a:ext cx="80000" cy="80000"/>
          </a:xfrm>
          <a:prstGeom prst="roundRect">
            <a:avLst>
              <a:gd name="adj" fmla="val 50000"/>
            </a:avLst>
          </a:prstGeom>
          <a:solidFill>
            <a:srgbClr val="4A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8000" y="3200400"/>
            <a:ext cx="4214000" cy="31272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800" b="1" i="0">
                <a:solidFill>
                  <a:srgbClr val="7A7A85"/>
                </a:solidFill>
                <a:latin typeface="Inter"/>
              </a:rPr>
              <a:t>ChatGPT  ·  Perplexity  ·  YandexGPT  ·  Алиса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2120" y="3593124"/>
            <a:ext cx="2959880" cy="354098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2120" y="3593124"/>
            <a:ext cx="2759880" cy="35409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800" b="0" i="0">
                <a:solidFill>
                  <a:srgbClr val="FFFFFF"/>
                </a:solidFill>
                <a:latin typeface="Inter"/>
              </a:rPr>
              <a:t>Кому позвонить по охранным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системам в Москве?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78000" y="4027222"/>
            <a:ext cx="4057900" cy="830538"/>
          </a:xfrm>
          <a:prstGeom prst="roundRect">
            <a:avLst>
              <a:gd name="adj" fmla="val 15000"/>
            </a:avLst>
          </a:prstGeom>
          <a:solidFill>
            <a:srgbClr val="2E2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8000" y="4067222"/>
            <a:ext cx="3817900" cy="790538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800" b="0" i="0">
                <a:solidFill>
                  <a:srgbClr val="FFFFFF"/>
                </a:solidFill>
                <a:latin typeface="Inter"/>
              </a:rPr>
              <a:t>В вашей категории в Москве: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Конкурент A — лидер по узнаваемости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Ваш бренд — закрывает задачу комплексно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Конкурент B — нишевое решение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8000" y="4376047"/>
            <a:ext cx="3897900" cy="182718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8000" y="4376047"/>
            <a:ext cx="3817900" cy="182718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800" b="1" i="0">
                <a:solidFill>
                  <a:srgbClr val="FFFFFF"/>
                </a:solidFill>
                <a:latin typeface="Inter"/>
              </a:rPr>
              <a:t>  •  Ваш бренд — комплексные решения, GPS-трекинг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074920"/>
            <a:ext cx="11072000" cy="86868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320" y="5166360"/>
            <a:ext cx="18288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1" i="0">
                <a:solidFill>
                  <a:srgbClr val="6B4FE9"/>
                </a:solidFill>
                <a:latin typeface="Inter"/>
              </a:rPr>
              <a:t>ПРЯМО СЕЙЧАС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20" y="5440680"/>
            <a:ext cx="822960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Откройте ChatGPT и спросите — «кому позвонить по [вашей нише] в Москве?»  Скиньте нам скриншот.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63320" y="51435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73320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07201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41083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74965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08847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42729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6611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78257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79902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7666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81548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15430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349312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383194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17076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50958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73320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6611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010493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12139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13784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247666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450958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73320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41083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74965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08847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976611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247666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315430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49312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383194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450958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773320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41083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74965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908847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976611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78257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179902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247666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315430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349312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383194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450958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773320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841083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874965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908847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976611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10493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112139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13784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247666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315430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349312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383194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450958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773320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976611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247666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450958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773320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807201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841083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874965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908847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942729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976611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078257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179902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247666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281548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315430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349312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383194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417076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450958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807201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908847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010493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112139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213784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315430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417076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73320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74965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76611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78257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179902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281548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383194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807201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908847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010493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112139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213784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315430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417076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773320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874965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976611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78257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179902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281548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383194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807201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908847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10493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112139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213784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315430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417076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773320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807201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841083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874965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908847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942729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976611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773320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976611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078257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1179902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281548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1383194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773320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841083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874965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908847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976611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1010493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112139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1213784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1315430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1417076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773320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841083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874965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908847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976611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773320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841083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874965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0908847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976611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1078257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179902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281548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383194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773320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976611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010493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112139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213784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315430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1417076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773320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807201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841083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874965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908847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0942729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976611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391720" y="5143500"/>
            <a:ext cx="1280160" cy="7315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→ форма обратной</a:t>
            </a:r>
          </a:p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связи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560000" y="6080760"/>
            <a:ext cx="4114800" cy="594360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560000" y="6080760"/>
            <a:ext cx="4114800" cy="594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nrope"/>
              </a:rPr>
              <a:t>от 90 000 ₽/мес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857680" y="608076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857680" y="6080760"/>
            <a:ext cx="2743200" cy="594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6B4FE9"/>
                </a:solidFill>
                <a:latin typeface="Inter"/>
              </a:rPr>
              <a:t>Новое направление 2025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8888800" y="608076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888800" y="6080760"/>
            <a:ext cx="2743200" cy="594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Запросить GEO-аудит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Manrope"/>
              </a:rPr>
              <a:t>Один контракт или пять?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0" i="1">
                <a:solidFill>
                  <a:srgbClr val="7A7A85"/>
                </a:solidFill>
                <a:latin typeface="Inter"/>
              </a:rPr>
              <a:t>То, чем мы отличаемся, — устройство, а не магия.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926080"/>
            <a:ext cx="5398840" cy="274320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40" y="3200400"/>
            <a:ext cx="4758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7A7A85"/>
                </a:solidFill>
                <a:latin typeface="Inter"/>
              </a:rPr>
              <a:t>ВАРИАНТ A — 5 ПОДРЯДЧИКОВ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40" y="3703320"/>
            <a:ext cx="4758760" cy="9601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0">
                <a:solidFill>
                  <a:srgbClr val="CCCCD0"/>
                </a:solidFill>
                <a:latin typeface="Inter"/>
              </a:rPr>
              <a:t>Дизайн — у одного. Разработка — у другого.</a:t>
            </a:r>
          </a:p>
          <a:p>
            <a:r>
              <a:rPr sz="1400" b="0" i="0">
                <a:solidFill>
                  <a:srgbClr val="CCCCD0"/>
                </a:solidFill>
                <a:latin typeface="Inter"/>
              </a:rPr>
              <a:t>SEO — у третьего. Контекст — у четвёртого.</a:t>
            </a:r>
          </a:p>
          <a:p>
            <a:r>
              <a:rPr sz="1400" b="0" i="0">
                <a:solidFill>
                  <a:srgbClr val="CCCCD0"/>
                </a:solidFill>
                <a:latin typeface="Inter"/>
              </a:rPr>
              <a:t>Поддержка — у пятого.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40" y="4754880"/>
            <a:ext cx="4758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5 счетов · 5 KPI · 5 разных стандартов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40" y="5166360"/>
            <a:ext cx="4758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Никто не отвечает за общий результат.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160" y="2926080"/>
            <a:ext cx="5398840" cy="2743200"/>
          </a:xfrm>
          <a:prstGeom prst="roundRect">
            <a:avLst>
              <a:gd name="adj" fmla="val 6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200" y="3200400"/>
            <a:ext cx="4758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Inter"/>
              </a:rPr>
              <a:t>ВАРИАНТ B — 1 КОМАНДА · 6 НАПРАВЛЕНИЙ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703320"/>
            <a:ext cx="4758760" cy="9601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Inter"/>
              </a:rPr>
              <a:t>Разработка сайта / SEO / Контекстная реклама /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Управление репутацией / Техническая техподдержка / GEO —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один договор, один план, одна точка ответственности.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754880"/>
            <a:ext cx="4758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1">
                <a:solidFill>
                  <a:srgbClr val="DDE9FB"/>
                </a:solidFill>
                <a:latin typeface="Inter"/>
              </a:rPr>
              <a:t>Среди клиентов — Сбер, БыстроБанк, Главстрой, Pioneer.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5166360"/>
            <a:ext cx="4758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95% продлевают. Средний срок — 3,5+ года.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" y="589788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Если узнали себя в варианте слева — мы и есть та самая альтернатива.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989320"/>
            <a:ext cx="11072000" cy="64008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000" y="5989320"/>
            <a:ext cx="11072000" cy="6400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nrope"/>
              </a:rPr>
              <a:t>hello@acoola.team   ·   +7 499 938-48-27   ·   acoola.team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Партнёрская программа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Зарабатывайте на рекомендациях.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Платим деньги за привлечение клиентов на любую из 6 услуг.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606040"/>
            <a:ext cx="5398840" cy="2011680"/>
          </a:xfrm>
          <a:prstGeom prst="roundRect">
            <a:avLst>
              <a:gd name="adj" fmla="val 6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480" y="2971800"/>
            <a:ext cx="2557882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ЕЖЕМЕСЯЧНЫЕ УСЛУГИ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480" y="3611880"/>
            <a:ext cx="2557882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Inter"/>
              </a:rPr>
              <a:t>SEO · контекст · ORM · техподдержка</a:t>
            </a:r>
          </a:p>
          <a:p>
            <a:r>
              <a:rPr sz="1200" b="0" i="0">
                <a:solidFill>
                  <a:srgbClr val="FFFFFF"/>
                </a:solidFill>
                <a:latin typeface="Inter"/>
              </a:rPr>
              <a:t/>
            </a:r>
          </a:p>
          <a:p>
            <a:r>
              <a:rPr sz="1200" b="0" i="0">
                <a:solidFill>
                  <a:srgbClr val="FFFFFF"/>
                </a:solidFill>
                <a:latin typeface="Inter"/>
              </a:rPr>
              <a:t>Ежемесячно в течение года сотрудничества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362" y="2606040"/>
            <a:ext cx="2155158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Manrope"/>
              </a:rPr>
              <a:t>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160" y="2606040"/>
            <a:ext cx="5398840" cy="2011680"/>
          </a:xfrm>
          <a:prstGeom prst="roundRect">
            <a:avLst>
              <a:gd name="adj" fmla="val 6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0" y="2971800"/>
            <a:ext cx="2557882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РАЗРАБОТКА САЙТОВ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0" y="3611880"/>
            <a:ext cx="2557882" cy="7772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Inter"/>
              </a:rPr>
              <a:t>От каждого платежа клиента</a:t>
            </a:r>
          </a:p>
          <a:p>
            <a:r>
              <a:rPr sz="1200" b="0" i="0">
                <a:solidFill>
                  <a:srgbClr val="FFFFFF"/>
                </a:solidFill>
                <a:latin typeface="Inter"/>
              </a:rPr>
              <a:t>за разработку сайта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2522" y="2606040"/>
            <a:ext cx="2155158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Manrope"/>
              </a:rPr>
              <a:t>12%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600" y="4965192"/>
            <a:ext cx="311154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600" y="5257800"/>
            <a:ext cx="311154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Рекомендуйте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600" y="557784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Расскажите коллегам, партнёрам или клиентам, которые ищут подрядчика.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1626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0226" y="4965192"/>
            <a:ext cx="311154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0226" y="5257800"/>
            <a:ext cx="311154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Сформулируйте задачу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0226" y="557784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Коротко опишите, что нужно. Предупредите клиента о нашем звонке.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3252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1852" y="4965192"/>
            <a:ext cx="311154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1852" y="5257800"/>
            <a:ext cx="3111546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Передайте контакты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1852" y="5577840"/>
            <a:ext cx="3111546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Мы проведём бесплатный аудит. Партнёру — комиссия.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00" y="6172200"/>
            <a:ext cx="11072000" cy="50292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0000" y="6172200"/>
            <a:ext cx="11072000" cy="502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nrope"/>
              </a:rPr>
              <a:t>Стать партнёром: hello@acoola.team   ·   acoola.team/partnership/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