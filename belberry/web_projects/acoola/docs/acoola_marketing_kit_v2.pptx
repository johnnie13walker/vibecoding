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2011680"/>
            <a:ext cx="11072000" cy="12801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Manrope"/>
              </a:rPr>
              <a:t>ACOOLA.TEAM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320040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200" b="0">
                <a:solidFill>
                  <a:srgbClr val="7A7A85"/>
                </a:solidFill>
                <a:latin typeface="Inter"/>
              </a:rPr>
              <a:t>Digital-агентство полного цикла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02336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800" b="0">
                <a:solidFill>
                  <a:srgbClr val="7A7A85"/>
                </a:solidFill>
                <a:latin typeface="Inter"/>
              </a:rPr>
              <a:t>Сайт как актив, а не разовый проект.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4221" y="4846320"/>
            <a:ext cx="187451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64221" y="4846320"/>
            <a:ext cx="1874519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🔥 Прокачаем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8740" y="4846320"/>
            <a:ext cx="187451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58740" y="4846320"/>
            <a:ext cx="1874519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3259" y="4846320"/>
            <a:ext cx="187451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3259" y="4846320"/>
            <a:ext cx="1874519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400800"/>
            <a:ext cx="27432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acoola.team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4480" y="6400800"/>
            <a:ext cx="27432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Inter"/>
              </a:rPr>
              <a:t>Маркетинг-кит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77724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000000"/>
                </a:solidFill>
                <a:latin typeface="Manrope"/>
              </a:rPr>
              <a:t>Немного о компании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🔥 Прокачаем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960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960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4408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4408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3900" y="18288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492" y="2057400"/>
            <a:ext cx="1819656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Рейтинг Рунета</a:t>
            </a:r>
          </a:p>
          <a:p>
            <a:r>
              <a:rPr sz="1800" b="1">
                <a:solidFill>
                  <a:srgbClr val="FFFFFF"/>
                </a:solidFill>
                <a:latin typeface="Manrope"/>
              </a:rPr>
              <a:t>1 место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92" y="2880360"/>
            <a:ext cx="1819656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CCCCD0"/>
                </a:solidFill>
                <a:latin typeface="Inter"/>
              </a:rPr>
              <a:t>Веб-студии для медицинской ниши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2740" y="18288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1B3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17332" y="2057400"/>
            <a:ext cx="1819656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Серебро Tagline</a:t>
            </a:r>
          </a:p>
          <a:p>
            <a:r>
              <a:rPr sz="1800" b="1">
                <a:solidFill>
                  <a:srgbClr val="FFFFFF"/>
                </a:solidFill>
                <a:latin typeface="Manrope"/>
              </a:rPr>
              <a:t>SMM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7332" y="2880360"/>
            <a:ext cx="1819656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CCCCD0"/>
                </a:solidFill>
                <a:latin typeface="Inter"/>
              </a:rPr>
              <a:t>SMM для медицинской тематики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1580" y="18288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6172" y="2057400"/>
            <a:ext cx="1819656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Мониторинг</a:t>
            </a:r>
          </a:p>
          <a:p>
            <a:r>
              <a:rPr sz="1800" b="1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6172" y="2880360"/>
            <a:ext cx="1819656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CCCCD0"/>
                </a:solidFill>
                <a:latin typeface="Inter"/>
              </a:rPr>
              <a:t>Участник программы качества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420" y="18288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5012" y="2057400"/>
            <a:ext cx="1819656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Золотой партнёр</a:t>
            </a:r>
          </a:p>
          <a:p>
            <a:r>
              <a:rPr sz="1800" b="1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5012" y="2880360"/>
            <a:ext cx="1819656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CCCCD0"/>
                </a:solidFill>
                <a:latin typeface="Inter"/>
              </a:rPr>
              <a:t>Автоматизируем бизнес на максимум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9260" y="18288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3852" y="2057400"/>
            <a:ext cx="1819656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ТОП-3 лучших</a:t>
            </a:r>
          </a:p>
          <a:p>
            <a:r>
              <a:rPr sz="1800" b="1">
                <a:solidFill>
                  <a:srgbClr val="FFFFFF"/>
                </a:solidFill>
                <a:latin typeface="Manrope"/>
              </a:rPr>
              <a:t>агентств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3852" y="2880360"/>
            <a:ext cx="1819656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CCCCD0"/>
                </a:solidFill>
                <a:latin typeface="Inter"/>
              </a:rPr>
              <a:t>3 место Ruward 2025: разработка сайта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000" y="4023360"/>
            <a:ext cx="110720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5760" y="4251960"/>
            <a:ext cx="10340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>
                <a:solidFill>
                  <a:srgbClr val="7A7A85"/>
                </a:solidFill>
                <a:latin typeface="Inter"/>
              </a:rPr>
              <a:t>Цифры, которые говорят сами за себя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760" y="4663440"/>
            <a:ext cx="2585120" cy="10515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800" b="1">
                <a:solidFill>
                  <a:srgbClr val="2B7CE9"/>
                </a:solidFill>
                <a:latin typeface="Manrope"/>
              </a:rP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760" y="5623560"/>
            <a:ext cx="25851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Digital-экспертов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0880" y="4663440"/>
            <a:ext cx="2585120" cy="10515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800" b="1">
                <a:solidFill>
                  <a:srgbClr val="2B7CE9"/>
                </a:solidFill>
                <a:latin typeface="Manrope"/>
              </a:rPr>
              <a:t>70+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0880" y="5623560"/>
            <a:ext cx="25851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Проектов ежемесячно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4663440"/>
            <a:ext cx="2585120" cy="10515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800" b="1">
                <a:solidFill>
                  <a:srgbClr val="2B7CE9"/>
                </a:solidFill>
                <a:latin typeface="Manrope"/>
              </a:rPr>
              <a:t>&gt;3,5 ЛЕТ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5623560"/>
            <a:ext cx="25851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Средний срок сотрудничества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1120" y="4663440"/>
            <a:ext cx="2585120" cy="10515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800" b="1">
                <a:solidFill>
                  <a:srgbClr val="2B7CE9"/>
                </a:solidFill>
                <a:latin typeface="Manrope"/>
              </a:rPr>
              <a:t>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1120" y="5623560"/>
            <a:ext cx="25851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Довольных клиентов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anrope"/>
              </a:rPr>
              <a:t>Кому мы помогаем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Финансы, недвижимость, промышленность, e-commerce, IT — отрасли, где сайт = канал продаж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228600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Финансы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8880" y="2377440"/>
            <a:ext cx="860312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CCCCD0"/>
                </a:solidFill>
                <a:latin typeface="Inter"/>
              </a:rPr>
              <a:t>БыстроБанк · Трансстройбанк · NZT Rusfond · PROFIT CONF · НПФ «Будущее»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000" y="3055240"/>
            <a:ext cx="11072000" cy="8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000" y="3063240"/>
            <a:ext cx="228600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Недвижимость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8880" y="3063240"/>
            <a:ext cx="860312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CCCCD0"/>
                </a:solidFill>
                <a:latin typeface="Inter"/>
              </a:rPr>
              <a:t>Главстрой · DOGMA · Запстрой · Pioneer · Prime 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000" y="3741040"/>
            <a:ext cx="11072000" cy="8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0000" y="3749040"/>
            <a:ext cx="228600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880" y="3749040"/>
            <a:ext cx="860312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CCCCD0"/>
                </a:solidFill>
                <a:latin typeface="Inter"/>
              </a:rPr>
              <a:t>HOHMAN · Robomaster · РУСЭЛ · Yarus Networks · Эксара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000" y="4426840"/>
            <a:ext cx="11072000" cy="8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000" y="4434840"/>
            <a:ext cx="228600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E-commerce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8880" y="4434840"/>
            <a:ext cx="860312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CCCCD0"/>
                </a:solidFill>
                <a:latin typeface="Inter"/>
              </a:rPr>
              <a:t>J.Prettier · Титан · MARKIN · Coolstream · Latrika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000" y="5112640"/>
            <a:ext cx="11072000" cy="8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0000" y="5120640"/>
            <a:ext cx="228600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anrope"/>
              </a:rPr>
              <a:t>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8880" y="5120640"/>
            <a:ext cx="8603120" cy="685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CCCCD0"/>
                </a:solidFill>
                <a:latin typeface="Inter"/>
              </a:rPr>
              <a:t>DIS Group · NGENIX · textback · SBER API · SBER DEVICES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000" y="5798440"/>
            <a:ext cx="11072000" cy="8000"/>
          </a:xfrm>
          <a:prstGeom prst="rect">
            <a:avLst/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>
                <a:solidFill>
                  <a:srgbClr val="2B7CE9"/>
                </a:solidFill>
                <a:latin typeface="Inter"/>
              </a:rPr>
              <a:t>5 отраслей × 5 клиентов = 25 Tier-1 имён  →  слайд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000000"/>
                </a:solidFill>
                <a:latin typeface="Manrope"/>
              </a:rPr>
              <a:t>Какие задачи решаем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Переводим услуги на язык бизнес-результатов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286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320" y="2560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Превратить сайт в канал продаж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3200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Разработка и веб-дизайн под бизнес-метрики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000" y="2286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8320" y="2560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Снизить CPL и поднять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8320" y="3200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Контекст и SEO в связке с аналитикой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000" y="2286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2320" y="2560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Стабильный органический трафик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320" y="3200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SEO с фокусом на обращения, а не позиции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372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320" y="4646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Запустить CRM и навести порядок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20" y="5286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Битрикс24 как Золотой партнёр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4000" y="4372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8320" y="4646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Защитить и усилить репутацию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320" y="5286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ORM на 30+ площадках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000" y="4372000"/>
            <a:ext cx="3584000" cy="192600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2320" y="4646320"/>
            <a:ext cx="303536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Manrope"/>
              </a:rPr>
              <a:t>Появиться в ответах AI-ассистентов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320" y="5286400"/>
            <a:ext cx="3035360" cy="73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7A7A85"/>
                </a:solidFill>
                <a:latin typeface="Inter"/>
              </a:rPr>
              <a:t>Новое направление GEO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840" y="46006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51840" y="4600600"/>
            <a:ext cx="1005840" cy="320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Inter"/>
              </a:rPr>
              <a:t>New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anrope"/>
              </a:rPr>
              <a:t>9 направлений под одной крышей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Полный digital-цикл: от первой строчки кода до первой строчки в ответе 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194560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320" y="2468880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3108960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Под бизнес-задачу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3466" y="2468880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666" y="2194560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4986" y="2468880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Шаблон Битрикс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986" y="3108960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Быстрый запуск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132" y="2468880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1332" y="2194560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5652" y="2468880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Веб-дизайн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652" y="3108960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Дизайн под метрики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4798" y="2468880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3602373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320" y="3876693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SEO-продвижение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20" y="4516773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Заявки и выручка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3466" y="3876693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0666" y="3602373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4986" y="3876693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Контекст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986" y="4516773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Не клики — деньги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4132" y="3876693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1332" y="3602373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5652" y="3876693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5652" y="4516773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Репутация как процесс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4798" y="3876693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5010186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320" y="5284506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Битрикс24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20" y="5924586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CRM, в которой работают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3466" y="5284506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0666" y="5010186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64986" y="5284506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Техподдержка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4986" y="5924586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Сайт всегда на связи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4132" y="5284506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1332" y="5010186"/>
            <a:ext cx="3610666" cy="1287813"/>
          </a:xfrm>
          <a:prstGeom prst="roundRect">
            <a:avLst>
              <a:gd name="adj" fmla="val 6000"/>
            </a:avLst>
          </a:prstGeom>
          <a:solidFill>
            <a:srgbClr val="6B4FE9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95652" y="5284506"/>
            <a:ext cx="306202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GEO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5652" y="5924586"/>
            <a:ext cx="306202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CCCCD0"/>
                </a:solidFill>
                <a:latin typeface="Inter"/>
              </a:rPr>
              <a:t>Видимость в AI-поиске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4798" y="5284506"/>
            <a:ext cx="365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6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95652" y="5657919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95652" y="5657919"/>
            <a:ext cx="1005840" cy="320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6B4FE9"/>
                </a:solidFill>
                <a:latin typeface="Inter"/>
              </a:rPr>
              <a:t>New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Сайт сразу как актив для продвижения, а не как красивая обёртка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🔥 Прокачаем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Боль клиента — устаревший сайт не приносит заявок и тяжело дорабатывается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мы делаем — разработка идёт в связке с SEO, дизайном и аналитикой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входит — UX, дизайн в системе, разработка на 1С Битрикс, интеграции, тестирование, передача под SEO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Доказательство — Золотой партнёр 1С Битрикс · 95% довольных клиентов · Сбер, БыстроБанк, Главстрой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Кому подходит — B2B/B2C-проекты со сложной структурой каталога и амбициями на трафик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МАКЕТ САЙТА / WIREFRAME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подставить мокап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расчёт разработки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Разработка на шаблоне Битрикс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Быстрый запуск без технического долга, с возможностью масштабирования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🔥 Прокачаем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Боль клиента — нужен сайт быстро, но кустарные шаблоны тянут технический долг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Что мы делаем — разрабатываем на шаблонах 1С Битрикс с учётом будущего масштабирования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Что входит — подбор и адаптация шаблона, базовая SEO-настройка, интеграции, тестирование, инструкция для редактора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Доказательство — Золотой партнёр 1С Битрикс — Автоматизируем бизнес на максимум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Кому подходит — малый и средний бизнес с типовой моделью, кому сайт нужен за недели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555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МОДУЛЬНАЯ СЕТКА ШАБЛОНА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подставить графику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расчёт шаблона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Manrope"/>
              </a:rPr>
              <a:t>Веб-дизайн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Дизайн, который окупается метриками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Боль клиента — сайт «красивый», но не конвертит — дизайн делали под вкус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мы делаем — проектируем UX по сценариям, разрабатываем визуальную систему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входит — UX-исследование, вайрфреймы, дизайн-концепция, ключевые экраны, дизайн-система компонентов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Доказательство — Серебро Tagline SMM 2024 — медицина · 3 место Ruward 2025 — разработка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Кому подходит — компании, готовые менять «нравится» на «работает»; премиум-сегменты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ОБРАЗЕЦ ДИЗАЙН-СИСТЕМЫ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подставить экран сайта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дизайн-консультацию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SEO-продвижение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Не топ-10. Заявки и выручка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Боль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клиента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трафик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не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растёт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лиды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дорогие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прошлый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подрядчик</a:t>
            </a:r>
            <a:r>
              <a:rPr sz="1300" dirty="0">
                <a:solidFill>
                  <a:srgbClr val="FFFFFF"/>
                </a:solidFill>
                <a:latin typeface="Inter"/>
              </a:rPr>
              <a:t> «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накрутил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позиции</a:t>
            </a:r>
            <a:r>
              <a:rPr sz="1300" dirty="0">
                <a:solidFill>
                  <a:srgbClr val="FFFFFF"/>
                </a:solidFill>
                <a:latin typeface="Inter"/>
              </a:rPr>
              <a:t>»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Что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делаем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ведём</a:t>
            </a:r>
            <a:r>
              <a:rPr sz="1300" dirty="0">
                <a:solidFill>
                  <a:srgbClr val="FFFFFF"/>
                </a:solidFill>
                <a:latin typeface="Inter"/>
              </a:rPr>
              <a:t> SEO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как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процесс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аудит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семантика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контент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ссылки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отчётность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выручке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Что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входит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технический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аудит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семантическое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ядро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контент-план</a:t>
            </a:r>
            <a:r>
              <a:rPr sz="1300" dirty="0">
                <a:solidFill>
                  <a:srgbClr val="FFFFFF"/>
                </a:solidFill>
                <a:latin typeface="Inter"/>
              </a:rPr>
              <a:t>, on-page,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линкбилдинг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ежемесячная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отчётность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Доказательство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1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место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Рейтинг</a:t>
            </a:r>
            <a:r>
              <a:rPr sz="1300" dirty="0">
                <a:solidFill>
                  <a:srgbClr val="FFFFFF"/>
                </a:solidFill>
                <a:latin typeface="Inter"/>
              </a:rPr>
              <a:t> Рунета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медицина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·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Гольфстрим</a:t>
            </a:r>
            <a:r>
              <a:rPr sz="1300" dirty="0">
                <a:solidFill>
                  <a:srgbClr val="FFFFFF"/>
                </a:solidFill>
                <a:latin typeface="Inter"/>
              </a:rPr>
              <a:t>: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лид</a:t>
            </a:r>
            <a:r>
              <a:rPr sz="1300" dirty="0">
                <a:solidFill>
                  <a:srgbClr val="FFFFFF"/>
                </a:solidFill>
                <a:latin typeface="Inter"/>
              </a:rPr>
              <a:t> 265→50 ₽ ·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wwerb</a:t>
            </a:r>
            <a:r>
              <a:rPr sz="1300" dirty="0">
                <a:solidFill>
                  <a:srgbClr val="FFFFFF"/>
                </a:solidFill>
                <a:latin typeface="Inter"/>
              </a:rPr>
              <a:t>: +223%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органики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Кому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подходит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e-commerce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большой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матрицей</a:t>
            </a:r>
            <a:r>
              <a:rPr sz="1300" dirty="0">
                <a:solidFill>
                  <a:srgbClr val="FFFFFF"/>
                </a:solidFill>
                <a:latin typeface="Inter"/>
              </a:rPr>
              <a:t>; B2B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длинной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воронкой</a:t>
            </a:r>
            <a:r>
              <a:rPr sz="1300" dirty="0">
                <a:solidFill>
                  <a:srgbClr val="FFFFFF"/>
                </a:solidFill>
                <a:latin typeface="Inter"/>
              </a:rPr>
              <a:t>;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премиальные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ниши</a:t>
            </a:r>
            <a:endParaRPr sz="130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555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ГРАФИК РОСТА ОБРАЩЕНИЙ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подставить кейс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₽/мес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SEO-аудит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Не клики. Деньги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Боль клиента — реклама съедает бюджет, заявки не превращаются в продажи — ROI отрицательный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мы делаем — связка контекста с аналитикой и сайтом — оптимизируем не CPL, а ROI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входит — медиапланирование, настройка Яндекс.Директ и VK Ads, корректировка ставок, A/B тесты, отчёт по выручке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Доказательство — Kenner: ROI 140% · HOHMAN: 5,6 млн ₽ выручки за 3 месяца · Сертифицированное агентство Яндекса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Кому подходит — интернет-магазины с конверсионной воронкой; производители; B2B-сегменты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КАРТОЧКА «ROI 140%»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крупная цифра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₽/мес + бюджет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расчёт контекста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Управление репутацией (ORM)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Репутация как процесс, а не как тушение пожара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Боль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клиента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старые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негативные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отзывы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выдаче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конкуренты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вытесняют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из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карточек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Что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делаем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строим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устойчивую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систему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сбора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и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управления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обратной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связью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Что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входит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аудит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регламент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работы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негативом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оптимизация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карточек</a:t>
            </a:r>
            <a:r>
              <a:rPr sz="1300" dirty="0">
                <a:solidFill>
                  <a:srgbClr val="FFFFFF"/>
                </a:solidFill>
                <a:latin typeface="Inter"/>
              </a:rPr>
              <a:t> 2ГИС/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Яндекс.Карт</a:t>
            </a:r>
            <a:r>
              <a:rPr sz="1300" dirty="0">
                <a:solidFill>
                  <a:srgbClr val="FFFFFF"/>
                </a:solidFill>
                <a:latin typeface="Inter"/>
              </a:rPr>
              <a:t>/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Banki.ru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мониторинг</a:t>
            </a:r>
            <a:r>
              <a:rPr sz="1300" dirty="0">
                <a:solidFill>
                  <a:srgbClr val="FFFFFF"/>
                </a:solidFill>
                <a:latin typeface="Inter"/>
              </a:rPr>
              <a:t>,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отчёт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Доказательство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Серебро</a:t>
            </a:r>
            <a:r>
              <a:rPr sz="1300" dirty="0">
                <a:solidFill>
                  <a:srgbClr val="FFFFFF"/>
                </a:solidFill>
                <a:latin typeface="Inter"/>
              </a:rPr>
              <a:t> Tagline SMM 2024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медицина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·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средний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срок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сотрудничества</a:t>
            </a:r>
            <a:r>
              <a:rPr sz="1300" dirty="0">
                <a:solidFill>
                  <a:srgbClr val="FFFFFF"/>
                </a:solidFill>
                <a:latin typeface="Inter"/>
              </a:rPr>
              <a:t> 3,5+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года</a:t>
            </a:r>
            <a:endParaRPr sz="1300" dirty="0">
              <a:solidFill>
                <a:srgbClr val="FFFFFF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FFFFFF"/>
                </a:solidFill>
                <a:latin typeface="Inter"/>
              </a:rPr>
              <a:t>•  Кому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подходит</a:t>
            </a:r>
            <a:r>
              <a:rPr sz="1300" dirty="0">
                <a:solidFill>
                  <a:srgbClr val="FFFFFF"/>
                </a:solidFill>
                <a:latin typeface="Inter"/>
              </a:rPr>
              <a:t> —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компании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физическими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точками</a:t>
            </a:r>
            <a:r>
              <a:rPr sz="1300" dirty="0">
                <a:solidFill>
                  <a:srgbClr val="FFFFFF"/>
                </a:solidFill>
                <a:latin typeface="Inter"/>
              </a:rPr>
              <a:t>; e-commerce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с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потоком</a:t>
            </a:r>
            <a:r>
              <a:rPr sz="1300" dirty="0">
                <a:solidFill>
                  <a:srgbClr val="FFFFFF"/>
                </a:solidFill>
                <a:latin typeface="Inte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заказов</a:t>
            </a:r>
            <a:r>
              <a:rPr sz="1300" dirty="0">
                <a:solidFill>
                  <a:srgbClr val="FFFFFF"/>
                </a:solidFill>
                <a:latin typeface="Inter"/>
              </a:rPr>
              <a:t>; </a:t>
            </a:r>
            <a:r>
              <a:rPr sz="1300" dirty="0" err="1">
                <a:solidFill>
                  <a:srgbClr val="FFFFFF"/>
                </a:solidFill>
                <a:latin typeface="Inter"/>
              </a:rPr>
              <a:t>премиум-бренды</a:t>
            </a:r>
            <a:endParaRPr sz="130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555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КАРТА 30+ ПЛОЩАДОК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схема присутствия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₽/мес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ORM-аудит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Manrope"/>
              </a:rPr>
              <a:t>Внедрение Битрикс24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CRM, в которой работают, а не открывают раз в неделю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Боль клиента — менеджеры теряют заявки, у руководителя нет картины по воронке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мы делаем — не просто «ставим коробку», а собираем процесс: воронка, права, отчёты, интеграции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Что входит — аудит процессов, проектирование воронки и прав, настройка, интеграции с сайтом и телефонией, обучение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Доказательство — Золотой партнёр 1С Битрикс · Участник программы мониторинга качества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Inter"/>
              </a:rPr>
              <a:t>•  Кому подходит — компании 5–50 человек, выросшие из таблиц; смешанные каналы заявок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СХЕМА ВОРОНКИ CRM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5–6 этапов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  [TODO]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расчёт Битрикс24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Техническая поддержка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Сайт всегда на связи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286000"/>
            <a:ext cx="6523200" cy="3200400"/>
          </a:xfrm>
          <a:prstGeom prst="rect">
            <a:avLst/>
          </a:prstGeom>
          <a:noFill/>
        </p:spPr>
        <p:txBody>
          <a:bodyPr wrap="square" lIns="50000" rIns="5000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Боль клиента — на сайте «упало», менеджер у подрядчика в отпуске, форма заявки не работает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Что мы делаем — SLA на ответ в часах, регламент работ, плановые задачи и резерв под форс-мажор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Что входит — регулярные доработки и фиксы, мониторинг, резервное копирование, обновления, ежемесячный отчёт по часам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Доказательство — средний срок сотрудничества 3,5+ года · 95% довольных клиентов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•  Кому подходит — все клиенты с действующим сайтом, для кого простой = упущенные заявки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3200" y="2286000"/>
            <a:ext cx="4428800" cy="32004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555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3200" y="2286000"/>
            <a:ext cx="4428800" cy="32004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КАРТОЧКИ «3,5+ ГОДА / 95%»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пара метрик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5943600"/>
            <a:ext cx="36576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>
                <a:solidFill>
                  <a:srgbClr val="2B7CE9"/>
                </a:solidFill>
                <a:latin typeface="Manrope"/>
              </a:rPr>
              <a:t>от __ ₽/мес  [TODO]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31600" y="59436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1600" y="5943600"/>
            <a:ext cx="32004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условия техподдержки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82961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961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🔥 Прокачаем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03200" y="914400"/>
            <a:ext cx="1783080" cy="411480"/>
          </a:xfrm>
          <a:prstGeom prst="roundRect">
            <a:avLst>
              <a:gd name="adj" fmla="val 5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3200" y="914400"/>
            <a:ext cx="17830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GEO — видимость бренда в AI-поиске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Делаем так, чтобы ChatGPT, Perplexity, Gemini, YandexGPT и Алиса упоминали ваш бренд — а не только конкурентов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2377440"/>
            <a:ext cx="5416000" cy="274320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0000" y="237744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>
                <a:solidFill>
                  <a:srgbClr val="7A7A85"/>
                </a:solidFill>
                <a:latin typeface="Inter"/>
              </a:rPr>
              <a:t>ChatGPT · Perplexity · Gemini · YandexGPT · Алиса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2377440"/>
            <a:ext cx="5416000" cy="2743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[ МОКАП ОТВЕТА AI-АССИСТЕНТА ]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дизайнер: карточка с цитатой бренда</a:t>
            </a:r>
          </a:p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и логотипами LLM в шапке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6000" y="237744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1. Аудит видимости в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6000" y="292608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2. Карта AI-запросов аудитории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6000" y="347472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3. Источники цитирования: контент, медиа, отзывы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6000" y="402336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4. Структура данных: schema.org, llms.txt, FAQ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6000" y="4572000"/>
            <a:ext cx="5416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Inter"/>
              </a:rPr>
              <a:t>5. Ежемесячный отчёт: доля голоса, динамика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94360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5943600"/>
            <a:ext cx="41148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nrope"/>
              </a:rPr>
              <a:t>от 90 000 ₽/мес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7680" y="5943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57680" y="5943600"/>
            <a:ext cx="27432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6B4FE9"/>
                </a:solidFill>
                <a:latin typeface="Inter"/>
              </a:rPr>
              <a:t>Новое направление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8800" y="5943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8800" y="5943600"/>
            <a:ext cx="27432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Запросить GEO-аудит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000000"/>
                </a:solidFill>
                <a:latin typeface="Manrope"/>
              </a:rPr>
              <a:t>Как мы ведём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6 шагов от первого письма до ежемесячного отчёта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600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00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Бриф и аудит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00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Бизнес, цели, состояние сайта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8666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7266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7266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Стратегия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266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План работ на 3–6 месяцев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7332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5932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932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Запуск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932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Разработка / SEO / реклама / 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998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598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598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Итерации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598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Задачи → реализация → измерение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4664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DCE9FB"/>
          </a:solidFill>
          <a:ln w="6350">
            <a:solidFill>
              <a:srgbClr val="2B7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3264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3264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Отчёт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3264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Что сделали и измерили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3330" y="2377440"/>
            <a:ext cx="1778666" cy="2743200"/>
          </a:xfrm>
          <a:prstGeom prst="roundRect">
            <a:avLst>
              <a:gd name="adj" fmla="val 5000"/>
            </a:avLst>
          </a:prstGeom>
          <a:solidFill>
            <a:srgbClr val="DCE9FB"/>
          </a:solidFill>
          <a:ln w="6350">
            <a:solidFill>
              <a:srgbClr val="2B7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81930" y="26060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1">
                <a:solidFill>
                  <a:srgbClr val="2B7CE9"/>
                </a:solidFill>
                <a:latin typeface="Manrop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1930" y="3291840"/>
            <a:ext cx="1321466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anrope"/>
              </a:rPr>
              <a:t>Развитие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1930" y="3840480"/>
            <a:ext cx="1321466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>
                <a:solidFill>
                  <a:srgbClr val="7A7A85"/>
                </a:solidFill>
                <a:latin typeface="Inter"/>
              </a:rPr>
              <a:t>Новые гипотезы, длинная дистанция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000" y="62179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Средний срок сотрудничества — 3,5+ года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anrope"/>
              </a:rPr>
              <a:t>Почему Acoola.Team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4 опоры, на которых держатся длинные отношения с клиентами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5456000" cy="14744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760" y="2743200"/>
            <a:ext cx="472448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Полный цикл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60" y="3474720"/>
            <a:ext cx="472448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CCCCD0"/>
                </a:solidFill>
                <a:latin typeface="Inter"/>
              </a:rPr>
              <a:t>9 направлений работ — снимаем «зоопарк подрядчиков»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000" y="2377440"/>
            <a:ext cx="5456000" cy="14744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1760" y="2743200"/>
            <a:ext cx="472448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Tier-1 клиенты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1760" y="3474720"/>
            <a:ext cx="472448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CCCCD0"/>
                </a:solidFill>
                <a:latin typeface="Inter"/>
              </a:rPr>
              <a:t>Сбер · БыстроБанк · Главстрой · Pioneer · NGENIX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011920"/>
            <a:ext cx="5456000" cy="147448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760" y="4377680"/>
            <a:ext cx="472448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Длинные отношения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760" y="5109200"/>
            <a:ext cx="472448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CCCCD0"/>
                </a:solidFill>
                <a:latin typeface="Inter"/>
              </a:rPr>
              <a:t>Средний срок сотрудничества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760" y="4206240"/>
            <a:ext cx="472448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400" b="1" dirty="0">
                <a:solidFill>
                  <a:srgbClr val="FFFFFF"/>
                </a:solidFill>
                <a:latin typeface="Manrope"/>
              </a:rPr>
              <a:t>3,5+ </a:t>
            </a:r>
            <a:r>
              <a:rPr sz="5400" b="1" dirty="0" err="1">
                <a:solidFill>
                  <a:srgbClr val="FFFFFF"/>
                </a:solidFill>
                <a:latin typeface="Manrope"/>
              </a:rPr>
              <a:t>года</a:t>
            </a:r>
            <a:endParaRPr sz="5400" b="1" dirty="0">
              <a:solidFill>
                <a:srgbClr val="FFFFFF"/>
              </a:solidFill>
              <a:latin typeface="Manrope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6000" y="4011920"/>
            <a:ext cx="5456000" cy="147448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1760" y="4377680"/>
            <a:ext cx="472448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anrope"/>
              </a:rPr>
              <a:t>95% довольных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1760" y="5109200"/>
            <a:ext cx="472448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>
                <a:solidFill>
                  <a:srgbClr val="CCCCD0"/>
                </a:solidFill>
                <a:latin typeface="Inter"/>
              </a:rPr>
              <a:t>Главный фирменный показатель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1760" y="4206240"/>
            <a:ext cx="472448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400" b="1" dirty="0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Кейсы: контекст и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4 проекта, где считаем рост в деньгах, а не в позициях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5456000" cy="156592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760" y="2651760"/>
            <a:ext cx="4724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Kenner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60" y="3154680"/>
            <a:ext cx="4724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Мебель · контекст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760" y="3611880"/>
            <a:ext cx="4724480" cy="14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ROI 140%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CPL 1 374 ₽ (корзина)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CPL 4 067 ₽ (продажа)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6000" y="2377440"/>
            <a:ext cx="5456000" cy="156592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1760" y="2651760"/>
            <a:ext cx="4724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HOHMAN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1760" y="3154680"/>
            <a:ext cx="4724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Станки · контекст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1760" y="3611880"/>
            <a:ext cx="4724480" cy="14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5,6 млн ₽ за 3 мес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ROI 140 · 68% из РСЯ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До 15 регионов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4103360"/>
            <a:ext cx="5456000" cy="156592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760" y="4377680"/>
            <a:ext cx="4724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Гольфстрим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760" y="4880600"/>
            <a:ext cx="4724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Охрана · SEO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760" y="5337800"/>
            <a:ext cx="4724480" cy="14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Лид: 265 → 50 ₽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Конверсии: 602 → 3 213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+40% видимости · 3 года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000" y="4103360"/>
            <a:ext cx="5456000" cy="156592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1760" y="4377680"/>
            <a:ext cx="4724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wwerb.com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1760" y="4880600"/>
            <a:ext cx="4724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Часы · 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1760" y="5337800"/>
            <a:ext cx="4724480" cy="148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Лид: 18 400 → 582 ₽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Органика: +223%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Выручка 164+ млн 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nrope"/>
              </a:rPr>
              <a:t>Кейсы: недвижимость,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Где UX, SEO и SMM работают на обращения и выручку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3584000" cy="31089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760" y="2651760"/>
            <a:ext cx="2852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60" y="3154680"/>
            <a:ext cx="285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Недвижимость · SEO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760" y="3611880"/>
            <a:ext cx="2852480" cy="1691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Лид: 1 780 → 195 ₽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Посещения: 5 505 → 6 754/мес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Отказы: 13,5% → 12,7%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000" y="2377440"/>
            <a:ext cx="3584000" cy="31089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9760" y="2651760"/>
            <a:ext cx="2852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SKY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9760" y="3154680"/>
            <a:ext cx="285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Премиум · SEO+SMM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760" y="3611880"/>
            <a:ext cx="2852480" cy="1691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Отказы: 24,9% → 11,1%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Время: 2:12 → 3:52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Лид: 3 330 → 1 480 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8000" y="2377440"/>
            <a:ext cx="3584000" cy="31089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3760" y="2651760"/>
            <a:ext cx="28524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nrope"/>
              </a:rPr>
              <a:t>КВАДРОСТИЛЬ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3760" y="3154680"/>
            <a:ext cx="285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7A7A85"/>
                </a:solidFill>
                <a:latin typeface="Inter"/>
              </a:rPr>
              <a:t>E-commerce · SEO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3760" y="3611880"/>
            <a:ext cx="2852480" cy="1691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×223 переходов из поиска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×2,3 конверсий</a:t>
            </a:r>
          </a:p>
          <a:p>
            <a:r>
              <a:rPr sz="1400" b="1">
                <a:solidFill>
                  <a:srgbClr val="2B7CE9"/>
                </a:solidFill>
                <a:latin typeface="Manrope"/>
              </a:rPr>
              <a:t>5 лет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>
                <a:solidFill>
                  <a:srgbClr val="7A7A85"/>
                </a:solidFill>
                <a:latin typeface="Inter"/>
              </a:rPr>
              <a:t>Полный список кейсов: acoola.team/projects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anrope"/>
              </a:rPr>
              <a:t>Наши 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70+ проектов в работе ежемесячно. 5 отраслей × 5 Tier-1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2103120" cy="72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500" b="1">
                <a:solidFill>
                  <a:srgbClr val="7A7A85"/>
                </a:solidFill>
                <a:latin typeface="Manrope"/>
              </a:rPr>
              <a:t>Финансы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3120" y="2417440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00280" y="2417440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БыстроБанк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9696" y="246888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6896" y="2417440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4056" y="2417440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Трансстройбанк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472" y="246888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0672" y="2417440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7832" y="2417440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NZT Rusfond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7248" y="246888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4448" y="2417440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1608" y="2417440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PROFIT CONF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024" y="246888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38224" y="2417440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75384" y="2417440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НПФ «Будущее»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4800" y="246888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" y="3106688"/>
            <a:ext cx="2103120" cy="72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500" b="1">
                <a:solidFill>
                  <a:srgbClr val="7A7A85"/>
                </a:solidFill>
                <a:latin typeface="Manrope"/>
              </a:rPr>
              <a:t>Недвижимость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3120" y="3146688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00280" y="3146688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Главстрой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9696" y="319812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6896" y="3146688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4056" y="3146688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DOGMA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3472" y="319812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0672" y="3146688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7832" y="3146688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Запстрой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7248" y="319812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4448" y="3146688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1608" y="3146688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Pioneer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024" y="319812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224" y="3146688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75384" y="3146688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Prime Park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4800" y="319812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000" y="3835936"/>
            <a:ext cx="2103120" cy="72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500" b="1">
                <a:solidFill>
                  <a:srgbClr val="7A7A85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63120" y="3875936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00280" y="3875936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HOHMAN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9696" y="392737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56896" y="3875936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94056" y="3875936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Robomaster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3472" y="392737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50672" y="3875936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7832" y="3875936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РУСЭЛ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7248" y="392737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4448" y="3875936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81608" y="3875936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Yarus Networks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1024" y="392737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38224" y="3875936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75384" y="3875936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Эксара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4800" y="392737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000" y="4565184"/>
            <a:ext cx="2103120" cy="72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500" b="1">
                <a:solidFill>
                  <a:srgbClr val="7A7A85"/>
                </a:solidFill>
                <a:latin typeface="Manrope"/>
              </a:rPr>
              <a:t>E-commerce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63120" y="4605184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00280" y="4605184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J.Prettier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9696" y="4656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56896" y="4605184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94056" y="4605184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Титан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3472" y="4656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0672" y="4605184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87832" y="4605184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MARKIN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7248" y="4656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44448" y="4605184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81608" y="4605184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Coolstream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81024" y="4656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38224" y="4605184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75384" y="4605184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Latrika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74800" y="4656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0000" y="5294432"/>
            <a:ext cx="2103120" cy="72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500" b="1">
                <a:solidFill>
                  <a:srgbClr val="7A7A85"/>
                </a:solidFill>
                <a:latin typeface="Manrope"/>
              </a:rPr>
              <a:t>IT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663120" y="5334432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00280" y="5334432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DIS Group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99696" y="538587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56896" y="5334432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94056" y="5334432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NGENIX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93472" y="538587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50672" y="5334432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87832" y="5334432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textback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7248" y="538587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44448" y="5334432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81608" y="5334432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SBER API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81024" y="538587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838224" y="5334432"/>
            <a:ext cx="1733776" cy="64924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75384" y="5334432"/>
            <a:ext cx="1459456" cy="64924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Inter"/>
              </a:rPr>
              <a:t>SBER DEVICES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74800" y="538587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000000"/>
                </a:solidFill>
                <a:latin typeface="Manrope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50+ digital-специалистов в 6 направлениях — все в Москве, в одном офисе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2926080"/>
            <a:ext cx="36576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0" b="1">
                <a:solidFill>
                  <a:srgbClr val="2B7CE9"/>
                </a:solidFill>
                <a:latin typeface="Manrope"/>
              </a:rP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4297680"/>
            <a:ext cx="3657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Inter"/>
              </a:rPr>
              <a:t>специалистов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754880"/>
            <a:ext cx="36576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>
                <a:solidFill>
                  <a:srgbClr val="7A7A85"/>
                </a:solidFill>
                <a:latin typeface="Inter"/>
              </a:rPr>
              <a:t>в 6 направлениях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1920" y="2377440"/>
            <a:ext cx="17100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4800" y="2651760"/>
            <a:ext cx="13442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4800" y="3246120"/>
            <a:ext cx="1344260" cy="2103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Frontend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Backend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Bitrix Framework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Админы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940" y="2377440"/>
            <a:ext cx="17100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4820" y="2651760"/>
            <a:ext cx="13442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Маркетинг и трафик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820" y="3246120"/>
            <a:ext cx="1344260" cy="2103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SEO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Контекст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SMM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Контент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1960" y="2377440"/>
            <a:ext cx="17100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4840" y="2651760"/>
            <a:ext cx="13442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Аналитика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4840" y="3246120"/>
            <a:ext cx="1344260" cy="2103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Brand Analytics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Calltouch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Яндекс.Метрика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Google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980" y="2377440"/>
            <a:ext cx="17100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04860" y="2651760"/>
            <a:ext cx="13442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>
                <a:solidFill>
                  <a:srgbClr val="2B7CE9"/>
                </a:solidFill>
                <a:latin typeface="Manrope"/>
              </a:rPr>
              <a:t>Управление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860" y="3246120"/>
            <a:ext cx="1344260" cy="2103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Менеджеры проектов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Директор по производству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Руководители отделов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" y="62179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>
                <a:solidFill>
                  <a:srgbClr val="7A7A85"/>
                </a:solidFill>
                <a:latin typeface="Inter"/>
              </a:rPr>
              <a:t>Сертификации: Яндекс · Google · 1С Битрикс · Brand Analytics · Calltouch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>
                <a:solidFill>
                  <a:srgbClr val="000000"/>
                </a:solidFill>
                <a:latin typeface="Manrope"/>
              </a:rPr>
              <a:t>Внешняя валидация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Точные формулировки из фирменной презентации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774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880" y="2377440"/>
            <a:ext cx="1866906" cy="1560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 dirty="0">
                <a:solidFill>
                  <a:srgbClr val="000000"/>
                </a:solidFill>
                <a:latin typeface="Inter"/>
              </a:rPr>
              <a:t>1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место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Рейтинг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Рунета —</a:t>
            </a:r>
          </a:p>
          <a:p>
            <a:r>
              <a:rPr sz="1200" b="0" dirty="0" err="1">
                <a:solidFill>
                  <a:srgbClr val="000000"/>
                </a:solidFill>
                <a:latin typeface="Inter"/>
              </a:rPr>
              <a:t>Веб-студии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для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медицинской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ниши</a:t>
            </a:r>
            <a:endParaRPr sz="1200" b="0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72666" y="23774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55546" y="2377440"/>
            <a:ext cx="1866906" cy="1560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 dirty="0" err="1">
                <a:solidFill>
                  <a:srgbClr val="000000"/>
                </a:solidFill>
                <a:latin typeface="Inter"/>
              </a:rPr>
              <a:t>Серебро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Tagline SMM 2024 —</a:t>
            </a:r>
          </a:p>
          <a:p>
            <a:r>
              <a:rPr sz="1200" b="0" dirty="0">
                <a:solidFill>
                  <a:srgbClr val="000000"/>
                </a:solidFill>
                <a:latin typeface="Inter"/>
              </a:rPr>
              <a:t>SMM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для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медицинской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тематики</a:t>
            </a:r>
            <a:endParaRPr sz="1200" b="0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85332" y="23774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68212" y="2377440"/>
            <a:ext cx="1866906" cy="1560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3 место Ruward 2025 —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Разработка сайта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0176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880" y="4017640"/>
            <a:ext cx="1866906" cy="1560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Золотой партнёр 1С Битрикс —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Автоматизируем бизнес на максимум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2666" y="40176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55546" y="4017640"/>
            <a:ext cx="1866906" cy="15602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Inter"/>
              </a:rPr>
              <a:t>Участник программы</a:t>
            </a:r>
          </a:p>
          <a:p>
            <a:r>
              <a:rPr sz="1200" b="0">
                <a:solidFill>
                  <a:srgbClr val="000000"/>
                </a:solidFill>
                <a:latin typeface="Inter"/>
              </a:rPr>
              <a:t>мониторинга качества 1С Битрикс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5332" y="4017640"/>
            <a:ext cx="2232666" cy="156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8212" y="4500546"/>
            <a:ext cx="1866906" cy="5943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200" b="0" dirty="0" err="1">
                <a:solidFill>
                  <a:srgbClr val="000000"/>
                </a:solidFill>
                <a:latin typeface="Inter"/>
              </a:rPr>
              <a:t>Сертифицированное</a:t>
            </a:r>
            <a:r>
              <a:rPr sz="1200" b="0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0" dirty="0" err="1">
                <a:solidFill>
                  <a:srgbClr val="000000"/>
                </a:solidFill>
                <a:latin typeface="Inter"/>
              </a:rPr>
              <a:t>агентство</a:t>
            </a:r>
            <a:endParaRPr sz="1200" b="0" dirty="0">
              <a:solidFill>
                <a:srgbClr val="000000"/>
              </a:solidFill>
              <a:latin typeface="Inter"/>
            </a:endParaRPr>
          </a:p>
          <a:p>
            <a:r>
              <a:rPr sz="1200" b="0" dirty="0" err="1">
                <a:solidFill>
                  <a:srgbClr val="000000"/>
                </a:solidFill>
                <a:latin typeface="Inter"/>
              </a:rPr>
              <a:t>Яндекса</a:t>
            </a:r>
            <a:endParaRPr sz="1200" b="0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92320" y="2377440"/>
            <a:ext cx="3939680" cy="32004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2320" y="2743200"/>
            <a:ext cx="3939680" cy="1828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0" b="1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2320" y="4572000"/>
            <a:ext cx="39396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довольных клиентов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2320" y="4937760"/>
            <a:ext cx="393968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>
                <a:solidFill>
                  <a:srgbClr val="DDE9FB"/>
                </a:solidFill>
                <a:latin typeface="Inter"/>
              </a:rPr>
              <a:t>NPS 100 (год) / 95 (общий период) — 1С Битрикс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🔥 Прокачаем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960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960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📈 Выведем в топ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44080" y="9144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44080" y="914400"/>
            <a:ext cx="1554480" cy="4114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Inter"/>
              </a:rPr>
              <a:t>💼 Увеличим прибыль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146304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Manrope"/>
              </a:rPr>
              <a:t>Получить план роста</a:t>
            </a:r>
          </a:p>
          <a:p>
            <a:r>
              <a:rPr sz="4800" b="1">
                <a:solidFill>
                  <a:srgbClr val="000000"/>
                </a:solidFill>
                <a:latin typeface="Manrope"/>
              </a:rPr>
              <a:t>для вашего сайта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310896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>
                <a:solidFill>
                  <a:srgbClr val="7A7A85"/>
                </a:solidFill>
                <a:latin typeface="Inter"/>
              </a:rPr>
              <a:t>Аудит за 3 рабочих дня. Считаем экономику, не давим продажей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023360"/>
            <a:ext cx="4572000" cy="109728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0000" y="4023360"/>
            <a:ext cx="4572000" cy="10972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nrope"/>
              </a:rPr>
              <a:t>ПОЛУЧИТЬ ПЛАН РОСТА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7760" y="3474720"/>
            <a:ext cx="6134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2080" y="3749040"/>
            <a:ext cx="5585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Inter"/>
              </a:rPr>
              <a:t>Email: hello@acoola.team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2080" y="4206240"/>
            <a:ext cx="5585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Inter"/>
              </a:rPr>
              <a:t>Телефон: +7 499 938-48-27 · 10:00–19:00 МСК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2080" y="4663440"/>
            <a:ext cx="5585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Inter"/>
              </a:rPr>
              <a:t>Адрес: Москва, Варшавское ш. 118к1 «ВаршавскаSky»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2080" y="5120640"/>
            <a:ext cx="55856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Inter"/>
              </a:rPr>
              <a:t>Сайт: acoola.team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>
                <a:solidFill>
                  <a:srgbClr val="7A7A85"/>
                </a:solidFill>
                <a:latin typeface="Inter"/>
              </a:rPr>
              <a:t>ACOOLA TEAM · digital-агентство полного цикла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2146</Words>
  <Application>Microsoft Macintosh PowerPoint</Application>
  <PresentationFormat>Широкоэкранный</PresentationFormat>
  <Paragraphs>455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Inter</vt:lpstr>
      <vt:lpstr>Manrope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Evgeny Shchemelev</cp:lastModifiedBy>
  <cp:revision>2</cp:revision>
  <dcterms:created xsi:type="dcterms:W3CDTF">2013-01-27T09:14:16Z</dcterms:created>
  <dcterms:modified xsi:type="dcterms:W3CDTF">2026-05-01T17:06:27Z</dcterms:modified>
  <cp:category/>
</cp:coreProperties>
</file>