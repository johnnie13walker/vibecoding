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7" r:id="rId19"/>
    <p:sldId id="274" r:id="rId20"/>
    <p:sldId id="275" r:id="rId21"/>
    <p:sldId id="276" r:id="rId22"/>
    <p:sldId id="278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5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 · МАРКЕТИНГ-КИТ ·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0000" y="2286000"/>
            <a:ext cx="7772400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6400" b="1" i="0">
                <a:solidFill>
                  <a:srgbClr val="7A7A85"/>
                </a:solidFill>
                <a:latin typeface="Manrope"/>
              </a:rPr>
              <a:t>Кто-то обещает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3108960"/>
            <a:ext cx="777240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0" b="1" i="0">
                <a:solidFill>
                  <a:srgbClr val="FFFFFF"/>
                </a:solidFill>
                <a:latin typeface="Manrope"/>
              </a:rPr>
              <a:t>топ-10.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4480560"/>
            <a:ext cx="7772400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0" b="1" i="0">
                <a:solidFill>
                  <a:srgbClr val="2B7CE9"/>
                </a:solidFill>
                <a:latin typeface="Manrope"/>
              </a:rPr>
              <a:t>Мы — нет.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377440"/>
            <a:ext cx="2945200" cy="2377440"/>
          </a:xfrm>
          <a:prstGeom prst="roundRect">
            <a:avLst>
              <a:gd name="adj" fmla="val 5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15400" y="2560320"/>
            <a:ext cx="2488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ПОДГОТОВЛЕНО ДЛЯ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0" y="2880360"/>
            <a:ext cx="2488000" cy="640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1">
                <a:solidFill>
                  <a:srgbClr val="FFFFFF"/>
                </a:solidFill>
                <a:latin typeface="Manrope"/>
              </a:rPr>
              <a:t>{COMPANY_NAME}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3566160"/>
            <a:ext cx="2488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1">
                <a:solidFill>
                  <a:srgbClr val="7A7A85"/>
                </a:solidFill>
                <a:latin typeface="Inter"/>
              </a:rPr>
              <a:t>Сайт: {DOMAIN}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3931920"/>
            <a:ext cx="2488000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1">
                <a:solidFill>
                  <a:srgbClr val="CCCCD0"/>
                </a:solidFill>
                <a:latin typeface="Inter"/>
              </a:rPr>
              <a:t>Видим {N} точки роста — расскажем на встрече.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4389120"/>
            <a:ext cx="2488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800" b="0" i="1">
                <a:solidFill>
                  <a:srgbClr val="7A7A85"/>
                </a:solidFill>
                <a:latin typeface="Inter"/>
              </a:rPr>
              <a:t>[ заменить на данные получателя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6309360"/>
            <a:ext cx="54864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ACOOLA.TEAM · digital-агентство полного цикла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74480" y="6309360"/>
            <a:ext cx="27432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100" b="0" i="1">
                <a:solidFill>
                  <a:srgbClr val="7A7A85"/>
                </a:solidFill>
                <a:latin typeface="Inter"/>
              </a:rPr>
              <a:t>→ дальше — почему именно так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Что сломалось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000000"/>
                </a:solidFill>
                <a:latin typeface="Manrope"/>
              </a:rPr>
              <a:t>В digital сломалась модель.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4320" y="3383280"/>
            <a:ext cx="3048693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 dirty="0" err="1">
                <a:solidFill>
                  <a:srgbClr val="000000"/>
                </a:solidFill>
                <a:latin typeface="Manrope"/>
              </a:rPr>
              <a:t>Подрядчиков</a:t>
            </a:r>
            <a:r>
              <a:rPr sz="1800" b="1" i="0" dirty="0">
                <a:solidFill>
                  <a:srgbClr val="000000"/>
                </a:solidFill>
                <a:latin typeface="Manrope"/>
              </a:rPr>
              <a:t> 5.</a:t>
            </a:r>
          </a:p>
          <a:p>
            <a:r>
              <a:rPr sz="1800" b="1" i="0" dirty="0" err="1">
                <a:solidFill>
                  <a:srgbClr val="000000"/>
                </a:solidFill>
                <a:latin typeface="Manrope"/>
              </a:rPr>
              <a:t>Ответственных</a:t>
            </a:r>
            <a:r>
              <a:rPr sz="1800" b="1" i="0" dirty="0">
                <a:solidFill>
                  <a:srgbClr val="000000"/>
                </a:solidFill>
                <a:latin typeface="Manrope"/>
              </a:rPr>
              <a:t> </a:t>
            </a:r>
            <a:r>
              <a:rPr sz="1800" b="1" i="0" dirty="0" err="1">
                <a:solidFill>
                  <a:srgbClr val="000000"/>
                </a:solidFill>
                <a:latin typeface="Manrope"/>
              </a:rPr>
              <a:t>за</a:t>
            </a:r>
            <a:r>
              <a:rPr sz="1800" b="1" i="0" dirty="0">
                <a:solidFill>
                  <a:srgbClr val="000000"/>
                </a:solidFill>
                <a:latin typeface="Manrope"/>
              </a:rPr>
              <a:t> </a:t>
            </a:r>
            <a:r>
              <a:rPr sz="1800" b="1" i="0" dirty="0" err="1">
                <a:solidFill>
                  <a:srgbClr val="000000"/>
                </a:solidFill>
                <a:latin typeface="Manrope"/>
              </a:rPr>
              <a:t>результат</a:t>
            </a:r>
            <a:r>
              <a:rPr sz="1800" b="1" i="0" dirty="0">
                <a:solidFill>
                  <a:srgbClr val="000000"/>
                </a:solidFill>
                <a:latin typeface="Manrope"/>
              </a:rPr>
              <a:t> —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4320" y="4846320"/>
            <a:ext cx="3048693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Дизайн делает один. Разработка — другой. SEO — третий. Через год никто не помнит, кто что обещал.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333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1653" y="3383280"/>
            <a:ext cx="3048693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Метрика — позиции в выдаче.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Финдиректору показать нечего.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653" y="4846320"/>
            <a:ext cx="3048693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Топ-10 — это слайд для презентации. Выручка — это разговор с собственником.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4666" y="3017520"/>
            <a:ext cx="3597333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08986" y="3383280"/>
            <a:ext cx="3048693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000000"/>
                </a:solidFill>
                <a:latin typeface="Manrope"/>
              </a:rPr>
              <a:t>Релиз — финал работы.</a:t>
            </a:r>
          </a:p>
          <a:p>
            <a:r>
              <a:rPr sz="1800" b="1" i="0">
                <a:solidFill>
                  <a:srgbClr val="000000"/>
                </a:solidFill>
                <a:latin typeface="Manrope"/>
              </a:rPr>
              <a:t>Через год сайт устарел.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8986" y="4846320"/>
            <a:ext cx="3048693" cy="11887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7A7A85"/>
                </a:solidFill>
                <a:latin typeface="Inter"/>
              </a:rPr>
              <a:t>Сайт-актив требует ведения, а не «сдачи под ключ» с архивацией доступов.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Inter"/>
              </a:rPr>
              <a:t>Манифест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55448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делаем сайты.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05740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превращаем сайт в актив.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считаем клики.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24612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считаем обращения.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393192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уходим после релиза.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443484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остаёмся 3,5+ года.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12064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400" b="0" i="0">
                <a:solidFill>
                  <a:srgbClr val="7A7A85"/>
                </a:solidFill>
                <a:latin typeface="Manrope"/>
              </a:rPr>
              <a:t>Мы не пять разных подрядчиков.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5623560"/>
            <a:ext cx="11072000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000000"/>
                </a:solidFill>
                <a:latin typeface="Manrope"/>
              </a:rPr>
              <a:t>Мы — одна команда на 6 направлений.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29260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32000" b="1" i="0">
                <a:solidFill>
                  <a:srgbClr val="2B7CE9"/>
                </a:solidFill>
                <a:latin typeface="Manrope"/>
              </a:rPr>
              <a:t>3,5+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42062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Manrope"/>
              </a:rPr>
              <a:t>лет — средний срок сотрудничества с клиентом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493776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В digital это в 2,5–3 раза дольше отраслевой нормы.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548640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Клиенты остаются. Это и есть результат.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Чего мы не возьмёмся делать.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74320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640" y="274320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Накручивать позиции в Яндексе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24612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8640" y="324612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Запускать рекламу без аналитики на сайте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374904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8640" y="374904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Делать дизайн «как у конкурента»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425196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640" y="425196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Обещать топ-10 «к Новому году»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0000" y="475488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8640" y="475488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Заходить в SEO там, где сайт нужно переделать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000" y="5257800"/>
            <a:ext cx="4572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200" b="1" i="0">
                <a:solidFill>
                  <a:srgbClr val="2B7CE9"/>
                </a:solidFill>
                <a:latin typeface="Manrope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8640" y="5257800"/>
            <a:ext cx="1052336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000" b="0" i="0">
                <a:solidFill>
                  <a:srgbClr val="FFFFFF"/>
                </a:solidFill>
                <a:latin typeface="Inter"/>
              </a:rPr>
              <a:t>Учиться GEO на вашем проекте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Отказ — это форма уважения. И к клиенту, и к команде.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06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Наша 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Где мы слабые.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37744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 i="1">
                <a:solidFill>
                  <a:srgbClr val="7A7A85"/>
                </a:solidFill>
                <a:latin typeface="Inter"/>
              </a:rPr>
              <a:t>Чтобы вы знали заранее, а не на третьем месяце.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310896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040" y="338328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ML / Data Science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40" y="3977640"/>
            <a:ext cx="4825920" cy="34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У нас нет такой команды. Для AI-продуктов работаем в партнёрстве с [TODO: имя партнёра].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6000" y="310896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6040" y="338328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Мобильная разработка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040" y="3977640"/>
            <a:ext cx="4825920" cy="34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Не делаем приложения для iOS/Android. Только web и веб-сервисы.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68772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0040" y="496204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Маленькие бюджеты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040" y="5556400"/>
            <a:ext cx="4825920" cy="3414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CCCCD0"/>
                </a:solidFill>
                <a:latin typeface="Inter"/>
              </a:rPr>
              <a:t>Мы дороже фрилансера. Если бюджет на маркетинг до 150 000 ₽/мес — мы не подходим, и это нормально.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6000" y="4687720"/>
            <a:ext cx="5466000" cy="14387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86040" y="4962040"/>
            <a:ext cx="48259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Ниши не наши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000" y="63093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7A7A85"/>
                </a:solidFill>
                <a:latin typeface="Inter"/>
              </a:rPr>
              <a:t>Это часть честного разговора. Полный список — на встрече.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07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РАЗРАБОТКА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TEO by COSMOSCOW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Онлайн-маркетплейс искусства · разработка платформы · 2022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2022 год.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COSMOSCOW — крупнейшая международная ярмарка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современного искусства в России.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Задача: создать онлайн-платформу TEO,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которая напрямую связывает авторов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работ и покупателей.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Разработали маркетплейс с нуля: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от UX до интеграций, под нагрузку аукциона.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783760" y="2743200"/>
            <a:ext cx="3848240" cy="373075"/>
          </a:xfrm>
          <a:prstGeom prst="roundRect">
            <a:avLst>
              <a:gd name="adj" fmla="val 4000"/>
            </a:avLst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88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E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2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63760" y="2889737"/>
            <a:ext cx="80000" cy="80000"/>
          </a:xfrm>
          <a:prstGeom prst="roundRect">
            <a:avLst>
              <a:gd name="adj" fmla="val 50000"/>
            </a:avLst>
          </a:prstGeom>
          <a:solidFill>
            <a:srgbClr val="4A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83760" y="2743200"/>
            <a:ext cx="3048240" cy="37307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" b="0" i="0">
                <a:solidFill>
                  <a:srgbClr val="7A7A85"/>
                </a:solidFill>
                <a:latin typeface="Inter"/>
              </a:rPr>
              <a:t>teo.cosmoscow.com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3760" y="3116275"/>
            <a:ext cx="3848240" cy="2735885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0" i="0">
                <a:solidFill>
                  <a:srgbClr val="7A7A85"/>
                </a:solidFill>
                <a:latin typeface="Inter"/>
              </a:rPr>
              <a:t>[ СКРИНШОТ TEO ]</a:t>
            </a:r>
          </a:p>
          <a:p>
            <a:pPr algn="ctr"/>
            <a:r>
              <a:rPr sz="1200" b="0" i="0">
                <a:solidFill>
                  <a:srgbClr val="7A7A85"/>
                </a:solidFill>
                <a:latin typeface="Inter"/>
              </a:rPr>
              <a:t>дизайнер: подставить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Онлайн-платформа · авторы ↔ покупатели · нагрузка под аукцион · acoola.team/projects/teo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08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SEO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wwerb.com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Часовой магазин · SEO · 2 года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Март 2020.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Лид в категории «премиальные часы» стоит 18 400 ₽.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Это потолок маржи — реклама убыточна.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Взялись за SEO с фокусом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на органику и торговую матрицу.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Через два года лид — 582 ₽.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Органика +223%. Через сайт прошло 164+ млн ₽ выручки.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33760" y="2863200"/>
            <a:ext cx="354824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1" i="0">
                <a:solidFill>
                  <a:srgbClr val="7A7A85"/>
                </a:solidFill>
                <a:latin typeface="Inter"/>
              </a:rPr>
              <a:t>Органика · рост за 2 года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3760" y="5352160"/>
            <a:ext cx="3288240" cy="8000"/>
          </a:xfrm>
          <a:prstGeom prst="rect">
            <a:avLst/>
          </a:prstGeom>
          <a:solidFill>
            <a:srgbClr val="555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33760" y="521671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112051" y="518658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190342" y="515645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268634" y="51263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46925" y="50962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25217" y="506607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03508" y="50359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581800" y="50058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660091" y="497568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738382" y="494556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816674" y="491543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894965" y="488530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973257" y="48551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051548" y="482504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129840" y="479492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129840" y="479492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208131" y="47497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286422" y="470453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364714" y="46593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443005" y="461415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521297" y="456896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9599588" y="452376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9677880" y="44785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756171" y="443338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9834462" y="438819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912754" y="43430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991045" y="429780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10069337" y="42526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0147628" y="420742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10225920" y="4162231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0225920" y="4162231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304211" y="409444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0382502" y="402665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10460794" y="395886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10539085" y="389108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10617377" y="382329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10695668" y="375550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773960" y="368771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852251" y="361992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930542" y="355214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1008834" y="3484352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1087125" y="3416564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1165417" y="3348776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1243708" y="3280988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11322000" y="3213200"/>
            <a:ext cx="60000" cy="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7953760" y="5136712"/>
            <a:ext cx="220000" cy="2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013760" y="5196712"/>
            <a:ext cx="100000" cy="1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9069840" y="4734920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10165920" y="4102231"/>
            <a:ext cx="180000" cy="18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11242000" y="3133200"/>
            <a:ext cx="220000" cy="2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11302000" y="3193200"/>
            <a:ext cx="100000" cy="10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263760" y="4866712"/>
            <a:ext cx="160000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anrope"/>
              </a:rPr>
              <a:t>2 757 визитов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52000" y="3423200"/>
            <a:ext cx="160000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6 548 · +223%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400" b="1" i="0">
                <a:solidFill>
                  <a:srgbClr val="2B7CE9"/>
                </a:solidFill>
                <a:latin typeface="Manrope"/>
              </a:rPr>
              <a:t>18 400 ₽  →  582 ₽   ·   органика +223%   ·   164+ млн ₽ выручки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09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КОНТЕКСТ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Manrope"/>
              </a:rPr>
              <a:t>Kenner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Производство мебели · Яндекс.Директ + аналитика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Старт работ.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Производитель мебели заходит в digital.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Цель — прямые продажи через интернет-магазин,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не через дилеров.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Связали контекстную рекламу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с аналитикой и воронкой сайта: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оптимизация не по CPL, а по ROI кампании.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ROI 140%. CPL 1 374 ₽ за добавление в корзину,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4 067 ₽ за оформленную продажу.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3760" y="301752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ROI ПРОЕКТА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83760" y="3474720"/>
            <a:ext cx="3848240" cy="1463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3200" b="1" i="0">
                <a:solidFill>
                  <a:srgbClr val="FFFFFF"/>
                </a:solidFill>
                <a:latin typeface="Manrope"/>
              </a:rPr>
              <a:t>140%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3760" y="498348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CPL 1 374 ₽ (корзина)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3760" y="534924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CPL 4 067 ₽ (продажа)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ROI 140%   ·   CPL 1 374 ₽ / 4 067 ₽   ·   Яндекс.Директ + аналитика   ·   acoola.team/projects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10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УПРАВЛЕНИЕ РЕПУТАЦИЕЙ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600" b="1" i="0">
                <a:solidFill>
                  <a:srgbClr val="FFFFFF"/>
                </a:solidFill>
                <a:latin typeface="Manrope"/>
              </a:rPr>
              <a:t>Крупный бренд охранных систем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Безопасность · работа с репутацией на 30+ площадках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Точка входа.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52044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В выдаче по бренду — массив негативных отзывов.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Конкуренты вытесняют из карточек 2ГИС, Яндекс.Карт.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Доверие падает.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429768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FFFFFF"/>
                </a:solidFill>
                <a:latin typeface="Inter"/>
              </a:rPr>
              <a:t>Запустили систему: регламент работы с отзывами,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карта присутствия, мониторинг через Brand Analytics,</a:t>
            </a:r>
          </a:p>
          <a:p>
            <a:r>
              <a:rPr sz="1600" b="0" i="0">
                <a:solidFill>
                  <a:srgbClr val="FFFFFF"/>
                </a:solidFill>
                <a:latin typeface="Inter"/>
              </a:rPr>
              <a:t>ежемесячные отчёты по динамике.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5074920"/>
            <a:ext cx="6858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anrope"/>
              </a:rPr>
              <a:t>Доля негатива упала с 29% до 7%.</a:t>
            </a:r>
          </a:p>
          <a:p>
            <a:r>
              <a:rPr sz="2200" b="1" i="0">
                <a:solidFill>
                  <a:srgbClr val="FFFFFF"/>
                </a:solidFill>
                <a:latin typeface="Manrope"/>
              </a:rPr>
              <a:t>Средний рейтинг бренда — 4,07 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83760" y="2743200"/>
            <a:ext cx="3848240" cy="3108960"/>
          </a:xfrm>
          <a:prstGeom prst="roundRect">
            <a:avLst>
              <a:gd name="adj" fmla="val 5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83760" y="2971800"/>
            <a:ext cx="3848240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1" i="0">
                <a:solidFill>
                  <a:srgbClr val="7A7A85"/>
                </a:solidFill>
                <a:latin typeface="Inter"/>
              </a:rPr>
              <a:t>ДОЛЯ НЕГАТИВА В ВЫДАЧЕ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66640" y="3383280"/>
            <a:ext cx="1097280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БЫЛО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6640" y="3657600"/>
            <a:ext cx="2385200" cy="994867"/>
          </a:xfrm>
          <a:prstGeom prst="roundRect">
            <a:avLst>
              <a:gd name="adj" fmla="val 10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17600" y="3566160"/>
            <a:ext cx="731520" cy="1177747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800" b="1" i="0">
                <a:solidFill>
                  <a:srgbClr val="FFFFFF"/>
                </a:solidFill>
                <a:latin typeface="Manrope"/>
              </a:rPr>
              <a:t>29%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66640" y="4835347"/>
            <a:ext cx="1097280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СТАЛО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6640" y="5109667"/>
            <a:ext cx="572448" cy="994867"/>
          </a:xfrm>
          <a:prstGeom prst="roundRect">
            <a:avLst>
              <a:gd name="adj" fmla="val 1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76248" y="5018227"/>
            <a:ext cx="914400" cy="1177747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Manrope"/>
              </a:rPr>
              <a:t>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3760" y="5440680"/>
            <a:ext cx="38482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2B7CE9"/>
                </a:solidFill>
                <a:latin typeface="Manrope"/>
              </a:rPr>
              <a:t>Средний рейтинг бренда — 4,07 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0000" y="6035040"/>
            <a:ext cx="11072000" cy="548640"/>
          </a:xfrm>
          <a:prstGeom prst="roundRect">
            <a:avLst>
              <a:gd name="adj" fmla="val 10000"/>
            </a:avLst>
          </a:prstGeom>
          <a:solidFill>
            <a:srgbClr val="3333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0000" y="603504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300" b="1" i="0">
                <a:solidFill>
                  <a:srgbClr val="2B7CE9"/>
                </a:solidFill>
                <a:latin typeface="Manrope"/>
              </a:rPr>
              <a:t>Негатив 29% → 7%   ·   рейтинг 4,07 ★   ·   30+ площадок мониторинга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11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Кейс · ПРОВАЛ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E06A6A"/>
                </a:solidFill>
                <a:latin typeface="Manrope"/>
              </a:rPr>
              <a:t>КЕЙС, КОТОРЫЙ НЕ ПОЛУЧИЛСЯ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783080"/>
            <a:ext cx="11072000" cy="7315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nrope"/>
              </a:rPr>
              <a:t>Когда мы расстались первыми.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60604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1">
                <a:solidFill>
                  <a:srgbClr val="7A7A85"/>
                </a:solidFill>
                <a:latin typeface="Inter"/>
              </a:rPr>
              <a:t>Интернет-магазин стройматериалов · SEO + контекст · 7 месяцев [TODO: реальный кейс]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000" y="315468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2022 год.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000" y="379476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Inter"/>
              </a:rPr>
              <a:t>Зашли в проект на договоре 6 месяцев.</a:t>
            </a:r>
          </a:p>
          <a:p>
            <a:r>
              <a:rPr sz="1700" b="0" i="0">
                <a:solidFill>
                  <a:srgbClr val="FFFFFF"/>
                </a:solidFill>
                <a:latin typeface="Inter"/>
              </a:rPr>
              <a:t>SEO + контекст. Цели — рост обращений на 40%.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" y="443484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0">
                <a:solidFill>
                  <a:srgbClr val="CCCCD0"/>
                </a:solidFill>
                <a:latin typeface="Inter"/>
              </a:rPr>
              <a:t>За полгода выросли позиции, но обращений почти нет.</a:t>
            </a:r>
          </a:p>
          <a:p>
            <a:r>
              <a:rPr sz="1600" b="0" i="0">
                <a:solidFill>
                  <a:srgbClr val="CCCCD0"/>
                </a:solidFill>
                <a:latin typeface="Inter"/>
              </a:rPr>
              <a:t>Проблема — в сайте: устаревшая структура, сломанная воронка,</a:t>
            </a:r>
          </a:p>
          <a:p>
            <a:r>
              <a:rPr sz="1600" b="0" i="0">
                <a:solidFill>
                  <a:srgbClr val="CCCCD0"/>
                </a:solidFill>
                <a:latin typeface="Inter"/>
              </a:rPr>
              <a:t>мобильная версия не работает. Клиент не был готов трогать сайт.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0000" y="507492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Расстались по нашей инициативе на 7-м месяце.</a:t>
            </a:r>
          </a:p>
          <a:p>
            <a:r>
              <a:rPr sz="1800" b="1" i="0">
                <a:solidFill>
                  <a:srgbClr val="FFFFFF"/>
                </a:solidFill>
                <a:latin typeface="Manrope"/>
              </a:rPr>
              <a:t>Вернули нерасходованную часть бюджета.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000" y="5715000"/>
            <a:ext cx="11072000" cy="8686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1" i="0">
                <a:solidFill>
                  <a:srgbClr val="2B7CE9"/>
                </a:solidFill>
                <a:latin typeface="Inter"/>
              </a:rPr>
              <a:t>Что поняли: SEO не работает там, где сайт нужно переделать.</a:t>
            </a:r>
          </a:p>
          <a:p>
            <a:r>
              <a:rPr sz="1600" b="1" i="0">
                <a:solidFill>
                  <a:srgbClr val="2B7CE9"/>
                </a:solidFill>
                <a:latin typeface="Inter"/>
              </a:rPr>
              <a:t>С тех пор это в нашем стоп-листе — слайд 8.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0000" y="62179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1">
                <a:solidFill>
                  <a:srgbClr val="7A7A85"/>
                </a:solidFill>
                <a:latin typeface="Inter"/>
              </a:rPr>
              <a:t>[ЧЕРНОВИК — заменить на реальную историю от заказчика]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12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Клиенты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34440"/>
            <a:ext cx="11072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Manrope"/>
              </a:rPr>
              <a:t>Наши клиенты.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1">
                <a:solidFill>
                  <a:srgbClr val="CCCCD0"/>
                </a:solidFill>
                <a:latin typeface="Inter"/>
              </a:rPr>
              <a:t>70+ проектов в работе ежемесячно. Tier-1 клиенты с длинной дистанцией — средний срок 3,5+ года.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834640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Финансы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640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68800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БыстроБанк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7672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7712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4872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Трансстройбанк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83744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3784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20944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NZT Rusfond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59816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9856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97016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PROFIT CONF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5888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35928" y="2834640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73088" y="2834640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НПФ «Будущее»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11960" y="2880360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000" y="3554728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Недвижимость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640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68800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Главстрой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07672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07712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4872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DOGMA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83744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83784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20944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Запстрой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9816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9856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97016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Pioneer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35888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35928" y="3554728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973088" y="3554728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Prime Park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11960" y="3600448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0000" y="4274816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Промышленность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31640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468800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HOHMAN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07672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07712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344872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Robomaster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83744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83784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20944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РУСЭЛ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9816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59856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97016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Yarus Networks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35888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35928" y="4274816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973088" y="4274816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Эксара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11960" y="4320536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0000" y="4994904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E-commerce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31640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468800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J.Prettier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07672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07712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344872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Титан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83744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083784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20944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MARKIN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559816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959856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97016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Coolstream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35888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835928" y="4994904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9973088" y="4994904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Latrika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311960" y="5040624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0000" y="5714992"/>
            <a:ext cx="1691640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7A7A85"/>
                </a:solidFill>
                <a:latin typeface="Manrope"/>
              </a:rPr>
              <a:t>IT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331640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468800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DIS Group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807672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07712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4344872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NGENIX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683744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083784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6220944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textback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59816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959856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097016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SBER API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435888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9835928" y="5714992"/>
            <a:ext cx="1796072" cy="640088"/>
          </a:xfrm>
          <a:prstGeom prst="roundRect">
            <a:avLst>
              <a:gd name="adj" fmla="val 4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973088" y="5714992"/>
            <a:ext cx="1384592" cy="64008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SBER DEVICES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1311960" y="5760712"/>
            <a:ext cx="274320" cy="2743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100" b="0" i="0">
                <a:solidFill>
                  <a:srgbClr val="7A7A85"/>
                </a:solidFill>
                <a:latin typeface="Inter"/>
              </a:rPr>
              <a:t>↗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0000" y="6492240"/>
            <a:ext cx="11072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1">
                <a:solidFill>
                  <a:srgbClr val="7A7A85"/>
                </a:solidFill>
                <a:latin typeface="Inter"/>
              </a:rPr>
              <a:t>Дизайнер: вместо текстовых имён — фирменные логотипы клиентов в монохромном виде.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13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Команда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 dirty="0" err="1">
                <a:solidFill>
                  <a:srgbClr val="000000"/>
                </a:solidFill>
                <a:latin typeface="Manrope"/>
              </a:rPr>
              <a:t>Не</a:t>
            </a:r>
            <a:r>
              <a:rPr sz="3800" b="1" i="0" dirty="0">
                <a:solidFill>
                  <a:srgbClr val="000000"/>
                </a:solidFill>
                <a:latin typeface="Manrope"/>
              </a:rPr>
              <a:t> «</a:t>
            </a:r>
            <a:r>
              <a:rPr sz="3800" b="1" i="0" dirty="0" err="1">
                <a:solidFill>
                  <a:srgbClr val="000000"/>
                </a:solidFill>
                <a:latin typeface="Manrope"/>
              </a:rPr>
              <a:t>команда</a:t>
            </a:r>
            <a:r>
              <a:rPr sz="3800" b="1" i="0" dirty="0">
                <a:solidFill>
                  <a:srgbClr val="000000"/>
                </a:solidFill>
                <a:latin typeface="Manrope"/>
              </a:rPr>
              <a:t> </a:t>
            </a:r>
            <a:r>
              <a:rPr sz="3800" b="1" i="0" dirty="0" err="1">
                <a:solidFill>
                  <a:srgbClr val="000000"/>
                </a:solidFill>
                <a:latin typeface="Manrope"/>
              </a:rPr>
              <a:t>мечты</a:t>
            </a:r>
            <a:r>
              <a:rPr sz="3800" b="1" i="0" dirty="0">
                <a:solidFill>
                  <a:srgbClr val="000000"/>
                </a:solidFill>
                <a:latin typeface="Manrope"/>
              </a:rPr>
              <a:t> </a:t>
            </a:r>
            <a:r>
              <a:rPr sz="3800" b="1" i="0" dirty="0" err="1">
                <a:solidFill>
                  <a:srgbClr val="000000"/>
                </a:solidFill>
                <a:latin typeface="Manrope"/>
              </a:rPr>
              <a:t>с</a:t>
            </a:r>
            <a:r>
              <a:rPr sz="3800" b="1" i="0" dirty="0">
                <a:solidFill>
                  <a:srgbClr val="000000"/>
                </a:solidFill>
                <a:latin typeface="Manrope"/>
              </a:rPr>
              <a:t> </a:t>
            </a:r>
            <a:r>
              <a:rPr sz="3800" b="1" i="0" dirty="0" err="1">
                <a:solidFill>
                  <a:srgbClr val="000000"/>
                </a:solidFill>
                <a:latin typeface="Manrope"/>
              </a:rPr>
              <a:t>лендинга</a:t>
            </a:r>
            <a:r>
              <a:rPr sz="3800" b="1" i="0" dirty="0">
                <a:solidFill>
                  <a:srgbClr val="000000"/>
                </a:solidFill>
                <a:latin typeface="Manrope"/>
              </a:rPr>
              <a:t>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А конкретные люди, которые знают ваш проект — и которых вы узнаёте по именам со 2-го месяца.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788920"/>
            <a:ext cx="356874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2788920"/>
            <a:ext cx="60000" cy="164592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0040" y="2953512"/>
            <a:ext cx="292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800" b="1" i="0">
                <a:solidFill>
                  <a:srgbClr val="2B7CE9"/>
                </a:solidFill>
                <a:latin typeface="Manrope"/>
              </a:rPr>
              <a:t>50+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40" y="3776472"/>
            <a:ext cx="292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digital-специалистов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40" y="4114800"/>
            <a:ext cx="2928666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В 6 направлениях работ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1626" y="2788920"/>
            <a:ext cx="356874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1626" y="2788920"/>
            <a:ext cx="60000" cy="164592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1666" y="2953512"/>
            <a:ext cx="292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800" b="1" i="0">
                <a:solidFill>
                  <a:srgbClr val="2B7CE9"/>
                </a:solidFill>
                <a:latin typeface="Manrope"/>
              </a:rPr>
              <a:t>3,5+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1666" y="3776472"/>
            <a:ext cx="292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года средний срок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1666" y="4114800"/>
            <a:ext cx="2928666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Командой со своими проектами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3252" y="2788920"/>
            <a:ext cx="3568746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63252" y="2788920"/>
            <a:ext cx="60000" cy="164592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83292" y="2953512"/>
            <a:ext cx="292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800" b="1" i="0">
                <a:solidFill>
                  <a:srgbClr val="2B7CE9"/>
                </a:solidFill>
                <a:latin typeface="Manrope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3292" y="3776472"/>
            <a:ext cx="292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платформы сертификации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3292" y="4114800"/>
            <a:ext cx="2928666" cy="194279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 dirty="0">
                <a:solidFill>
                  <a:srgbClr val="7A7A85"/>
                </a:solidFill>
                <a:latin typeface="Inter"/>
              </a:rPr>
              <a:t>· </a:t>
            </a:r>
            <a:r>
              <a:rPr sz="1000" b="0" i="0" dirty="0" err="1">
                <a:solidFill>
                  <a:srgbClr val="7A7A85"/>
                </a:solidFill>
                <a:latin typeface="Inter"/>
              </a:rPr>
              <a:t>Яндекс</a:t>
            </a:r>
            <a:r>
              <a:rPr sz="1000" b="0" i="0" dirty="0">
                <a:solidFill>
                  <a:srgbClr val="7A7A85"/>
                </a:solidFill>
                <a:latin typeface="Inter"/>
              </a:rPr>
              <a:t> · 1С </a:t>
            </a:r>
            <a:r>
              <a:rPr sz="1000" b="0" i="0" dirty="0" err="1">
                <a:solidFill>
                  <a:srgbClr val="7A7A85"/>
                </a:solidFill>
                <a:latin typeface="Inter"/>
              </a:rPr>
              <a:t>Битрикс</a:t>
            </a:r>
            <a:r>
              <a:rPr sz="1000" b="0" i="0" dirty="0">
                <a:solidFill>
                  <a:srgbClr val="7A7A85"/>
                </a:solidFill>
                <a:latin typeface="Inter"/>
              </a:rPr>
              <a:t> · Brand Analytics</a:t>
            </a:r>
            <a:r>
              <a:rPr lang="ru-RU" sz="1000" b="0" i="0" dirty="0">
                <a:solidFill>
                  <a:srgbClr val="7A7A85"/>
                </a:solidFill>
                <a:latin typeface="Inter"/>
              </a:rPr>
              <a:t> </a:t>
            </a:r>
            <a:r>
              <a:rPr lang="en-US" sz="1000" dirty="0">
                <a:solidFill>
                  <a:srgbClr val="7A7A85"/>
                </a:solidFill>
                <a:latin typeface="Inter"/>
              </a:rPr>
              <a:t>- </a:t>
            </a:r>
            <a:r>
              <a:rPr lang="en-US" sz="1000" dirty="0" err="1">
                <a:solidFill>
                  <a:srgbClr val="7A7A85"/>
                </a:solidFill>
                <a:latin typeface="Inter"/>
              </a:rPr>
              <a:t>Calltouch</a:t>
            </a:r>
            <a:endParaRPr sz="1000" b="0" i="0" dirty="0">
              <a:solidFill>
                <a:srgbClr val="7A7A85"/>
              </a:solidFill>
              <a:latin typeface="Inte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0000" y="4709160"/>
            <a:ext cx="1107200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5760" y="4937760"/>
            <a:ext cx="10340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КТО РАБОТАЕТ НАД ВАШИМ ПРОЕКТОМ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5760" y="5486400"/>
            <a:ext cx="120000" cy="1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00080" y="539496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Менеджер проекта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0080" y="58064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Постоянный контакт. Знает план, статусы, метрики.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4506" y="5486400"/>
            <a:ext cx="120000" cy="1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68826" y="539496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Технический лид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8826" y="58064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Отвечает за качество. Еженедельные созвоны.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3252" y="5486400"/>
            <a:ext cx="120000" cy="12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37572" y="539496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Профильные специалисты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7572" y="58064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Разработка, SEO, контекст, ORM — по задачам проекта.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00" y="6492240"/>
            <a:ext cx="11072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1">
                <a:solidFill>
                  <a:srgbClr val="2B7CE9"/>
                </a:solidFill>
                <a:latin typeface="Inter"/>
              </a:rPr>
              <a:t>Не один менеджер на 50 клиентов. Постоянная команда на каждый проект.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14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География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 i="0">
                <a:solidFill>
                  <a:srgbClr val="000000"/>
                </a:solidFill>
                <a:latin typeface="Manrope"/>
              </a:rPr>
              <a:t>Не одна Москва. Не один Яндекс.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600" b="0" i="1">
                <a:solidFill>
                  <a:srgbClr val="7A7A85"/>
                </a:solidFill>
                <a:latin typeface="Inter"/>
              </a:rPr>
              <a:t>Работаем там, где работают ваши клиенты — в 6 странах.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834640"/>
            <a:ext cx="4496620" cy="97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8600" y="2999232"/>
            <a:ext cx="40394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2B7CE9"/>
                </a:solidFill>
                <a:latin typeface="Manrope"/>
              </a:rPr>
              <a:t>Локализация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600" y="3429000"/>
            <a:ext cx="4039420" cy="167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Контент на языках местных рынков, не дословный перевод.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3870960"/>
            <a:ext cx="4496620" cy="97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8600" y="4035552"/>
            <a:ext cx="40394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2B7CE9"/>
                </a:solidFill>
                <a:latin typeface="Manrope"/>
              </a:rPr>
              <a:t>Местные поисковые системы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8600" y="4465320"/>
            <a:ext cx="4039420" cy="167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Не только Яндекс — Google, локальные поисковики и каталоги под каждый рынок.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000" y="4907280"/>
            <a:ext cx="4496620" cy="97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8600" y="5071872"/>
            <a:ext cx="403942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2B7CE9"/>
                </a:solidFill>
                <a:latin typeface="Manrope"/>
              </a:rPr>
              <a:t>Культура и регулятор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600" y="5501640"/>
            <a:ext cx="4039420" cy="167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Кейсы в разных правовых, культурных и налоговых средах. Адаптируем подачу.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22380" y="2834640"/>
            <a:ext cx="620962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42420" y="3108960"/>
            <a:ext cx="146304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0" b="1" i="0">
                <a:solidFill>
                  <a:srgbClr val="2B7CE9"/>
                </a:solidFill>
                <a:latin typeface="Manrope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60" y="3337560"/>
            <a:ext cx="4380820" cy="5486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стран присутствия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60" y="3749040"/>
            <a:ext cx="438082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70+ проектов ежемесячно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96700" y="457200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16700" y="4592000"/>
            <a:ext cx="588997" cy="237752"/>
          </a:xfrm>
          <a:prstGeom prst="roundRect">
            <a:avLst>
              <a:gd name="adj" fmla="val 5000"/>
            </a:avLst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5697" y="4592000"/>
            <a:ext cx="588997" cy="237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94694" y="4592000"/>
            <a:ext cx="588999" cy="237752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96700" y="489975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Италия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23693" y="457200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43693" y="4592000"/>
            <a:ext cx="1766993" cy="7925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643693" y="4671250"/>
            <a:ext cx="1766993" cy="79250"/>
          </a:xfrm>
          <a:prstGeom prst="rect">
            <a:avLst/>
          </a:prstGeom>
          <a:solidFill>
            <a:srgbClr val="0039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7643693" y="4750500"/>
            <a:ext cx="1766993" cy="79252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23693" y="489975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Россия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50686" y="457200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70686" y="4592000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70686" y="4625964"/>
            <a:ext cx="1766993" cy="339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70686" y="4659928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570686" y="4693892"/>
            <a:ext cx="1766993" cy="339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9570686" y="4727856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70686" y="4761820"/>
            <a:ext cx="1766993" cy="339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570686" y="4795784"/>
            <a:ext cx="1766993" cy="33964"/>
          </a:xfrm>
          <a:prstGeom prst="rect">
            <a:avLst/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570686" y="4592000"/>
            <a:ext cx="706797" cy="135856"/>
          </a:xfrm>
          <a:prstGeom prst="rect">
            <a:avLst/>
          </a:prstGeom>
          <a:solidFill>
            <a:srgbClr val="3C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9620686" y="4632000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797385" y="4632000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974084" y="4632000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20686" y="4677285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9797385" y="4677285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9974084" y="4677285"/>
            <a:ext cx="40000" cy="4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50686" y="489975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США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96700" y="511492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5716700" y="5134920"/>
            <a:ext cx="1766993" cy="158501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716700" y="5293421"/>
            <a:ext cx="1766993" cy="79251"/>
          </a:xfrm>
          <a:prstGeom prst="roundRect">
            <a:avLst>
              <a:gd name="adj" fmla="val 5000"/>
            </a:avLst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716700" y="5134920"/>
            <a:ext cx="40000" cy="2377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96700" y="544267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Беларусь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623693" y="511492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7643693" y="5134920"/>
            <a:ext cx="1766993" cy="237752"/>
          </a:xfrm>
          <a:prstGeom prst="roundRect">
            <a:avLst>
              <a:gd name="adj" fmla="val 5000"/>
            </a:avLst>
          </a:prstGeom>
          <a:solidFill>
            <a:srgbClr val="00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474356" y="5200962"/>
            <a:ext cx="105667" cy="105667"/>
          </a:xfrm>
          <a:prstGeom prst="roundRect">
            <a:avLst>
              <a:gd name="adj" fmla="val 50000"/>
            </a:avLst>
          </a:prstGeom>
          <a:solidFill>
            <a:srgbClr val="FED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623693" y="544267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Казахстан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550686" y="5114920"/>
            <a:ext cx="1806993" cy="2777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6350">
            <a:solidFill>
              <a:srgbClr val="D0D0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9570686" y="5134920"/>
            <a:ext cx="441748" cy="237752"/>
          </a:xfrm>
          <a:prstGeom prst="roundRect">
            <a:avLst>
              <a:gd name="adj" fmla="val 5000"/>
            </a:avLst>
          </a:prstGeom>
          <a:solidFill>
            <a:srgbClr val="CE2B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10012434" y="5134920"/>
            <a:ext cx="1325245" cy="79250"/>
          </a:xfrm>
          <a:prstGeom prst="roundRect">
            <a:avLst>
              <a:gd name="adj" fmla="val 5000"/>
            </a:avLst>
          </a:prstGeom>
          <a:solidFill>
            <a:srgbClr val="009A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012434" y="5214170"/>
            <a:ext cx="1325245" cy="79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10012434" y="5293420"/>
            <a:ext cx="1325245" cy="79252"/>
          </a:xfrm>
          <a:prstGeom prst="roundRect">
            <a:avLst>
              <a:gd name="adj" fmla="val 5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550686" y="5442672"/>
            <a:ext cx="180699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7A7A85"/>
                </a:solidFill>
                <a:latin typeface="Inter"/>
              </a:rPr>
              <a:t>ОАЭ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Среди клиентов — компании из Москвы, ОАЭ, Италии, США, Беларуси и Казахстана.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15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5 страхов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34440"/>
            <a:ext cx="11072000" cy="8229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5 страхов — и наш ответ.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0312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70% клиентов уже разочарованы прошлым подрядчиком. Мы знаем почему — и закрыли это в договоре.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743200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4320" y="2743200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8680" y="2816352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8680" y="3035808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Смета подрастёт на ходу.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5260" y="2743200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9620" y="2816352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9620" y="3035808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Фиксированная стоимость в договоре. Дополнительные работы — только по отдельному акту с вашей подписью.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00" y="3408424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4320" y="3408424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8680" y="3481576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680" y="3701032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Сорвут сроки.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5260" y="3408424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9620" y="3481576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39620" y="3701032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Таймлайн и KPI прописаны в договоре. Право расторжения с возвратом нерасходованной части бюджета.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" y="4073648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320" y="4073648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8680" y="4146800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8680" y="4366256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Окажусь у них в заложниках.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5260" y="4073648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39620" y="4146800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39620" y="4366256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Все рекламные аккаунты, аналитика, домен и CMS — на ваше юр.лицо. У нас — только рабочий доступ.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0000" y="4738872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4320" y="4738872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28680" y="4812024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28680" y="5031480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Опять отчёты про позиции, а не про деньги.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5260" y="4738872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39620" y="4812024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39620" y="5031480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Ежемесячный отчёт по обращениям и выручке. Доступ к Метрике и CRM — у вас онлайн, 24/7.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0000" y="5404096"/>
            <a:ext cx="11072000" cy="58522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4320" y="5404096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800" b="1" i="0">
                <a:solidFill>
                  <a:srgbClr val="2B7CE9"/>
                </a:solidFill>
                <a:latin typeface="Manrope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28680" y="5477248"/>
            <a:ext cx="382514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7A7A85"/>
                </a:solidFill>
                <a:latin typeface="Inter"/>
              </a:rPr>
              <a:t>БОЯЛИСЬ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28680" y="5696704"/>
            <a:ext cx="382514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000000"/>
                </a:solidFill>
                <a:latin typeface="Manrope"/>
              </a:rPr>
              <a:t>Уйдут в тень при первой проблеме.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5260" y="5404096"/>
            <a:ext cx="457200" cy="5852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2B7CE9"/>
                </a:solidFill>
                <a:latin typeface="Manrope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39620" y="5477248"/>
            <a:ext cx="59667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900" b="1" i="0">
                <a:solidFill>
                  <a:srgbClr val="2B7CE9"/>
                </a:solidFill>
                <a:latin typeface="Inter"/>
              </a:rPr>
              <a:t>ПРОПИСАНО В ДОГОВОРЕ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39620" y="5696704"/>
            <a:ext cx="5966700" cy="265184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000000"/>
                </a:solidFill>
                <a:latin typeface="Inter"/>
              </a:rPr>
              <a:t>Закреплённый менеджер. Еженедельные созвоны. SLA на ответ в часах, прописанный в договоре.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Хотите увидеть эти условия в договоре до подписания? Запросите шаблон: hello@acoola.team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16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Что бывает, если выбрать дешевле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Цена ошибки выбора подрядчика.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Иллюстративный сценарий [TODO: подтвердить числа с заказчиком]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2743200"/>
            <a:ext cx="77724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C83E3E"/>
                </a:solidFill>
                <a:latin typeface="Inter"/>
              </a:rPr>
              <a:t>ВАРИАНТ A — Фрилансер за 80 000 ₽/мес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28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8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Найм фрилансера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8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Экономия −170 000 ₽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vs наша вилка от 250 000 ₽/мес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231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059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059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Сайт не доработан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59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Бюджет на контекст слит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−450 000 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62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90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90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Новый подрядчик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90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Переделка с нуля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−350 000 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9300" y="3246120"/>
            <a:ext cx="188310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C8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32180" y="3429000"/>
            <a:ext cx="151734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C83E3E"/>
                </a:solidFill>
                <a:latin typeface="Manrope"/>
              </a:rPr>
              <a:t>М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2180" y="3840480"/>
            <a:ext cx="1517340" cy="5029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Manrope"/>
              </a:rPr>
              <a:t>Сайт работает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2180" y="4434840"/>
            <a:ext cx="1517340" cy="109728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Простой 8 месяцев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~600 000 ₽ упущенной выручки</a:t>
            </a:r>
          </a:p>
          <a:p>
            <a:r>
              <a:rPr sz="1100" b="0" i="0">
                <a:solidFill>
                  <a:srgbClr val="7A7A85"/>
                </a:solidFill>
                <a:latin typeface="Inter"/>
              </a:rPr>
              <a:t>[TODO: уточнить под нишу]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06720" y="2743200"/>
            <a:ext cx="3025280" cy="3291840"/>
          </a:xfrm>
          <a:prstGeom prst="roundRect">
            <a:avLst>
              <a:gd name="adj" fmla="val 5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81040" y="3108960"/>
            <a:ext cx="2476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ИТОГ ЗА ГОД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1040" y="3657600"/>
            <a:ext cx="247664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Manrope"/>
              </a:rPr>
              <a:t>−1 230 000 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1040" y="4937760"/>
            <a:ext cx="24766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Inter"/>
              </a:rPr>
              <a:t>+ 8 месяцев простоя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в продажах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0000" y="621792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1">
                <a:solidFill>
                  <a:srgbClr val="2B7CE9"/>
                </a:solidFill>
                <a:latin typeface="Inter"/>
              </a:rPr>
              <a:t>С нами было бы — от 250 000 ₽/мес × 12 = 3 000 000 ₽ за год + работающий сайт + рост обращений.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17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Спектр · карта услуг по жизни сайта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Один партнёр на весь путь сайта.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4884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От первой строчки кода до видимости в AI-поиске. Цены — с сайта acoola.team.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00" y="3306470"/>
            <a:ext cx="10912000" cy="8000"/>
          </a:xfrm>
          <a:prstGeom prst="rect">
            <a:avLst/>
          </a:prstGeom>
          <a:solidFill>
            <a:srgbClr val="CCCC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369333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0000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ДО ЗАПУСКА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0000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35033" y="3803462"/>
            <a:ext cx="30000" cy="15240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533633" y="3803462"/>
            <a:ext cx="30000" cy="15240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434333" y="3765362"/>
            <a:ext cx="30000" cy="2286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00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Разработка сайта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00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190 000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00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Сайт-актив, готовый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к продвижению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27999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18666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ПРИ ЗАПУСКЕ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18666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170839" y="374250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16559" y="378822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262279" y="3833942"/>
            <a:ext cx="91440" cy="9144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498666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Контекстная реклама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8666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50 000 ₽/мес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98666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Первые заявки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за дни, не месяцы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86665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7332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ЧЕРЕЗ МЕСЯЦ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77332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090465" y="3765362"/>
            <a:ext cx="152400" cy="22860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5052365" y="3727262"/>
            <a:ext cx="228600" cy="82296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57332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SEO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57332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7332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Системный рост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обращений из органики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5331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35998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ЧЕРЕЗ 3 МЕСЯЦА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35998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899601" y="3731072"/>
            <a:ext cx="251460" cy="297180"/>
          </a:xfrm>
          <a:prstGeom prst="roundRect">
            <a:avLst>
              <a:gd name="adj" fmla="val 3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5998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Управление репутацией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5998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5998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Защищаем то,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что вы построили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03997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994664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2B7CE9"/>
                </a:solidFill>
                <a:latin typeface="Inter"/>
              </a:rPr>
              <a:t>ПОСТОЯННО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94664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8819989" y="378822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769697" y="3948242"/>
            <a:ext cx="228600" cy="2743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74664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Техническая техподдержка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74664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2B7CE9"/>
                </a:solidFill>
                <a:latin typeface="Manrope"/>
              </a:rPr>
              <a:t>от 30 000 ₽/мес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74664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Сайт всегда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на связи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62663" y="3230470"/>
            <a:ext cx="160000" cy="16000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53330" y="2697480"/>
            <a:ext cx="177866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1" i="0">
                <a:solidFill>
                  <a:srgbClr val="6B4FE9"/>
                </a:solidFill>
                <a:latin typeface="Inter"/>
              </a:rPr>
              <a:t>ЧЕРЕЗ 6 МЕСЯЦЕВ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853330" y="3486470"/>
            <a:ext cx="1778666" cy="2514290"/>
          </a:xfrm>
          <a:prstGeom prst="roundRect">
            <a:avLst>
              <a:gd name="adj" fmla="val 5000"/>
            </a:avLst>
          </a:prstGeom>
          <a:solidFill>
            <a:srgbClr val="ECE6F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662653" y="3799652"/>
            <a:ext cx="160020" cy="160020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10728947" y="3705926"/>
            <a:ext cx="27432" cy="82296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10728947" y="3971102"/>
            <a:ext cx="27432" cy="82296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10568927" y="3865946"/>
            <a:ext cx="82296" cy="2743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10834103" y="3865946"/>
            <a:ext cx="82296" cy="2743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33330" y="4217990"/>
            <a:ext cx="1618666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anrope"/>
              </a:rPr>
              <a:t>GEO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3330" y="5040950"/>
            <a:ext cx="161866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1" i="0">
                <a:solidFill>
                  <a:srgbClr val="6B4FE9"/>
                </a:solidFill>
                <a:latin typeface="Manrope"/>
              </a:rPr>
              <a:t>от 90 000 ₽/мес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33330" y="5452430"/>
            <a:ext cx="1618666" cy="41117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Видимость бренда</a:t>
            </a:r>
          </a:p>
          <a:p>
            <a:pPr algn="ctr"/>
            <a:r>
              <a:rPr sz="900" b="0" i="0">
                <a:solidFill>
                  <a:srgbClr val="7A7A85"/>
                </a:solidFill>
                <a:latin typeface="Inter"/>
              </a:rPr>
              <a:t>в AI-поиске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200" b="0" i="1">
                <a:solidFill>
                  <a:srgbClr val="2B7CE9"/>
                </a:solidFill>
                <a:latin typeface="Inter"/>
              </a:rPr>
              <a:t>Один подрядчик — один план — одна точка ответственности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18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Финал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Manrope"/>
              </a:rPr>
              <a:t>Один контракт или пять?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0" i="1">
                <a:solidFill>
                  <a:srgbClr val="7A7A85"/>
                </a:solidFill>
                <a:latin typeface="Inter"/>
              </a:rPr>
              <a:t>То, чем мы отличаемся, — устройство, а не магия.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926080"/>
            <a:ext cx="5398840" cy="274320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0040" y="320040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7A7A85"/>
                </a:solidFill>
                <a:latin typeface="Inter"/>
              </a:rPr>
              <a:t>ВАРИАНТ A — 5 ПОДРЯДЧИКОВ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40" y="3703320"/>
            <a:ext cx="4758760" cy="960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0">
                <a:solidFill>
                  <a:srgbClr val="CCCCD0"/>
                </a:solidFill>
                <a:latin typeface="Inter"/>
              </a:rPr>
              <a:t>Дизайн — у одного. Разработка — у другого.</a:t>
            </a:r>
          </a:p>
          <a:p>
            <a:r>
              <a:rPr sz="1400" b="0" i="0">
                <a:solidFill>
                  <a:srgbClr val="CCCCD0"/>
                </a:solidFill>
                <a:latin typeface="Inter"/>
              </a:rPr>
              <a:t>SEO — у третьего. Контекст — у четвёртого.</a:t>
            </a:r>
          </a:p>
          <a:p>
            <a:r>
              <a:rPr sz="1400" b="0" i="0">
                <a:solidFill>
                  <a:srgbClr val="CCCCD0"/>
                </a:solidFill>
                <a:latin typeface="Inter"/>
              </a:rPr>
              <a:t>Поддержка — у пятого.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040" y="475488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7A7A85"/>
                </a:solidFill>
                <a:latin typeface="Inter"/>
              </a:rPr>
              <a:t>5 счетов · 5 KPI · 5 разных стандартов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0040" y="5166360"/>
            <a:ext cx="47587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Никто не отвечает за общий результат.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160" y="2926080"/>
            <a:ext cx="5398840" cy="2743200"/>
          </a:xfrm>
          <a:prstGeom prst="roundRect">
            <a:avLst>
              <a:gd name="adj" fmla="val 6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3200" y="320040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Inter"/>
              </a:rPr>
              <a:t>ВАРИАНТ B — 1 КОМАНДА · 6 НАПРАВЛЕНИЙ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703320"/>
            <a:ext cx="4758760" cy="9601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Inter"/>
              </a:rPr>
              <a:t>Разработка сайта / SEO / Контекстная реклама /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Управление репутацией / Техническая техподдержка / GEO —</a:t>
            </a:r>
          </a:p>
          <a:p>
            <a:r>
              <a:rPr sz="1300" b="0" i="0">
                <a:solidFill>
                  <a:srgbClr val="FFFFFF"/>
                </a:solidFill>
                <a:latin typeface="Inter"/>
              </a:rPr>
              <a:t>один договор, один план, одна точка ответственности.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754880"/>
            <a:ext cx="475876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1">
                <a:solidFill>
                  <a:srgbClr val="DDE9FB"/>
                </a:solidFill>
                <a:latin typeface="Inter"/>
              </a:rPr>
              <a:t>Среди клиентов — Сбер, БыстроБанк, Главстрой, Pioneer.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5166360"/>
            <a:ext cx="475876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Manrope"/>
              </a:rPr>
              <a:t>95% продлевают. Средний срок — 3,5+ года.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000" y="58978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400" b="0" i="1">
                <a:solidFill>
                  <a:srgbClr val="7A7A85"/>
                </a:solidFill>
                <a:latin typeface="Inter"/>
              </a:rPr>
              <a:t>Если узнали себя в варианте слева — мы и есть та самая альтернатива.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989320"/>
            <a:ext cx="11072000" cy="64008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60000" y="5989320"/>
            <a:ext cx="11072000" cy="6400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nrope"/>
              </a:rPr>
              <a:t>hello@acoola.team   ·   +7 499 938-48-27   ·   acoola.team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22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Прайс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66444"/>
            <a:ext cx="11072000" cy="563611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400" b="1" i="0" dirty="0" err="1">
                <a:solidFill>
                  <a:srgbClr val="000000"/>
                </a:solidFill>
                <a:latin typeface="Manrope"/>
              </a:rPr>
              <a:t>Цены</a:t>
            </a:r>
            <a:r>
              <a:rPr sz="3400" b="1" i="0" dirty="0">
                <a:solidFill>
                  <a:srgbClr val="000000"/>
                </a:solidFill>
                <a:latin typeface="Manrope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19659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1">
                <a:solidFill>
                  <a:srgbClr val="7A7A85"/>
                </a:solidFill>
                <a:latin typeface="Inter"/>
              </a:rPr>
              <a:t>Стартовые вилки. Точная стоимость под ваш проект — на встрече.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606040"/>
            <a:ext cx="3455257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0000" y="2606040"/>
            <a:ext cx="60000" cy="356616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71480" y="2926080"/>
            <a:ext cx="2815177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РАЗОВЫЕ ИНВЕСТИЦИИ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10" y="3642360"/>
            <a:ext cx="30000" cy="16764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18670" y="3642360"/>
            <a:ext cx="30000" cy="167640"/>
          </a:xfrm>
          <a:prstGeom prst="rect">
            <a:avLst/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207940" y="3600450"/>
            <a:ext cx="30000" cy="25146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1480" y="4160520"/>
            <a:ext cx="2815177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000" b="1" i="0">
                <a:solidFill>
                  <a:srgbClr val="000000"/>
                </a:solidFill>
                <a:latin typeface="Manrope"/>
              </a:rPr>
              <a:t>Разработка сайта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480" y="4709160"/>
            <a:ext cx="2815177" cy="594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200" b="1" i="0">
                <a:solidFill>
                  <a:srgbClr val="2B7CE9"/>
                </a:solidFill>
                <a:latin typeface="Manrope"/>
              </a:rPr>
              <a:t>от 190 000 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1480" y="5394960"/>
            <a:ext cx="2815177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0" i="0">
                <a:solidFill>
                  <a:srgbClr val="7A7A85"/>
                </a:solidFill>
                <a:latin typeface="Inter"/>
              </a:rPr>
              <a:t>За проект под ключ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480" y="5806440"/>
            <a:ext cx="2632297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1" i="1">
                <a:solidFill>
                  <a:srgbClr val="2B7CE9"/>
                </a:solidFill>
                <a:latin typeface="Inter"/>
              </a:rPr>
              <a:t>+ 30 дней техподдержки в подарок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577" y="2606040"/>
            <a:ext cx="7342423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1057" y="2926080"/>
            <a:ext cx="6702343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100" b="1" i="0">
                <a:solidFill>
                  <a:srgbClr val="2B7CE9"/>
                </a:solidFill>
                <a:latin typeface="Inter"/>
              </a:rPr>
              <a:t>ЕЖЕМЕСЯЧНЫЕ ИНВЕСТИЦИИ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01057" y="3474720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65857" y="3522726"/>
            <a:ext cx="167640" cy="25146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23947" y="3480816"/>
            <a:ext cx="251460" cy="90525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29737" y="3493008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SEO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9737" y="3785616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Визитка / услуги / магазин / портал — 70/75/100/120k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6628" y="3383280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1057" y="3913632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701057" y="4005072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998801" y="4027932"/>
            <a:ext cx="301752" cy="30175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049093" y="4078224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099385" y="4128516"/>
            <a:ext cx="100584" cy="100584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629737" y="4023360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Контекстная реклама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9737" y="4315968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За ведение + рекламный бюджет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6628" y="3913632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50 000 ₽/мес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01057" y="4443984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4701057" y="4535424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011374" y="4545711"/>
            <a:ext cx="276606" cy="326898"/>
          </a:xfrm>
          <a:prstGeom prst="roundRect">
            <a:avLst>
              <a:gd name="adj" fmla="val 3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29737" y="4553712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Управление репутацией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9737" y="4846320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Карта присутствия + сканер репутации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6628" y="4443984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70 000 ₽/мес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1057" y="4974336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701057" y="5065776"/>
            <a:ext cx="60000" cy="347472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079268" y="5138928"/>
            <a:ext cx="140817" cy="140817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5023947" y="5314950"/>
            <a:ext cx="251460" cy="30175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629737" y="5084064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Техническая техподдержка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29737" y="5376672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Месячный пакет часов + SLA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26628" y="4974336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2B7CE9"/>
                </a:solidFill>
                <a:latin typeface="Manrope"/>
              </a:rPr>
              <a:t>от 30 000 ₽/мес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01057" y="5504688"/>
            <a:ext cx="6519463" cy="60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ounded Rectangle 47"/>
          <p:cNvSpPr/>
          <p:nvPr/>
        </p:nvSpPr>
        <p:spPr>
          <a:xfrm>
            <a:off x="4701057" y="5596128"/>
            <a:ext cx="60000" cy="34747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061666" y="5681853"/>
            <a:ext cx="176022" cy="176022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5134589" y="5578754"/>
            <a:ext cx="30175" cy="9052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5134589" y="5870449"/>
            <a:ext cx="30175" cy="9052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4958567" y="5754776"/>
            <a:ext cx="90525" cy="3017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5250262" y="5754776"/>
            <a:ext cx="90525" cy="30175"/>
          </a:xfrm>
          <a:prstGeom prst="roundRect">
            <a:avLst>
              <a:gd name="adj" fmla="val 5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29737" y="5614416"/>
            <a:ext cx="3259731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GEO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9737" y="5907024"/>
            <a:ext cx="3259731" cy="164592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Видимость бренда в AI-поиске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26628" y="5504688"/>
            <a:ext cx="2193892" cy="530352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2200" b="1" i="0">
                <a:solidFill>
                  <a:srgbClr val="6B4FE9"/>
                </a:solidFill>
                <a:latin typeface="Manrope"/>
              </a:rPr>
              <a:t>от 90 000 ₽/мес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0000" y="6492240"/>
            <a:ext cx="110720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1">
                <a:solidFill>
                  <a:srgbClr val="2B7CE9"/>
                </a:solidFill>
                <a:latin typeface="Inter"/>
              </a:rPr>
              <a:t>Источник цен — acoola.team. Точная конфигурация — на встрече.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Награды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Внешняя валидация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C99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45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Золотой партнёр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45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Автоматизируем бизнес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88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C8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733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Мониторинг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1С Битрикс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33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Участник программы качества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76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1A4D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21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Сертифицированное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агентство Яндекса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21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Яндекс.Директ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06400" y="2651760"/>
            <a:ext cx="1768800" cy="1691640"/>
          </a:xfrm>
          <a:prstGeom prst="roundRect">
            <a:avLst>
              <a:gd name="adj" fmla="val 7000"/>
            </a:avLst>
          </a:prstGeom>
          <a:solidFill>
            <a:srgbClr val="1F1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70992" y="2816352"/>
            <a:ext cx="1439616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Google</a:t>
            </a:r>
          </a:p>
          <a:p>
            <a:r>
              <a:rPr sz="1400" b="1" i="0">
                <a:solidFill>
                  <a:srgbClr val="FFFFFF"/>
                </a:solidFill>
                <a:latin typeface="Manrope"/>
              </a:rPr>
              <a:t>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0992" y="3749040"/>
            <a:ext cx="1439616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CCCCD0"/>
                </a:solidFill>
                <a:latin typeface="Inter"/>
              </a:rPr>
              <a:t>Сертифицированный партнёр Google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49520" y="2651760"/>
            <a:ext cx="3482480" cy="1691640"/>
          </a:xfrm>
          <a:prstGeom prst="roundRect">
            <a:avLst>
              <a:gd name="adj" fmla="val 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49520" y="2788920"/>
            <a:ext cx="3482480" cy="10058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8400" b="1" i="0">
                <a:solidFill>
                  <a:srgbClr val="FFFFFF"/>
                </a:solidFill>
                <a:latin typeface="Manrope"/>
              </a:rPr>
              <a:t>95%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9520" y="3886200"/>
            <a:ext cx="348248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Inter"/>
              </a:rPr>
              <a:t>довольных клиентов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Яндекс.Метрика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48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30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Google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0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36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18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Brand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18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24000" y="4572000"/>
            <a:ext cx="2708000" cy="1371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06880" y="484632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Calltouch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06880" y="5349240"/>
            <a:ext cx="234224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7A7A85"/>
                </a:solidFill>
                <a:latin typeface="Inter"/>
              </a:rPr>
              <a:t>сертификация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000" y="635508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ctr"/>
            <a:r>
              <a:rPr sz="1000" b="0" i="1">
                <a:solidFill>
                  <a:srgbClr val="7A7A85"/>
                </a:solidFill>
                <a:latin typeface="Inter"/>
              </a:rPr>
              <a:t>NPS 100 за последний год · 95 за общий период — программа мониторинга качества 1С Битрикс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6B4FE9"/>
                </a:solidFill>
                <a:latin typeface="Inter"/>
              </a:rPr>
              <a:t>Наша модель · кульминация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371600"/>
            <a:ext cx="11072000" cy="13716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Manrope"/>
              </a:rPr>
              <a:t>Мы запустили GEO в 2025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2800" b="1" i="0">
                <a:solidFill>
                  <a:srgbClr val="6B4FE9"/>
                </a:solidFill>
                <a:latin typeface="Manrope"/>
              </a:rPr>
              <a:t>до того, как остальные услышали это слово.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0000" y="3200400"/>
            <a:ext cx="5943600" cy="17373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0" i="0">
                <a:solidFill>
                  <a:srgbClr val="CCCCD0"/>
                </a:solidFill>
                <a:latin typeface="Inter"/>
              </a:rPr>
              <a:t>Когда клиент спрашивает у ChatGPT —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«кому позвонить по [вашей категории] в Москве»,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мы делаем так, чтобы ответ назвал ваш бренд.</a:t>
            </a:r>
          </a:p>
          <a:p>
            <a:endParaRPr sz="1300" b="0" i="0">
              <a:solidFill>
                <a:srgbClr val="CCCCD0"/>
              </a:solidFill>
              <a:latin typeface="Inter"/>
            </a:endParaRP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GEO — это не отдельная новая команда.</a:t>
            </a:r>
          </a:p>
          <a:p>
            <a:r>
              <a:rPr sz="1300" b="0" i="0">
                <a:solidFill>
                  <a:srgbClr val="CCCCD0"/>
                </a:solidFill>
                <a:latin typeface="Inter"/>
              </a:rPr>
              <a:t>Это наши SEO, контент и ORM в новом продукте.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200400"/>
            <a:ext cx="4774000" cy="1737360"/>
          </a:xfrm>
          <a:prstGeom prst="roundRect">
            <a:avLst>
              <a:gd name="adj" fmla="val 4000"/>
            </a:avLst>
          </a:prstGeom>
          <a:solidFill>
            <a:srgbClr val="333336"/>
          </a:solidFill>
          <a:ln w="6350">
            <a:solidFill>
              <a:srgbClr val="4444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4774000" cy="312724"/>
          </a:xfrm>
          <a:prstGeom prst="roundRect">
            <a:avLst>
              <a:gd name="adj" fmla="val 4000"/>
            </a:avLst>
          </a:prstGeom>
          <a:solidFill>
            <a:srgbClr val="1010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978000" y="3316762"/>
            <a:ext cx="80000" cy="80000"/>
          </a:xfrm>
          <a:prstGeom prst="roundRect">
            <a:avLst>
              <a:gd name="adj" fmla="val 50000"/>
            </a:avLst>
          </a:prstGeom>
          <a:solidFill>
            <a:srgbClr val="4AD8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8000" y="3200400"/>
            <a:ext cx="4214000" cy="312724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800" b="1" i="0">
                <a:solidFill>
                  <a:srgbClr val="7A7A85"/>
                </a:solidFill>
                <a:latin typeface="Inter"/>
              </a:rPr>
              <a:t>ChatGPT  ·  Perplexity  ·  YandexGPT  ·  Алиса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52120" y="3593124"/>
            <a:ext cx="2959880" cy="354098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2120" y="3593124"/>
            <a:ext cx="2759880" cy="35409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800" b="0" i="0">
                <a:solidFill>
                  <a:srgbClr val="FFFFFF"/>
                </a:solidFill>
                <a:latin typeface="Inter"/>
              </a:rPr>
              <a:t>Кому позвонить по охранным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системам в Москве?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78000" y="4027222"/>
            <a:ext cx="4057900" cy="830538"/>
          </a:xfrm>
          <a:prstGeom prst="roundRect">
            <a:avLst>
              <a:gd name="adj" fmla="val 15000"/>
            </a:avLst>
          </a:prstGeom>
          <a:solidFill>
            <a:srgbClr val="2E2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98000" y="4067222"/>
            <a:ext cx="3817900" cy="790538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800" b="0" i="0">
                <a:solidFill>
                  <a:srgbClr val="FFFFFF"/>
                </a:solidFill>
                <a:latin typeface="Inter"/>
              </a:rPr>
              <a:t>В вашей категории в Москве: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Конкурент A — лидер по узнаваемости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Ваш бренд — закрывает задачу комплексно</a:t>
            </a:r>
          </a:p>
          <a:p>
            <a:r>
              <a:rPr sz="800" b="0" i="0">
                <a:solidFill>
                  <a:srgbClr val="FFFFFF"/>
                </a:solidFill>
                <a:latin typeface="Inter"/>
              </a:rPr>
              <a:t>  •  Конкурент B — нишевое решение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8000" y="4376047"/>
            <a:ext cx="3897900" cy="182718"/>
          </a:xfrm>
          <a:prstGeom prst="roundRect">
            <a:avLst>
              <a:gd name="adj" fmla="val 1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98000" y="4376047"/>
            <a:ext cx="3817900" cy="182718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800" b="1" i="0">
                <a:solidFill>
                  <a:srgbClr val="FFFFFF"/>
                </a:solidFill>
                <a:latin typeface="Inter"/>
              </a:rPr>
              <a:t>  •  Ваш бренд — комплексные решения, GPS-трекинг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074920"/>
            <a:ext cx="11072000" cy="868680"/>
          </a:xfrm>
          <a:prstGeom prst="roundRect">
            <a:avLst>
              <a:gd name="adj" fmla="val 6000"/>
            </a:avLst>
          </a:prstGeom>
          <a:solidFill>
            <a:srgbClr val="2A2A2E"/>
          </a:solidFill>
          <a:ln w="6350">
            <a:solidFill>
              <a:srgbClr val="6B4F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4320" y="5166360"/>
            <a:ext cx="1828800" cy="27432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1" i="0">
                <a:solidFill>
                  <a:srgbClr val="6B4FE9"/>
                </a:solidFill>
                <a:latin typeface="Inter"/>
              </a:rPr>
              <a:t>ПРЯМО СЕЙЧАС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320" y="5440680"/>
            <a:ext cx="82296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Manrope"/>
              </a:rPr>
              <a:t>Откройте ChatGPT и спросите — «кому позвонить по [вашей нише] в Москве?»  Скиньте нам скриншот.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63320" y="5143500"/>
            <a:ext cx="7315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773320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807201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841083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874965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908847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942729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976611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078257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179902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247666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1281548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1315430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1349312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1383194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1417076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1450958" y="515350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773320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976611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1010493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1112139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1213784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1247666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1450958" y="518738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773320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841083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10874965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908847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976611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1247666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1315430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1349312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1383194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1450958" y="522126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0773320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0841083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874965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908847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0976611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11078257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11179902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11247666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11315430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349312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1383194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1450958" y="5255145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0773320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0841083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0874965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0908847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0976611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11010493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11112139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11213784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11247666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1315430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11349312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11383194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1450958" y="528902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0773320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0976611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1247666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1450958" y="532290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0773320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807201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10841083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10874965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10908847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10942729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10976611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11078257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11179902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1247666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281548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1315430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1349312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1383194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1417076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450958" y="5356791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0807201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10908847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1010493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1112139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11213784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11315430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1417076" y="5390673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0773320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0874965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0976611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1078257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1179902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1281548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1383194" y="5458437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0807201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0908847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1010493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11112139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11213784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11315430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1417076" y="5492319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0773320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0874965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0976611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1078257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1179902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1281548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1383194" y="556008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10807201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10908847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11010493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1112139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11213784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1315430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11417076" y="559396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0773320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0807201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0841083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0874965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0908847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0942729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0976611" y="562784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10773320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10976611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11078257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1179902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1281548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11383194" y="566172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10773320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0841083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0874965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0908847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0976611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1010493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1112139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1213784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11315430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1417076" y="5695610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10773320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10841083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10874965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10908847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10976611" y="5729492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0773320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10841083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0874965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10908847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10976611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11078257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11179902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11281548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11383194" y="5763374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10773320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10976611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11010493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11112139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11213784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1315430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1417076" y="5797256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0773320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0807201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0841083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0874965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0908847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10942729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10976611" y="5831138"/>
            <a:ext cx="33881" cy="33881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9391720" y="5143500"/>
            <a:ext cx="1280160" cy="7315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→ форма обратной</a:t>
            </a:r>
          </a:p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связи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560000" y="6080760"/>
            <a:ext cx="4114800" cy="594360"/>
          </a:xfrm>
          <a:prstGeom prst="roundRect">
            <a:avLst>
              <a:gd name="adj" fmla="val 10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560000" y="6080760"/>
            <a:ext cx="4114800" cy="5943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anrope"/>
              </a:rPr>
              <a:t>от 90 000 ₽/мес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4857680" y="6080760"/>
            <a:ext cx="2743200" cy="5943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4857680" y="6080760"/>
            <a:ext cx="2743200" cy="5943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6B4FE9"/>
                </a:solidFill>
                <a:latin typeface="Inter"/>
              </a:rPr>
              <a:t>Новое направление 2025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8888800" y="6080760"/>
            <a:ext cx="2743200" cy="594360"/>
          </a:xfrm>
          <a:prstGeom prst="roundRect">
            <a:avLst>
              <a:gd name="adj" fmla="val 50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888800" y="6080760"/>
            <a:ext cx="2743200" cy="59436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Запросить GEO-аудит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0000" y="280000"/>
            <a:ext cx="2743200" cy="22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WWW.ACOOLA.TEAM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20320" y="280000"/>
            <a:ext cx="2011680" cy="2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800" b="1" i="0">
                <a:solidFill>
                  <a:srgbClr val="000000"/>
                </a:solidFill>
                <a:latin typeface="Manrope"/>
              </a:rPr>
              <a:t>ACOOLA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20320" y="500000"/>
            <a:ext cx="201168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1000" b="0" i="0">
                <a:solidFill>
                  <a:srgbClr val="7A7A85"/>
                </a:solidFill>
                <a:latin typeface="Manrope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0000" y="868680"/>
            <a:ext cx="11072000" cy="4572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1" i="0">
                <a:solidFill>
                  <a:srgbClr val="2B7CE9"/>
                </a:solidFill>
                <a:latin typeface="Inter"/>
              </a:rPr>
              <a:t>Партнёрская программа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000" y="1280160"/>
            <a:ext cx="11072000" cy="9144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3800" b="1" i="0">
                <a:solidFill>
                  <a:srgbClr val="000000"/>
                </a:solidFill>
                <a:latin typeface="Manrope"/>
              </a:rPr>
              <a:t>Зарабатывайте на рекомендациях.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2194560"/>
            <a:ext cx="11072000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400" b="0" i="1">
                <a:solidFill>
                  <a:srgbClr val="7A7A85"/>
                </a:solidFill>
                <a:latin typeface="Inter"/>
              </a:rPr>
              <a:t>Платим деньги за привлечение клиентов на любую из 6 услуг.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0000" y="2606040"/>
            <a:ext cx="5398840" cy="2011680"/>
          </a:xfrm>
          <a:prstGeom prst="roundRect">
            <a:avLst>
              <a:gd name="adj" fmla="val 6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1480" y="2971800"/>
            <a:ext cx="2557882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ЕЖЕМЕСЯЧНЫЕ УСЛУГИ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480" y="3611880"/>
            <a:ext cx="2557882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Inter"/>
              </a:rPr>
              <a:t>SEO · контекст · ORM · техподдержка</a:t>
            </a:r>
          </a:p>
          <a:p>
            <a:endParaRPr sz="1200" b="0" i="0">
              <a:solidFill>
                <a:srgbClr val="FFFFFF"/>
              </a:solidFill>
              <a:latin typeface="Inter"/>
            </a:endParaRPr>
          </a:p>
          <a:p>
            <a:r>
              <a:rPr sz="1200" b="0" i="0">
                <a:solidFill>
                  <a:srgbClr val="FFFFFF"/>
                </a:solidFill>
                <a:latin typeface="Inter"/>
              </a:rPr>
              <a:t>Ежемесячно в течение года сотрудничества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362" y="2606040"/>
            <a:ext cx="2155158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Manrope"/>
              </a:rPr>
              <a:t>10%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160" y="2606040"/>
            <a:ext cx="5398840" cy="2011680"/>
          </a:xfrm>
          <a:prstGeom prst="roundRect">
            <a:avLst>
              <a:gd name="adj" fmla="val 6000"/>
            </a:avLst>
          </a:prstGeom>
          <a:solidFill>
            <a:srgbClr val="6B4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4640" y="2971800"/>
            <a:ext cx="2557882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Inter"/>
              </a:rPr>
              <a:t>РАЗРАБОТКА САЙТОВ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0" y="3611880"/>
            <a:ext cx="2557882" cy="7772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200" b="0" i="0">
                <a:solidFill>
                  <a:srgbClr val="FFFFFF"/>
                </a:solidFill>
                <a:latin typeface="Inter"/>
              </a:rPr>
              <a:t>От каждого платежа клиента</a:t>
            </a:r>
          </a:p>
          <a:p>
            <a:r>
              <a:rPr sz="1200" b="0" i="0">
                <a:solidFill>
                  <a:srgbClr val="FFFFFF"/>
                </a:solidFill>
                <a:latin typeface="Inter"/>
              </a:rPr>
              <a:t>за разработку сайта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2522" y="2606040"/>
            <a:ext cx="2155158" cy="201168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Manrope"/>
              </a:rPr>
              <a:t>12%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800600"/>
            <a:ext cx="356874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8600" y="4965192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2B7CE9"/>
                </a:solidFill>
                <a:latin typeface="Manrope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600" y="5257800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Рекомендуйте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8600" y="55778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Расскажите коллегам, партнёрам или клиентам, которые ищут подрядчика.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11626" y="4800600"/>
            <a:ext cx="356874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40226" y="4965192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2B7CE9"/>
                </a:solidFill>
                <a:latin typeface="Manrope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0226" y="5257800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Сформулируйте задачу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0226" y="55778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Коротко опишите, что нужно. Предупредите клиента о нашем звонке.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3252" y="4800600"/>
            <a:ext cx="3568746" cy="1143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91852" y="4965192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300" b="1" i="0">
                <a:solidFill>
                  <a:srgbClr val="2B7CE9"/>
                </a:solidFill>
                <a:latin typeface="Manrope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1852" y="5257800"/>
            <a:ext cx="3111546" cy="32004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500" b="1" i="0">
                <a:solidFill>
                  <a:srgbClr val="000000"/>
                </a:solidFill>
                <a:latin typeface="Manrope"/>
              </a:rPr>
              <a:t>Передайте контакты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1852" y="5577840"/>
            <a:ext cx="3111546" cy="36576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r>
              <a:rPr sz="1000" b="0" i="0">
                <a:solidFill>
                  <a:srgbClr val="7A7A85"/>
                </a:solidFill>
                <a:latin typeface="Inter"/>
              </a:rPr>
              <a:t>Мы проведём бесплатный аудит. Партнёру — комиссия.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000" y="6172200"/>
            <a:ext cx="11072000" cy="502920"/>
          </a:xfrm>
          <a:prstGeom prst="roundRect">
            <a:avLst>
              <a:gd name="adj" fmla="val 15000"/>
            </a:avLst>
          </a:prstGeom>
          <a:solidFill>
            <a:srgbClr val="2B7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60000" y="6172200"/>
            <a:ext cx="11072000" cy="502920"/>
          </a:xfrm>
          <a:prstGeom prst="rect">
            <a:avLst/>
          </a:prstGeom>
          <a:noFill/>
        </p:spPr>
        <p:txBody>
          <a:bodyPr wrap="square" lIns="50000" tIns="20000" rIns="50000" bIns="2000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nrope"/>
              </a:rPr>
              <a:t>Стать партнёром: hello@acoola.team   ·   acoola.team/partnership/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17600" y="700000"/>
            <a:ext cx="914400" cy="180000"/>
          </a:xfrm>
          <a:prstGeom prst="rect">
            <a:avLst/>
          </a:prstGeom>
          <a:noFill/>
        </p:spPr>
        <p:txBody>
          <a:bodyPr wrap="square" lIns="50000" tIns="20000" rIns="50000" bIns="20000">
            <a:spAutoFit/>
          </a:bodyPr>
          <a:lstStyle/>
          <a:p>
            <a:pPr algn="r"/>
            <a:r>
              <a:rPr sz="900" b="0" i="0">
                <a:solidFill>
                  <a:srgbClr val="7A7A85"/>
                </a:solidFill>
                <a:latin typeface="Inter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2467</Words>
  <Application>Microsoft Macintosh PowerPoint</Application>
  <PresentationFormat>Широкоэкранный</PresentationFormat>
  <Paragraphs>532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Calibri</vt:lpstr>
      <vt:lpstr>Inter</vt:lpstr>
      <vt:lpstr>Manrope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Evgeny Shchemelev</cp:lastModifiedBy>
  <cp:revision>2</cp:revision>
  <dcterms:created xsi:type="dcterms:W3CDTF">2013-01-27T09:14:16Z</dcterms:created>
  <dcterms:modified xsi:type="dcterms:W3CDTF">2026-05-19T17:00:18Z</dcterms:modified>
  <cp:category/>
</cp:coreProperties>
</file>