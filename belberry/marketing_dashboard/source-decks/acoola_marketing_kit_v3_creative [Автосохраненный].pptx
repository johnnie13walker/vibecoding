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58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9"/>
  </p:normalViewPr>
  <p:slideViewPr>
    <p:cSldViewPr snapToGrid="0" snapToObjects="1">
      <p:cViewPr varScale="1">
        <p:scale>
          <a:sx n="114" d="100"/>
          <a:sy n="114" d="100"/>
        </p:scale>
        <p:origin x="49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 · МАРКЕТИНГ-КИТ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0000" y="2286000"/>
            <a:ext cx="7772400" cy="1463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6400" b="1" i="0">
                <a:solidFill>
                  <a:srgbClr val="7A7A85"/>
                </a:solidFill>
                <a:latin typeface="Manrope"/>
              </a:rPr>
              <a:t>Кто-то обещает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3108960"/>
            <a:ext cx="7772400" cy="13716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0" b="1" i="0">
                <a:solidFill>
                  <a:srgbClr val="FFFFFF"/>
                </a:solidFill>
                <a:latin typeface="Manrope"/>
              </a:rPr>
              <a:t>топ-10.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4480560"/>
            <a:ext cx="7772400" cy="11887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0" b="1" i="0">
                <a:solidFill>
                  <a:srgbClr val="2B7CE9"/>
                </a:solidFill>
                <a:latin typeface="Manrope"/>
              </a:rPr>
              <a:t>Мы — нет.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2377440"/>
            <a:ext cx="2945200" cy="2377440"/>
          </a:xfrm>
          <a:prstGeom prst="roundRect">
            <a:avLst>
              <a:gd name="adj" fmla="val 5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15400" y="2560320"/>
            <a:ext cx="248800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900" b="1" i="0">
                <a:solidFill>
                  <a:srgbClr val="2B7CE9"/>
                </a:solidFill>
                <a:latin typeface="Inter"/>
              </a:rPr>
              <a:t>ПОДГОТОВЛЕНО ДЛЯ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15400" y="2880360"/>
            <a:ext cx="2488000" cy="6400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1">
                <a:solidFill>
                  <a:srgbClr val="FFFFFF"/>
                </a:solidFill>
                <a:latin typeface="Manrope"/>
              </a:rPr>
              <a:t>{COMPANY_NAME}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3566160"/>
            <a:ext cx="2488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 i="1">
                <a:solidFill>
                  <a:srgbClr val="7A7A85"/>
                </a:solidFill>
                <a:latin typeface="Inter"/>
              </a:rPr>
              <a:t>Сайт: {DOMAIN}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3931920"/>
            <a:ext cx="2488000" cy="7772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 i="1">
                <a:solidFill>
                  <a:srgbClr val="CCCCD0"/>
                </a:solidFill>
                <a:latin typeface="Inter"/>
              </a:rPr>
              <a:t>Видим {N} точки роста — расскажем на встрече.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4389120"/>
            <a:ext cx="248800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800" b="0" i="1">
                <a:solidFill>
                  <a:srgbClr val="7A7A85"/>
                </a:solidFill>
                <a:latin typeface="Inter"/>
              </a:rPr>
              <a:t>[ заменить на данные получателя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0000" y="6309360"/>
            <a:ext cx="54864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 i="0">
                <a:solidFill>
                  <a:srgbClr val="7A7A85"/>
                </a:solidFill>
                <a:latin typeface="Inter"/>
              </a:rPr>
              <a:t>ACOOLA.TEAM · digital-агентство полного цикла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74480" y="6309360"/>
            <a:ext cx="27432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100" b="0" i="1">
                <a:solidFill>
                  <a:srgbClr val="7A7A85"/>
                </a:solidFill>
                <a:latin typeface="Inter"/>
              </a:rPr>
              <a:t>→ дальше — почему именно так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5486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7A7A85"/>
                </a:solidFill>
                <a:latin typeface="Inter"/>
              </a:rPr>
              <a:t>Манифест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554480"/>
            <a:ext cx="11072000" cy="5029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400" b="0" i="0">
                <a:solidFill>
                  <a:srgbClr val="7A7A85"/>
                </a:solidFill>
                <a:latin typeface="Manrope"/>
              </a:rPr>
              <a:t>Мы не делаем сайты.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057400"/>
            <a:ext cx="11072000" cy="5943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3200" b="1" i="0">
                <a:solidFill>
                  <a:srgbClr val="000000"/>
                </a:solidFill>
                <a:latin typeface="Manrope"/>
              </a:rPr>
              <a:t>Мы превращаем сайт в актив.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00" y="2743200"/>
            <a:ext cx="11072000" cy="5029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400" b="0" i="0">
                <a:solidFill>
                  <a:srgbClr val="7A7A85"/>
                </a:solidFill>
                <a:latin typeface="Manrope"/>
              </a:rPr>
              <a:t>Мы не считаем клики.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00" y="3246120"/>
            <a:ext cx="11072000" cy="5943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3200" b="1" i="0">
                <a:solidFill>
                  <a:srgbClr val="000000"/>
                </a:solidFill>
                <a:latin typeface="Manrope"/>
              </a:rPr>
              <a:t>Мы считаем обращения.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0000" y="3931920"/>
            <a:ext cx="11072000" cy="5029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400" b="0" i="0">
                <a:solidFill>
                  <a:srgbClr val="7A7A85"/>
                </a:solidFill>
                <a:latin typeface="Manrope"/>
              </a:rPr>
              <a:t>Мы не уходим после релиза.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000" y="4434840"/>
            <a:ext cx="11072000" cy="5943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3200" b="1" i="0">
                <a:solidFill>
                  <a:srgbClr val="000000"/>
                </a:solidFill>
                <a:latin typeface="Manrope"/>
              </a:rPr>
              <a:t>Мы остаёмся 3,5+ года.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0000" y="5120640"/>
            <a:ext cx="11072000" cy="5029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400" b="0" i="0">
                <a:solidFill>
                  <a:srgbClr val="7A7A85"/>
                </a:solidFill>
                <a:latin typeface="Manrope"/>
              </a:rPr>
              <a:t>Мы не догоняем AI-поиск.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0000" y="5623560"/>
            <a:ext cx="11072000" cy="5943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3200" b="1" i="0">
                <a:solidFill>
                  <a:srgbClr val="000000"/>
                </a:solidFill>
                <a:latin typeface="Manrope"/>
              </a:rPr>
              <a:t>Мы запустили GEO в 2025.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7A7A85"/>
                </a:solidFill>
                <a:latin typeface="Inter"/>
              </a:rPr>
              <a:t>Что сломалось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280160"/>
            <a:ext cx="11072000" cy="10972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600" b="1" i="0">
                <a:solidFill>
                  <a:srgbClr val="000000"/>
                </a:solidFill>
                <a:latin typeface="Manrope"/>
              </a:rPr>
              <a:t>В digital сломалась модель.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0000" y="3017520"/>
            <a:ext cx="3597333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4320" y="3383280"/>
            <a:ext cx="3048693" cy="1463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 i="0">
                <a:solidFill>
                  <a:srgbClr val="000000"/>
                </a:solidFill>
                <a:latin typeface="Manrope"/>
              </a:rPr>
              <a:t>Подрядчиков 5.</a:t>
            </a:r>
          </a:p>
          <a:p>
            <a:r>
              <a:rPr sz="1800" b="1" i="0">
                <a:solidFill>
                  <a:srgbClr val="000000"/>
                </a:solidFill>
                <a:latin typeface="Manrope"/>
              </a:rPr>
              <a:t>Ответственных за результат — 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4320" y="4846320"/>
            <a:ext cx="3048693" cy="11887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300" b="0" i="0">
                <a:solidFill>
                  <a:srgbClr val="7A7A85"/>
                </a:solidFill>
                <a:latin typeface="Inter"/>
              </a:rPr>
              <a:t>Дизайн делает один. Разработка — другой. SEO — третий. Через год никто не помнит, кто что обещал.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333" y="3017520"/>
            <a:ext cx="3597333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1653" y="3383280"/>
            <a:ext cx="3048693" cy="1463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 i="0">
                <a:solidFill>
                  <a:srgbClr val="000000"/>
                </a:solidFill>
                <a:latin typeface="Manrope"/>
              </a:rPr>
              <a:t>Метрика — позиции в выдаче.</a:t>
            </a:r>
          </a:p>
          <a:p>
            <a:r>
              <a:rPr sz="1800" b="1" i="0">
                <a:solidFill>
                  <a:srgbClr val="000000"/>
                </a:solidFill>
                <a:latin typeface="Manrope"/>
              </a:rPr>
              <a:t>Финдиректору показать нечего.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653" y="4846320"/>
            <a:ext cx="3048693" cy="11887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300" b="0" i="0">
                <a:solidFill>
                  <a:srgbClr val="7A7A85"/>
                </a:solidFill>
                <a:latin typeface="Inter"/>
              </a:rPr>
              <a:t>Топ-10 — это слайд для презентации. Выручка — это разговор с собственником.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4666" y="3017520"/>
            <a:ext cx="3597333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08986" y="3383280"/>
            <a:ext cx="3048693" cy="1463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 i="0">
                <a:solidFill>
                  <a:srgbClr val="000000"/>
                </a:solidFill>
                <a:latin typeface="Manrope"/>
              </a:rPr>
              <a:t>Релиз — финал работы.</a:t>
            </a:r>
          </a:p>
          <a:p>
            <a:r>
              <a:rPr sz="1800" b="1" i="0">
                <a:solidFill>
                  <a:srgbClr val="000000"/>
                </a:solidFill>
                <a:latin typeface="Manrope"/>
              </a:rPr>
              <a:t>Через год сайт устарел.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8986" y="4846320"/>
            <a:ext cx="3048693" cy="11887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300" b="0" i="0">
                <a:solidFill>
                  <a:srgbClr val="7A7A85"/>
                </a:solidFill>
                <a:latin typeface="Inter"/>
              </a:rPr>
              <a:t>Сайт-актив требует ведения, а не «сдачи под ключ» с архивацией доступов.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Наша модель · 1/5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554480"/>
            <a:ext cx="11072000" cy="21945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5200" b="1" i="0">
                <a:solidFill>
                  <a:srgbClr val="FFFFFF"/>
                </a:solidFill>
                <a:latin typeface="Manrope"/>
              </a:rPr>
              <a:t>Мы отчитываемся</a:t>
            </a:r>
          </a:p>
          <a:p>
            <a:r>
              <a:rPr sz="5200" b="1" i="0">
                <a:solidFill>
                  <a:srgbClr val="FFFFFF"/>
                </a:solidFill>
                <a:latin typeface="Manrope"/>
              </a:rPr>
              <a:t>обращениями, а не позициями.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0000" y="4297680"/>
            <a:ext cx="5353120" cy="1828800"/>
          </a:xfrm>
          <a:prstGeom prst="roundRect">
            <a:avLst>
              <a:gd name="adj" fmla="val 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5760" y="4572000"/>
            <a:ext cx="46216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Inter"/>
              </a:rPr>
              <a:t>Что показываем в отчёте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5760" y="5074920"/>
            <a:ext cx="4621600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Manrope"/>
              </a:rPr>
              <a:t>обращения · стоимость лида · конверсии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880" y="4297680"/>
            <a:ext cx="5353120" cy="1828800"/>
          </a:xfrm>
          <a:prstGeom prst="roundRect">
            <a:avLst>
              <a:gd name="adj" fmla="val 5000"/>
            </a:avLst>
          </a:prstGeom>
          <a:solidFill>
            <a:srgbClr val="333336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53200" y="4572000"/>
            <a:ext cx="46216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7A7A85"/>
                </a:solidFill>
                <a:latin typeface="Inter"/>
              </a:rPr>
              <a:t>Что обычно подсовывают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0" y="5074920"/>
            <a:ext cx="4621600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000" b="1" i="0">
                <a:solidFill>
                  <a:srgbClr val="7A7A85"/>
                </a:solidFill>
                <a:latin typeface="Manrope"/>
              </a:rPr>
              <a:t>клики · просмотры · позиции в выдаче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Наша модель · 2/5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280160"/>
            <a:ext cx="11072000" cy="29260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32000" b="1" i="0">
                <a:solidFill>
                  <a:srgbClr val="2B7CE9"/>
                </a:solidFill>
                <a:latin typeface="Manrope"/>
              </a:rPr>
              <a:t>3,5+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4206240"/>
            <a:ext cx="11072000" cy="5486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2200" b="1" i="0">
                <a:solidFill>
                  <a:srgbClr val="000000"/>
                </a:solidFill>
                <a:latin typeface="Manrope"/>
              </a:rPr>
              <a:t>лет — средний срок сотрудничества с клиентом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00" y="493776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400" b="0" i="1">
                <a:solidFill>
                  <a:srgbClr val="7A7A85"/>
                </a:solidFill>
                <a:latin typeface="Inter"/>
              </a:rPr>
              <a:t>В digital это в 2,5–3 раза дольше отраслевой нормы.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00" y="548640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400" b="0" i="1">
                <a:solidFill>
                  <a:srgbClr val="7A7A85"/>
                </a:solidFill>
                <a:latin typeface="Inter"/>
              </a:rPr>
              <a:t>Клиенты остаются. Это и есть результат.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Наша модель · 3/5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371600"/>
            <a:ext cx="1107200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3400" b="1" i="0">
                <a:solidFill>
                  <a:srgbClr val="000000"/>
                </a:solidFill>
                <a:latin typeface="Manrope"/>
              </a:rPr>
              <a:t>95 из 100 клиентов продлевают контракт.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7200" y="246888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391384" y="246888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765568" y="246888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139752" y="246888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513936" y="246888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888120" y="246888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262304" y="246888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636488" y="246888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010672" y="246888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384856" y="246888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17200" y="284306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391384" y="284306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765568" y="284306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2139752" y="284306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2513936" y="284306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888120" y="284306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262304" y="284306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636488" y="284306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010672" y="284306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384856" y="284306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17200" y="321724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391384" y="321724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765568" y="321724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2139752" y="321724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2513936" y="321724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2888120" y="321724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3262304" y="321724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3636488" y="321724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4010672" y="321724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4384856" y="321724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017200" y="359143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391384" y="359143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1765568" y="359143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2139752" y="359143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2513936" y="359143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2888120" y="359143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3262304" y="359143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3636488" y="359143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4010672" y="359143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4384856" y="359143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1017200" y="396561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1391384" y="396561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1765568" y="396561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2139752" y="396561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2513936" y="396561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2888120" y="396561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3262304" y="396561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3636488" y="396561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4010672" y="396561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4384856" y="396561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1017200" y="433980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1391384" y="433980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1765568" y="433980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2139752" y="433980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2513936" y="433980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2888120" y="433980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3262304" y="433980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3636488" y="433980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4010672" y="433980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4384856" y="433980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1017200" y="471398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1391384" y="471398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1765568" y="471398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2139752" y="471398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2513936" y="471398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2888120" y="471398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3262304" y="471398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3636488" y="471398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4010672" y="471398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4384856" y="471398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1017200" y="508816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1391384" y="508816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1765568" y="508816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2139752" y="508816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2513936" y="508816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2888120" y="508816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3262304" y="508816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3636488" y="508816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4010672" y="508816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ounded Rectangle 85"/>
          <p:cNvSpPr/>
          <p:nvPr/>
        </p:nvSpPr>
        <p:spPr>
          <a:xfrm>
            <a:off x="4384856" y="508816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1017200" y="546235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1391384" y="546235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ounded Rectangle 88"/>
          <p:cNvSpPr/>
          <p:nvPr/>
        </p:nvSpPr>
        <p:spPr>
          <a:xfrm>
            <a:off x="1765568" y="546235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2139752" y="546235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2513936" y="546235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ounded Rectangle 91"/>
          <p:cNvSpPr/>
          <p:nvPr/>
        </p:nvSpPr>
        <p:spPr>
          <a:xfrm>
            <a:off x="2888120" y="546235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ounded Rectangle 92"/>
          <p:cNvSpPr/>
          <p:nvPr/>
        </p:nvSpPr>
        <p:spPr>
          <a:xfrm>
            <a:off x="3262304" y="546235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3636488" y="546235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ounded Rectangle 94"/>
          <p:cNvSpPr/>
          <p:nvPr/>
        </p:nvSpPr>
        <p:spPr>
          <a:xfrm>
            <a:off x="4010672" y="546235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ounded Rectangle 95"/>
          <p:cNvSpPr/>
          <p:nvPr/>
        </p:nvSpPr>
        <p:spPr>
          <a:xfrm>
            <a:off x="4384856" y="546235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ounded Rectangle 96"/>
          <p:cNvSpPr/>
          <p:nvPr/>
        </p:nvSpPr>
        <p:spPr>
          <a:xfrm>
            <a:off x="1017200" y="583653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1391384" y="583653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ounded Rectangle 98"/>
          <p:cNvSpPr/>
          <p:nvPr/>
        </p:nvSpPr>
        <p:spPr>
          <a:xfrm>
            <a:off x="1765568" y="583653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ounded Rectangle 99"/>
          <p:cNvSpPr/>
          <p:nvPr/>
        </p:nvSpPr>
        <p:spPr>
          <a:xfrm>
            <a:off x="2139752" y="583653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ounded Rectangle 100"/>
          <p:cNvSpPr/>
          <p:nvPr/>
        </p:nvSpPr>
        <p:spPr>
          <a:xfrm>
            <a:off x="2513936" y="583653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2888120" y="583653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7A7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ounded Rectangle 102"/>
          <p:cNvSpPr/>
          <p:nvPr/>
        </p:nvSpPr>
        <p:spPr>
          <a:xfrm>
            <a:off x="3262304" y="583653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7A7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ounded Rectangle 103"/>
          <p:cNvSpPr/>
          <p:nvPr/>
        </p:nvSpPr>
        <p:spPr>
          <a:xfrm>
            <a:off x="3636488" y="583653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7A7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ounded Rectangle 104"/>
          <p:cNvSpPr/>
          <p:nvPr/>
        </p:nvSpPr>
        <p:spPr>
          <a:xfrm>
            <a:off x="4010672" y="583653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7A7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ounded Rectangle 105"/>
          <p:cNvSpPr/>
          <p:nvPr/>
        </p:nvSpPr>
        <p:spPr>
          <a:xfrm>
            <a:off x="4384856" y="583653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7A7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ounded Rectangle 106"/>
          <p:cNvSpPr/>
          <p:nvPr/>
        </p:nvSpPr>
        <p:spPr>
          <a:xfrm>
            <a:off x="5307680" y="24688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5856320" y="2468880"/>
            <a:ext cx="5775680" cy="3657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400" b="0" i="0">
                <a:solidFill>
                  <a:srgbClr val="000000"/>
                </a:solidFill>
                <a:latin typeface="Inter"/>
              </a:rPr>
              <a:t>95 клиентов остаются на следующий цикл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5307680" y="31089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7A7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5856320" y="3108960"/>
            <a:ext cx="5775680" cy="3657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400" b="0" i="0">
                <a:solidFill>
                  <a:srgbClr val="000000"/>
                </a:solidFill>
                <a:latin typeface="Inter"/>
              </a:rPr>
              <a:t>5 уходят. Это нормально.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307680" y="4114800"/>
            <a:ext cx="6324320" cy="18288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500" b="0" i="1">
                <a:solidFill>
                  <a:srgbClr val="7A7A85"/>
                </a:solidFill>
                <a:latin typeface="Inter"/>
              </a:rPr>
              <a:t>Расскажем честно, в каких случаях</a:t>
            </a:r>
          </a:p>
          <a:p>
            <a:r>
              <a:rPr sz="1500" b="0" i="1">
                <a:solidFill>
                  <a:srgbClr val="7A7A85"/>
                </a:solidFill>
                <a:latin typeface="Inter"/>
              </a:rPr>
              <a:t>уходят — и почему мы</a:t>
            </a:r>
          </a:p>
          <a:p>
            <a:r>
              <a:rPr sz="1500" b="0" i="1">
                <a:solidFill>
                  <a:srgbClr val="7A7A85"/>
                </a:solidFill>
                <a:latin typeface="Inter"/>
              </a:rPr>
              <a:t>не берёмся за эти проекты.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307680" y="5760720"/>
            <a:ext cx="632432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1" i="0">
                <a:solidFill>
                  <a:srgbClr val="2B7CE9"/>
                </a:solidFill>
                <a:latin typeface="Inter"/>
              </a:rPr>
              <a:t>↓ следующий слайд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Наша модель · 4/5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371600"/>
            <a:ext cx="11072000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600" b="1" i="0">
                <a:solidFill>
                  <a:srgbClr val="FFFFFF"/>
                </a:solidFill>
                <a:latin typeface="Manrope"/>
              </a:rPr>
              <a:t>Чего мы не возьмёмся делать.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743200"/>
            <a:ext cx="457200" cy="502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2200" b="1" i="0">
                <a:solidFill>
                  <a:srgbClr val="2B7CE9"/>
                </a:solidFill>
                <a:latin typeface="Manrope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640" y="2743200"/>
            <a:ext cx="10523360" cy="502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2000" b="0" i="0">
                <a:solidFill>
                  <a:srgbClr val="FFFFFF"/>
                </a:solidFill>
                <a:latin typeface="Inter"/>
              </a:rPr>
              <a:t>Накручивать позиции в Яндексе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00" y="3246120"/>
            <a:ext cx="457200" cy="502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2200" b="1" i="0">
                <a:solidFill>
                  <a:srgbClr val="2B7CE9"/>
                </a:solidFill>
                <a:latin typeface="Manrope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8640" y="3246120"/>
            <a:ext cx="10523360" cy="502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2000" b="0" i="0">
                <a:solidFill>
                  <a:srgbClr val="FFFFFF"/>
                </a:solidFill>
                <a:latin typeface="Inter"/>
              </a:rPr>
              <a:t>Запускать рекламу без аналитики на сайте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000" y="3749040"/>
            <a:ext cx="457200" cy="502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2200" b="1" i="0">
                <a:solidFill>
                  <a:srgbClr val="2B7CE9"/>
                </a:solidFill>
                <a:latin typeface="Manrope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8640" y="3749040"/>
            <a:ext cx="10523360" cy="502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2000" b="0" i="0">
                <a:solidFill>
                  <a:srgbClr val="FFFFFF"/>
                </a:solidFill>
                <a:latin typeface="Inter"/>
              </a:rPr>
              <a:t>Делать дизайн «как у конкурента»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0000" y="4251960"/>
            <a:ext cx="457200" cy="502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2200" b="1" i="0">
                <a:solidFill>
                  <a:srgbClr val="2B7CE9"/>
                </a:solidFill>
                <a:latin typeface="Manrope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8640" y="4251960"/>
            <a:ext cx="10523360" cy="502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2000" b="0" i="0">
                <a:solidFill>
                  <a:srgbClr val="FFFFFF"/>
                </a:solidFill>
                <a:latin typeface="Inter"/>
              </a:rPr>
              <a:t>Обещать топ-10 «к Новому году»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0000" y="4754880"/>
            <a:ext cx="457200" cy="502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2200" b="1" i="0">
                <a:solidFill>
                  <a:srgbClr val="2B7CE9"/>
                </a:solidFill>
                <a:latin typeface="Manrope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8640" y="4754880"/>
            <a:ext cx="10523360" cy="502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2000" b="0" i="0">
                <a:solidFill>
                  <a:srgbClr val="FFFFFF"/>
                </a:solidFill>
                <a:latin typeface="Inter"/>
              </a:rPr>
              <a:t>Заходить в SEO там, где сайт нужно переделать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0000" y="5257800"/>
            <a:ext cx="457200" cy="502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2200" b="1" i="0">
                <a:solidFill>
                  <a:srgbClr val="2B7CE9"/>
                </a:solidFill>
                <a:latin typeface="Manrope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8640" y="5257800"/>
            <a:ext cx="10523360" cy="502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2000" b="0" i="0">
                <a:solidFill>
                  <a:srgbClr val="FFFFFF"/>
                </a:solidFill>
                <a:latin typeface="Inter"/>
              </a:rPr>
              <a:t>Учиться GEO на вашем проекте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0000" y="630936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 i="1">
                <a:solidFill>
                  <a:srgbClr val="7A7A85"/>
                </a:solidFill>
                <a:latin typeface="Inter"/>
              </a:rPr>
              <a:t>Отказ — это форма уважения. И к клиенту, и к команде.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Наша модель · бонус к 4/5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371600"/>
            <a:ext cx="11072000" cy="10058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600" b="1" i="0">
                <a:solidFill>
                  <a:srgbClr val="FFFFFF"/>
                </a:solidFill>
                <a:latin typeface="Manrope"/>
              </a:rPr>
              <a:t>Где мы слабые.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37744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0" i="1">
                <a:solidFill>
                  <a:srgbClr val="7A7A85"/>
                </a:solidFill>
                <a:latin typeface="Inter"/>
              </a:rPr>
              <a:t>Чтобы вы знали заранее, а не на третьем месяце.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3108960"/>
            <a:ext cx="5466000" cy="1255880"/>
          </a:xfrm>
          <a:prstGeom prst="roundRect">
            <a:avLst>
              <a:gd name="adj" fmla="val 5000"/>
            </a:avLst>
          </a:prstGeom>
          <a:solidFill>
            <a:srgbClr val="333336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0040" y="3383280"/>
            <a:ext cx="482592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 i="0">
                <a:solidFill>
                  <a:srgbClr val="2B7CE9"/>
                </a:solidFill>
                <a:latin typeface="Manrope"/>
              </a:rPr>
              <a:t>ML / Data Science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040" y="3977640"/>
            <a:ext cx="4825920" cy="1586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 i="0">
                <a:solidFill>
                  <a:srgbClr val="CCCCD0"/>
                </a:solidFill>
                <a:latin typeface="Inter"/>
              </a:rPr>
              <a:t>У нас нет такой команды. Для AI-продуктов работаем в партнёрстве с [TODO: имя партнёра].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6000" y="3108960"/>
            <a:ext cx="5466000" cy="1255880"/>
          </a:xfrm>
          <a:prstGeom prst="roundRect">
            <a:avLst>
              <a:gd name="adj" fmla="val 5000"/>
            </a:avLst>
          </a:prstGeom>
          <a:solidFill>
            <a:srgbClr val="333336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86040" y="3383280"/>
            <a:ext cx="482592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 i="0">
                <a:solidFill>
                  <a:srgbClr val="2B7CE9"/>
                </a:solidFill>
                <a:latin typeface="Manrope"/>
              </a:rPr>
              <a:t>Мобильная разработка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6040" y="3977640"/>
            <a:ext cx="4825920" cy="1586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 i="0">
                <a:solidFill>
                  <a:srgbClr val="CCCCD0"/>
                </a:solidFill>
                <a:latin typeface="Inter"/>
              </a:rPr>
              <a:t>Не делаем приложения для iOS/Android. Только web и веб-сервисы.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0000" y="4504840"/>
            <a:ext cx="5466000" cy="1255880"/>
          </a:xfrm>
          <a:prstGeom prst="roundRect">
            <a:avLst>
              <a:gd name="adj" fmla="val 5000"/>
            </a:avLst>
          </a:prstGeom>
          <a:solidFill>
            <a:srgbClr val="333336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0040" y="4779160"/>
            <a:ext cx="482592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 i="0">
                <a:solidFill>
                  <a:srgbClr val="2B7CE9"/>
                </a:solidFill>
                <a:latin typeface="Manrope"/>
              </a:rPr>
              <a:t>Маленькие бюджеты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040" y="5373520"/>
            <a:ext cx="4825920" cy="1586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 i="0">
                <a:solidFill>
                  <a:srgbClr val="CCCCD0"/>
                </a:solidFill>
                <a:latin typeface="Inter"/>
              </a:rPr>
              <a:t>Мы дороже фрилансера. Если бюджет на маркетинг до 150 000 ₽/мес — мы не подходим, и это нормально.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6000" y="4504840"/>
            <a:ext cx="5466000" cy="1255880"/>
          </a:xfrm>
          <a:prstGeom prst="roundRect">
            <a:avLst>
              <a:gd name="adj" fmla="val 5000"/>
            </a:avLst>
          </a:prstGeom>
          <a:solidFill>
            <a:srgbClr val="333336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86040" y="4779160"/>
            <a:ext cx="482592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 i="0">
                <a:solidFill>
                  <a:srgbClr val="2B7CE9"/>
                </a:solidFill>
                <a:latin typeface="Manrope"/>
              </a:rPr>
              <a:t>Незнакомые ниши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6040" y="5373520"/>
            <a:ext cx="4825920" cy="1586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 i="0">
                <a:solidFill>
                  <a:srgbClr val="CCCCD0"/>
                </a:solidFill>
                <a:latin typeface="Inter"/>
              </a:rPr>
              <a:t>У нас нет кейсов в банковском обслуживании частных лиц, фарме и food retail. Если ваша ниша — рекомендуем коллег: [TODO: 2–3 имени дружественных агентств].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0000" y="630936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200" b="0" i="1">
                <a:solidFill>
                  <a:srgbClr val="7A7A85"/>
                </a:solidFill>
                <a:latin typeface="Inter"/>
              </a:rPr>
              <a:t>Это часть честного разговора. Полный список — на встрече.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7A7A85"/>
                </a:solidFill>
                <a:latin typeface="Inter"/>
              </a:rPr>
              <a:t>Сдвиг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554480"/>
            <a:ext cx="11072000" cy="21031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5200" b="1" i="0">
                <a:solidFill>
                  <a:srgbClr val="FFFFFF"/>
                </a:solidFill>
                <a:latin typeface="Manrope"/>
              </a:rPr>
              <a:t>AI-поиск переопределяет</a:t>
            </a:r>
          </a:p>
          <a:p>
            <a:r>
              <a:rPr sz="5200" b="1" i="0">
                <a:solidFill>
                  <a:srgbClr val="FFFFFF"/>
                </a:solidFill>
                <a:latin typeface="Manrope"/>
              </a:rPr>
              <a:t>первый контакт клиента</a:t>
            </a:r>
          </a:p>
          <a:p>
            <a:r>
              <a:rPr sz="5200" b="1" i="0">
                <a:solidFill>
                  <a:srgbClr val="FFFFFF"/>
                </a:solidFill>
                <a:latin typeface="Manrope"/>
              </a:rPr>
              <a:t>с категорией.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4206240"/>
            <a:ext cx="11072000" cy="6400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0" i="0">
                <a:solidFill>
                  <a:srgbClr val="CCCCD0"/>
                </a:solidFill>
                <a:latin typeface="Inter"/>
              </a:rPr>
              <a:t>ChatGPT · Perplexity · Gemini · YandexGPT · Алиса</a:t>
            </a:r>
          </a:p>
          <a:p>
            <a:r>
              <a:rPr sz="1800" b="0" i="0">
                <a:solidFill>
                  <a:srgbClr val="CCCCD0"/>
                </a:solidFill>
                <a:latin typeface="Inter"/>
              </a:rPr>
              <a:t>уже отвечают на запросы по вашей категории.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00" y="5394960"/>
            <a:ext cx="11072000" cy="6400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200" b="1" i="1">
                <a:solidFill>
                  <a:srgbClr val="2B7CE9"/>
                </a:solidFill>
                <a:latin typeface="Manrope"/>
              </a:rPr>
              <a:t>Большинство агентств ещё не заметили.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6B4FE9"/>
                </a:solidFill>
                <a:latin typeface="Inter"/>
              </a:rPr>
              <a:t>Наша модель · 5/5  ·  кульминация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371600"/>
            <a:ext cx="11072000" cy="13716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600" b="1" i="0">
                <a:solidFill>
                  <a:srgbClr val="FFFFFF"/>
                </a:solidFill>
                <a:latin typeface="Manrope"/>
              </a:rPr>
              <a:t>Мы запустили GEO в 2025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194560"/>
            <a:ext cx="11072000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800" b="1" i="0">
                <a:solidFill>
                  <a:srgbClr val="6B4FE9"/>
                </a:solidFill>
                <a:latin typeface="Manrope"/>
              </a:rPr>
              <a:t>до того, как остальные услышали это слово.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00" y="3200400"/>
            <a:ext cx="5943600" cy="17373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300" b="0" i="0">
                <a:solidFill>
                  <a:srgbClr val="CCCCD0"/>
                </a:solidFill>
                <a:latin typeface="Inter"/>
              </a:rPr>
              <a:t>Когда клиент спрашивает у ChatGPT —</a:t>
            </a:r>
          </a:p>
          <a:p>
            <a:r>
              <a:rPr sz="1300" b="0" i="0">
                <a:solidFill>
                  <a:srgbClr val="CCCCD0"/>
                </a:solidFill>
                <a:latin typeface="Inter"/>
              </a:rPr>
              <a:t>«кому позвонить по [вашей категории] в Москве»,</a:t>
            </a:r>
          </a:p>
          <a:p>
            <a:r>
              <a:rPr sz="1300" b="0" i="0">
                <a:solidFill>
                  <a:srgbClr val="CCCCD0"/>
                </a:solidFill>
                <a:latin typeface="Inter"/>
              </a:rPr>
              <a:t>мы делаем так, чтобы ответ назвал ваш бренд.</a:t>
            </a:r>
          </a:p>
          <a:p>
            <a:endParaRPr sz="1300" b="0" i="0">
              <a:solidFill>
                <a:srgbClr val="CCCCD0"/>
              </a:solidFill>
              <a:latin typeface="Inter"/>
            </a:endParaRPr>
          </a:p>
          <a:p>
            <a:r>
              <a:rPr sz="1300" b="0" i="0">
                <a:solidFill>
                  <a:srgbClr val="CCCCD0"/>
                </a:solidFill>
                <a:latin typeface="Inter"/>
              </a:rPr>
              <a:t>GEO — это не отдельная новая команда.</a:t>
            </a:r>
          </a:p>
          <a:p>
            <a:r>
              <a:rPr sz="1300" b="0" i="0">
                <a:solidFill>
                  <a:srgbClr val="CCCCD0"/>
                </a:solidFill>
                <a:latin typeface="Inter"/>
              </a:rPr>
              <a:t>Это наши SEO, контент и ORM в новом продукте.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3200400"/>
            <a:ext cx="4774000" cy="1737360"/>
          </a:xfrm>
          <a:prstGeom prst="roundRect">
            <a:avLst>
              <a:gd name="adj" fmla="val 4000"/>
            </a:avLst>
          </a:prstGeom>
          <a:solidFill>
            <a:srgbClr val="333336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0" y="3200400"/>
            <a:ext cx="4774000" cy="312724"/>
          </a:xfrm>
          <a:prstGeom prst="roundRect">
            <a:avLst>
              <a:gd name="adj" fmla="val 4000"/>
            </a:avLst>
          </a:prstGeom>
          <a:solidFill>
            <a:srgbClr val="101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978000" y="3316762"/>
            <a:ext cx="80000" cy="80000"/>
          </a:xfrm>
          <a:prstGeom prst="roundRect">
            <a:avLst>
              <a:gd name="adj" fmla="val 50000"/>
            </a:avLst>
          </a:prstGeom>
          <a:solidFill>
            <a:srgbClr val="4AD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8000" y="3200400"/>
            <a:ext cx="4214000" cy="312724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800" b="1" i="0">
                <a:solidFill>
                  <a:srgbClr val="7A7A85"/>
                </a:solidFill>
                <a:latin typeface="Inter"/>
              </a:rPr>
              <a:t>ChatGPT  ·  Perplexity  ·  YandexGPT  ·  Алиса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52120" y="3593124"/>
            <a:ext cx="2959880" cy="354098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52120" y="3593124"/>
            <a:ext cx="2759880" cy="35409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800" b="0" i="0">
                <a:solidFill>
                  <a:srgbClr val="FFFFFF"/>
                </a:solidFill>
                <a:latin typeface="Inter"/>
              </a:rPr>
              <a:t>Кому позвонить по охранным</a:t>
            </a:r>
          </a:p>
          <a:p>
            <a:r>
              <a:rPr sz="800" b="0" i="0">
                <a:solidFill>
                  <a:srgbClr val="FFFFFF"/>
                </a:solidFill>
                <a:latin typeface="Inter"/>
              </a:rPr>
              <a:t>системам в Москве?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78000" y="4027222"/>
            <a:ext cx="4057900" cy="830538"/>
          </a:xfrm>
          <a:prstGeom prst="roundRect">
            <a:avLst>
              <a:gd name="adj" fmla="val 15000"/>
            </a:avLst>
          </a:prstGeom>
          <a:solidFill>
            <a:srgbClr val="2E2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98000" y="4067222"/>
            <a:ext cx="3817900" cy="790538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800" b="0" i="0">
                <a:solidFill>
                  <a:srgbClr val="FFFFFF"/>
                </a:solidFill>
                <a:latin typeface="Inter"/>
              </a:rPr>
              <a:t>В вашей категории в Москве:</a:t>
            </a:r>
          </a:p>
          <a:p>
            <a:r>
              <a:rPr sz="800" b="0" i="0">
                <a:solidFill>
                  <a:srgbClr val="FFFFFF"/>
                </a:solidFill>
                <a:latin typeface="Inter"/>
              </a:rPr>
              <a:t>  •  Конкурент A — лидер по узнаваемости</a:t>
            </a:r>
          </a:p>
          <a:p>
            <a:r>
              <a:rPr sz="800" b="0" i="0">
                <a:solidFill>
                  <a:srgbClr val="FFFFFF"/>
                </a:solidFill>
                <a:latin typeface="Inter"/>
              </a:rPr>
              <a:t>  •  Ваш бренд — закрывает задачу комплексно</a:t>
            </a:r>
          </a:p>
          <a:p>
            <a:r>
              <a:rPr sz="800" b="0" i="0">
                <a:solidFill>
                  <a:srgbClr val="FFFFFF"/>
                </a:solidFill>
                <a:latin typeface="Inter"/>
              </a:rPr>
              <a:t>  •  Конкурент B — нишевое решение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8000" y="4376047"/>
            <a:ext cx="3897900" cy="182718"/>
          </a:xfrm>
          <a:prstGeom prst="roundRect">
            <a:avLst>
              <a:gd name="adj" fmla="val 1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98000" y="4376047"/>
            <a:ext cx="3817900" cy="18271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800" b="1" i="0">
                <a:solidFill>
                  <a:srgbClr val="FFFFFF"/>
                </a:solidFill>
                <a:latin typeface="Inter"/>
              </a:rPr>
              <a:t>  •  Ваш бренд — комплексные решения, GPS-трекинг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0000" y="5074920"/>
            <a:ext cx="11072000" cy="868680"/>
          </a:xfrm>
          <a:prstGeom prst="roundRect">
            <a:avLst>
              <a:gd name="adj" fmla="val 6000"/>
            </a:avLst>
          </a:prstGeom>
          <a:solidFill>
            <a:srgbClr val="2A2A2E"/>
          </a:solidFill>
          <a:ln w="6350">
            <a:solidFill>
              <a:srgbClr val="6B4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4320" y="5166360"/>
            <a:ext cx="182880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1" i="0">
                <a:solidFill>
                  <a:srgbClr val="6B4FE9"/>
                </a:solidFill>
                <a:latin typeface="Inter"/>
              </a:rPr>
              <a:t>ПРЯМО СЕЙЧАС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320" y="5440680"/>
            <a:ext cx="8229600" cy="502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Manrope"/>
              </a:rPr>
              <a:t>Откройте ChatGPT и спросите — «кому позвонить по [вашей нише] в Москве?»  Скиньте нам скриншот.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63320" y="5143500"/>
            <a:ext cx="7315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773320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807201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841083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0874965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908847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942729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976611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1078257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1179902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1247666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1281548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1315430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1349312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1383194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1417076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1450958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0773320" y="518738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0976611" y="518738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1010493" y="518738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1112139" y="518738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1213784" y="518738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1247666" y="518738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1450958" y="518738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0773320" y="522126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0841083" y="522126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0874965" y="522126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0908847" y="522126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0976611" y="522126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11247666" y="522126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1315430" y="522126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1349312" y="522126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11383194" y="522126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1450958" y="522126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0773320" y="5255145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10841083" y="5255145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10874965" y="5255145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10908847" y="5255145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10976611" y="5255145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11078257" y="5255145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11179902" y="5255145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11247666" y="5255145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11315430" y="5255145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11349312" y="5255145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11383194" y="5255145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11450958" y="5255145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10773320" y="528902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10841083" y="528902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10874965" y="528902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10908847" y="528902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10976611" y="528902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11010493" y="528902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11112139" y="528902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11213784" y="528902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11247666" y="528902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11315430" y="528902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11349312" y="528902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11383194" y="528902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11450958" y="528902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10773320" y="5322909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10976611" y="5322909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11247666" y="5322909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11450958" y="5322909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10773320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10807201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10841083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10874965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10908847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10942729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10976611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11078257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11179902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11247666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11281548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11315430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11349312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11383194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11417076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11450958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10807201" y="539067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10908847" y="539067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11010493" y="539067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11112139" y="539067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11213784" y="539067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11315430" y="539067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11417076" y="539067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10773320" y="545843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10874965" y="545843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10976611" y="545843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11078257" y="545843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11179902" y="545843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11281548" y="545843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11383194" y="545843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10807201" y="5492319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10908847" y="5492319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11010493" y="5492319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11112139" y="5492319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11213784" y="5492319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11315430" y="5492319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11417076" y="5492319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10773320" y="5560082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10874965" y="5560082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10976611" y="5560082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11078257" y="5560082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11179902" y="5560082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11281548" y="5560082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11383194" y="5560082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10807201" y="559396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10908847" y="559396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11010493" y="559396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11112139" y="559396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11213784" y="559396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11315430" y="559396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11417076" y="559396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10773320" y="562784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10807201" y="562784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10841083" y="562784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10874965" y="562784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10908847" y="562784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10942729" y="562784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10976611" y="562784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10773320" y="5661728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10976611" y="5661728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11078257" y="5661728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11179902" y="5661728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11281548" y="5661728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11383194" y="5661728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10773320" y="569561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10841083" y="569561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10874965" y="569561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10908847" y="569561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10976611" y="569561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11010493" y="569561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Rectangle 154"/>
          <p:cNvSpPr/>
          <p:nvPr/>
        </p:nvSpPr>
        <p:spPr>
          <a:xfrm>
            <a:off x="11112139" y="569561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11213784" y="569561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ectangle 156"/>
          <p:cNvSpPr/>
          <p:nvPr/>
        </p:nvSpPr>
        <p:spPr>
          <a:xfrm>
            <a:off x="11315430" y="569561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11417076" y="569561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10773320" y="5729492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10841083" y="5729492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10874965" y="5729492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10908847" y="5729492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10976611" y="5729492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10773320" y="576337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10841083" y="576337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10874965" y="576337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Rectangle 166"/>
          <p:cNvSpPr/>
          <p:nvPr/>
        </p:nvSpPr>
        <p:spPr>
          <a:xfrm>
            <a:off x="10908847" y="576337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10976611" y="576337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11078257" y="576337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11179902" y="576337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Rectangle 170"/>
          <p:cNvSpPr/>
          <p:nvPr/>
        </p:nvSpPr>
        <p:spPr>
          <a:xfrm>
            <a:off x="11281548" y="576337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11383194" y="576337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ectangle 172"/>
          <p:cNvSpPr/>
          <p:nvPr/>
        </p:nvSpPr>
        <p:spPr>
          <a:xfrm>
            <a:off x="10773320" y="579725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10976611" y="579725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Rectangle 174"/>
          <p:cNvSpPr/>
          <p:nvPr/>
        </p:nvSpPr>
        <p:spPr>
          <a:xfrm>
            <a:off x="11010493" y="579725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ectangle 175"/>
          <p:cNvSpPr/>
          <p:nvPr/>
        </p:nvSpPr>
        <p:spPr>
          <a:xfrm>
            <a:off x="11112139" y="579725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11213784" y="579725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11315430" y="579725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ectangle 178"/>
          <p:cNvSpPr/>
          <p:nvPr/>
        </p:nvSpPr>
        <p:spPr>
          <a:xfrm>
            <a:off x="11417076" y="579725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Rectangle 179"/>
          <p:cNvSpPr/>
          <p:nvPr/>
        </p:nvSpPr>
        <p:spPr>
          <a:xfrm>
            <a:off x="10773320" y="5831138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Rectangle 180"/>
          <p:cNvSpPr/>
          <p:nvPr/>
        </p:nvSpPr>
        <p:spPr>
          <a:xfrm>
            <a:off x="10807201" y="5831138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Rectangle 181"/>
          <p:cNvSpPr/>
          <p:nvPr/>
        </p:nvSpPr>
        <p:spPr>
          <a:xfrm>
            <a:off x="10841083" y="5831138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Rectangle 182"/>
          <p:cNvSpPr/>
          <p:nvPr/>
        </p:nvSpPr>
        <p:spPr>
          <a:xfrm>
            <a:off x="10874965" y="5831138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Rectangle 183"/>
          <p:cNvSpPr/>
          <p:nvPr/>
        </p:nvSpPr>
        <p:spPr>
          <a:xfrm>
            <a:off x="10908847" y="5831138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ectangle 184"/>
          <p:cNvSpPr/>
          <p:nvPr/>
        </p:nvSpPr>
        <p:spPr>
          <a:xfrm>
            <a:off x="10942729" y="5831138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10976611" y="5831138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9391720" y="5143500"/>
            <a:ext cx="1280160" cy="7315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→ форма обратной</a:t>
            </a:r>
          </a:p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связи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560000" y="6080760"/>
            <a:ext cx="4114800" cy="594360"/>
          </a:xfrm>
          <a:prstGeom prst="roundRect">
            <a:avLst>
              <a:gd name="adj" fmla="val 1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560000" y="6080760"/>
            <a:ext cx="4114800" cy="5943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anrope"/>
              </a:rPr>
              <a:t>от 90 000 ₽/мес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4857680" y="6080760"/>
            <a:ext cx="2743200" cy="594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0"/>
          <p:cNvSpPr txBox="1"/>
          <p:nvPr/>
        </p:nvSpPr>
        <p:spPr>
          <a:xfrm>
            <a:off x="4857680" y="6080760"/>
            <a:ext cx="2743200" cy="5943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6B4FE9"/>
                </a:solidFill>
                <a:latin typeface="Inter"/>
              </a:rPr>
              <a:t>Новое направление 2025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8888800" y="6080760"/>
            <a:ext cx="2743200" cy="59436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8888800" y="6080760"/>
            <a:ext cx="2743200" cy="5943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Запросить GEO-аудит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Доказательство · 1/4 · РАЗРАБОТКА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371600"/>
            <a:ext cx="11072000" cy="7315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Manrope"/>
              </a:rPr>
              <a:t>TEO by COSMOSCOW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10312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0" i="1">
                <a:solidFill>
                  <a:srgbClr val="7A7A85"/>
                </a:solidFill>
                <a:latin typeface="Inter"/>
              </a:rPr>
              <a:t>Онлайн-маркетплейс искусства · разработка платформы · 2022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00" y="2743200"/>
            <a:ext cx="685800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 i="0">
                <a:solidFill>
                  <a:srgbClr val="2B7CE9"/>
                </a:solidFill>
                <a:latin typeface="Manrope"/>
              </a:rPr>
              <a:t>2022 год.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00" y="3520440"/>
            <a:ext cx="685800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600" b="0" i="0">
                <a:solidFill>
                  <a:srgbClr val="FFFFFF"/>
                </a:solidFill>
                <a:latin typeface="Inter"/>
              </a:rPr>
              <a:t>COSMOSCOW — крупнейшая международная ярмарка</a:t>
            </a:r>
          </a:p>
          <a:p>
            <a:r>
              <a:rPr sz="1600" b="0" i="0">
                <a:solidFill>
                  <a:srgbClr val="FFFFFF"/>
                </a:solidFill>
                <a:latin typeface="Inter"/>
              </a:rPr>
              <a:t>современного искусства в России.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0000" y="4297680"/>
            <a:ext cx="685800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600" b="0" i="0">
                <a:solidFill>
                  <a:srgbClr val="FFFFFF"/>
                </a:solidFill>
                <a:latin typeface="Inter"/>
              </a:rPr>
              <a:t>Задача: создать онлайн-платформу TEO,</a:t>
            </a:r>
          </a:p>
          <a:p>
            <a:r>
              <a:rPr sz="1600" b="0" i="0">
                <a:solidFill>
                  <a:srgbClr val="FFFFFF"/>
                </a:solidFill>
                <a:latin typeface="Inter"/>
              </a:rPr>
              <a:t>которая напрямую связывает авторов</a:t>
            </a:r>
          </a:p>
          <a:p>
            <a:r>
              <a:rPr sz="1600" b="0" i="0">
                <a:solidFill>
                  <a:srgbClr val="FFFFFF"/>
                </a:solidFill>
                <a:latin typeface="Inter"/>
              </a:rPr>
              <a:t>работ и покупателей.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000" y="5074920"/>
            <a:ext cx="685800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Manrope"/>
              </a:rPr>
              <a:t>Разработали маркетплейс с нуля:</a:t>
            </a:r>
          </a:p>
          <a:p>
            <a:r>
              <a:rPr sz="2200" b="1" i="0">
                <a:solidFill>
                  <a:srgbClr val="FFFFFF"/>
                </a:solidFill>
                <a:latin typeface="Manrope"/>
              </a:rPr>
              <a:t>от UX до интеграций, под нагрузку аукциона.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83760" y="2743200"/>
            <a:ext cx="3848240" cy="3108960"/>
          </a:xfrm>
          <a:prstGeom prst="roundRect">
            <a:avLst>
              <a:gd name="adj" fmla="val 4000"/>
            </a:avLst>
          </a:prstGeom>
          <a:solidFill>
            <a:srgbClr val="333336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783760" y="2743200"/>
            <a:ext cx="3848240" cy="373075"/>
          </a:xfrm>
          <a:prstGeom prst="roundRect">
            <a:avLst>
              <a:gd name="adj" fmla="val 4000"/>
            </a:avLst>
          </a:prstGeom>
          <a:solidFill>
            <a:srgbClr val="101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883760" y="2889737"/>
            <a:ext cx="80000" cy="80000"/>
          </a:xfrm>
          <a:prstGeom prst="roundRect">
            <a:avLst>
              <a:gd name="adj" fmla="val 50000"/>
            </a:avLst>
          </a:prstGeom>
          <a:solidFill>
            <a:srgbClr val="E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23760" y="2889737"/>
            <a:ext cx="80000" cy="80000"/>
          </a:xfrm>
          <a:prstGeom prst="roundRect">
            <a:avLst>
              <a:gd name="adj" fmla="val 50000"/>
            </a:avLst>
          </a:prstGeom>
          <a:solidFill>
            <a:srgbClr val="C9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63760" y="2889737"/>
            <a:ext cx="80000" cy="80000"/>
          </a:xfrm>
          <a:prstGeom prst="roundRect">
            <a:avLst>
              <a:gd name="adj" fmla="val 50000"/>
            </a:avLst>
          </a:prstGeom>
          <a:solidFill>
            <a:srgbClr val="4AD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83760" y="2743200"/>
            <a:ext cx="3048240" cy="373075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800" b="0" i="0">
                <a:solidFill>
                  <a:srgbClr val="7A7A85"/>
                </a:solidFill>
                <a:latin typeface="Inter"/>
              </a:rPr>
              <a:t>teo.cosmoscow.com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3760" y="3116275"/>
            <a:ext cx="3848240" cy="2735885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7A7A85"/>
                </a:solidFill>
                <a:latin typeface="Inter"/>
              </a:rPr>
              <a:t>[ СКРИНШОТ TEO ]</a:t>
            </a:r>
          </a:p>
          <a:p>
            <a:pPr algn="ctr"/>
            <a:r>
              <a:rPr sz="1200" b="0" i="0">
                <a:solidFill>
                  <a:srgbClr val="7A7A85"/>
                </a:solidFill>
                <a:latin typeface="Inter"/>
              </a:rPr>
              <a:t>дизайнер: подставить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0000" y="6035040"/>
            <a:ext cx="11072000" cy="548640"/>
          </a:xfrm>
          <a:prstGeom prst="roundRect">
            <a:avLst>
              <a:gd name="adj" fmla="val 10000"/>
            </a:avLst>
          </a:prstGeom>
          <a:solidFill>
            <a:srgbClr val="333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0000" y="6035040"/>
            <a:ext cx="11072000" cy="5486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300" b="1" i="0">
                <a:solidFill>
                  <a:srgbClr val="2B7CE9"/>
                </a:solidFill>
                <a:latin typeface="Manrope"/>
              </a:rPr>
              <a:t>Онлайн-платформа · авторы ↔ покупатели · нагрузка под аукцион · acoola.team/projects/teo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Доказательство · 2/5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371600"/>
            <a:ext cx="11072000" cy="7315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Manrope"/>
              </a:rPr>
              <a:t>wwerb.com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10312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0" i="1">
                <a:solidFill>
                  <a:srgbClr val="7A7A85"/>
                </a:solidFill>
                <a:latin typeface="Inter"/>
              </a:rPr>
              <a:t>Часовой магазин · SEO · 2 года работы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00" y="2743200"/>
            <a:ext cx="685800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 i="0">
                <a:solidFill>
                  <a:srgbClr val="2B7CE9"/>
                </a:solidFill>
                <a:latin typeface="Manrope"/>
              </a:rPr>
              <a:t>Март 2020.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00" y="3520440"/>
            <a:ext cx="685800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600" b="0" i="0">
                <a:solidFill>
                  <a:srgbClr val="FFFFFF"/>
                </a:solidFill>
                <a:latin typeface="Inter"/>
              </a:rPr>
              <a:t>Лид в категории «премиальные часы» стоит 18 400 ₽.</a:t>
            </a:r>
          </a:p>
          <a:p>
            <a:r>
              <a:rPr sz="1600" b="0" i="0">
                <a:solidFill>
                  <a:srgbClr val="FFFFFF"/>
                </a:solidFill>
                <a:latin typeface="Inter"/>
              </a:rPr>
              <a:t>Это потолок маржи — реклама убыточна.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0000" y="4297680"/>
            <a:ext cx="685800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600" b="0" i="0">
                <a:solidFill>
                  <a:srgbClr val="FFFFFF"/>
                </a:solidFill>
                <a:latin typeface="Inter"/>
              </a:rPr>
              <a:t>Взялись за SEO с фокусом</a:t>
            </a:r>
          </a:p>
          <a:p>
            <a:r>
              <a:rPr sz="1600" b="0" i="0">
                <a:solidFill>
                  <a:srgbClr val="FFFFFF"/>
                </a:solidFill>
                <a:latin typeface="Inter"/>
              </a:rPr>
              <a:t>на органику и торговую матрицу.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000" y="5074920"/>
            <a:ext cx="685800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Manrope"/>
              </a:rPr>
              <a:t>Через два года лид — 582 ₽.</a:t>
            </a:r>
          </a:p>
          <a:p>
            <a:r>
              <a:rPr sz="2200" b="1" i="0">
                <a:solidFill>
                  <a:srgbClr val="FFFFFF"/>
                </a:solidFill>
                <a:latin typeface="Manrope"/>
              </a:rPr>
              <a:t>Органика +223%. Через сайт прошло 164+ млн ₽ выручки.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83760" y="2743200"/>
            <a:ext cx="3848240" cy="3108960"/>
          </a:xfrm>
          <a:prstGeom prst="roundRect">
            <a:avLst>
              <a:gd name="adj" fmla="val 5000"/>
            </a:avLst>
          </a:prstGeom>
          <a:solidFill>
            <a:srgbClr val="333336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33760" y="2863200"/>
            <a:ext cx="354824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1" i="0">
                <a:solidFill>
                  <a:srgbClr val="7A7A85"/>
                </a:solidFill>
                <a:latin typeface="Inter"/>
              </a:rPr>
              <a:t>Органика · рост за 2 года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3760" y="5352160"/>
            <a:ext cx="3288240" cy="8000"/>
          </a:xfrm>
          <a:prstGeom prst="rect">
            <a:avLst/>
          </a:prstGeom>
          <a:solidFill>
            <a:srgbClr val="5555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33760" y="5216712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12051" y="5186584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190342" y="5156456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68634" y="5126328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346925" y="5096200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425217" y="5066072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503508" y="5035944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581800" y="5005816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660091" y="4975688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738382" y="4945560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816674" y="4915432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894965" y="4885304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973257" y="4855176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051548" y="4825048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129840" y="4794920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129840" y="4794920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208131" y="4749728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286422" y="4704536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364714" y="4659344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443005" y="4614152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521297" y="4568960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599588" y="4523768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9677880" y="4478576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9756171" y="4433384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9834462" y="4388192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9912754" y="4343000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9991045" y="4297808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10069337" y="4252616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10147628" y="4207424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10225920" y="4162231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10225920" y="4162231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10304211" y="4094444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10382502" y="4026656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10460794" y="3958868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10539085" y="3891080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10617377" y="3823292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10695668" y="3755504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10773960" y="3687716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10852251" y="3619928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10930542" y="3552140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11008834" y="3484352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11087125" y="3416564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11165417" y="3348776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11243708" y="3280988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11322000" y="3213200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7953760" y="5136712"/>
            <a:ext cx="220000" cy="22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8013760" y="5196712"/>
            <a:ext cx="100000" cy="10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9069840" y="4734920"/>
            <a:ext cx="180000" cy="18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10165920" y="4102231"/>
            <a:ext cx="180000" cy="18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11242000" y="3133200"/>
            <a:ext cx="220000" cy="22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11302000" y="3193200"/>
            <a:ext cx="100000" cy="10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263760" y="4866712"/>
            <a:ext cx="160000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nrope"/>
              </a:rPr>
              <a:t>2 757 визитов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52000" y="3423200"/>
            <a:ext cx="160000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100" b="1" i="0">
                <a:solidFill>
                  <a:srgbClr val="2B7CE9"/>
                </a:solidFill>
                <a:latin typeface="Manrope"/>
              </a:rPr>
              <a:t>6 548 · +223%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60000" y="6035040"/>
            <a:ext cx="11072000" cy="548640"/>
          </a:xfrm>
          <a:prstGeom prst="roundRect">
            <a:avLst>
              <a:gd name="adj" fmla="val 10000"/>
            </a:avLst>
          </a:prstGeom>
          <a:solidFill>
            <a:srgbClr val="333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60000" y="6035040"/>
            <a:ext cx="11072000" cy="5486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400" b="1" i="0">
                <a:solidFill>
                  <a:srgbClr val="2B7CE9"/>
                </a:solidFill>
                <a:latin typeface="Manrope"/>
              </a:rPr>
              <a:t>18 400 ₽  →  582 ₽   ·   органика +223%   ·   164+ млн ₽ выручки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Доказательство · 3/4 · КОНТЕКСТ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371600"/>
            <a:ext cx="11072000" cy="7315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Manrope"/>
              </a:rPr>
              <a:t>Kenner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10312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0" i="1">
                <a:solidFill>
                  <a:srgbClr val="7A7A85"/>
                </a:solidFill>
                <a:latin typeface="Inter"/>
              </a:rPr>
              <a:t>Производство мебели · Яндекс.Директ + аналитика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00" y="2743200"/>
            <a:ext cx="685800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 i="0">
                <a:solidFill>
                  <a:srgbClr val="2B7CE9"/>
                </a:solidFill>
                <a:latin typeface="Manrope"/>
              </a:rPr>
              <a:t>Старт работ.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00" y="3520440"/>
            <a:ext cx="685800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600" b="0" i="0">
                <a:solidFill>
                  <a:srgbClr val="FFFFFF"/>
                </a:solidFill>
                <a:latin typeface="Inter"/>
              </a:rPr>
              <a:t>Производитель мебели заходит в digital.</a:t>
            </a:r>
          </a:p>
          <a:p>
            <a:r>
              <a:rPr sz="1600" b="0" i="0">
                <a:solidFill>
                  <a:srgbClr val="FFFFFF"/>
                </a:solidFill>
                <a:latin typeface="Inter"/>
              </a:rPr>
              <a:t>Цель — прямые продажи через интернет-магазин,</a:t>
            </a:r>
          </a:p>
          <a:p>
            <a:r>
              <a:rPr sz="1600" b="0" i="0">
                <a:solidFill>
                  <a:srgbClr val="FFFFFF"/>
                </a:solidFill>
                <a:latin typeface="Inter"/>
              </a:rPr>
              <a:t>не через дилеров.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0000" y="4297680"/>
            <a:ext cx="685800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600" b="0" i="0">
                <a:solidFill>
                  <a:srgbClr val="FFFFFF"/>
                </a:solidFill>
                <a:latin typeface="Inter"/>
              </a:rPr>
              <a:t>Связали контекстную рекламу</a:t>
            </a:r>
          </a:p>
          <a:p>
            <a:r>
              <a:rPr sz="1600" b="0" i="0">
                <a:solidFill>
                  <a:srgbClr val="FFFFFF"/>
                </a:solidFill>
                <a:latin typeface="Inter"/>
              </a:rPr>
              <a:t>с аналитикой и воронкой сайта:</a:t>
            </a:r>
          </a:p>
          <a:p>
            <a:r>
              <a:rPr sz="1600" b="0" i="0">
                <a:solidFill>
                  <a:srgbClr val="FFFFFF"/>
                </a:solidFill>
                <a:latin typeface="Inter"/>
              </a:rPr>
              <a:t>оптимизация не по CPL, а по ROI кампании.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000" y="5074920"/>
            <a:ext cx="685800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Manrope"/>
              </a:rPr>
              <a:t>ROI 140%. CPL 1 374 ₽ за добавление в корзину,</a:t>
            </a:r>
          </a:p>
          <a:p>
            <a:r>
              <a:rPr sz="2200" b="1" i="0">
                <a:solidFill>
                  <a:srgbClr val="FFFFFF"/>
                </a:solidFill>
                <a:latin typeface="Manrope"/>
              </a:rPr>
              <a:t>4 067 ₽ за оформленную продажу.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83760" y="2743200"/>
            <a:ext cx="3848240" cy="3108960"/>
          </a:xfrm>
          <a:prstGeom prst="roundRect">
            <a:avLst>
              <a:gd name="adj" fmla="val 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83760" y="3017520"/>
            <a:ext cx="384824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ROI ПРОЕКТА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83760" y="3474720"/>
            <a:ext cx="3848240" cy="1463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3200" b="1" i="0">
                <a:solidFill>
                  <a:srgbClr val="FFFFFF"/>
                </a:solidFill>
                <a:latin typeface="Manrope"/>
              </a:rPr>
              <a:t>140%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83760" y="4983480"/>
            <a:ext cx="384824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Inter"/>
              </a:rPr>
              <a:t>CPL 1 374 ₽ (корзина)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83760" y="5349240"/>
            <a:ext cx="384824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Inter"/>
              </a:rPr>
              <a:t>CPL 4 067 ₽ (продажа)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0000" y="6035040"/>
            <a:ext cx="11072000" cy="548640"/>
          </a:xfrm>
          <a:prstGeom prst="roundRect">
            <a:avLst>
              <a:gd name="adj" fmla="val 10000"/>
            </a:avLst>
          </a:prstGeom>
          <a:solidFill>
            <a:srgbClr val="333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0000" y="6035040"/>
            <a:ext cx="11072000" cy="5486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300" b="1" i="0">
                <a:solidFill>
                  <a:srgbClr val="2B7CE9"/>
                </a:solidFill>
                <a:latin typeface="Manrope"/>
              </a:rPr>
              <a:t>ROI 140%   ·   CPL 1 374 ₽ / 4 067 ₽   ·   Яндекс.Директ + аналитика   ·   acoola.team/projects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Доказательство · 4/4 · УПРАВЛЕНИЕ РЕПУТАЦИЕЙ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371600"/>
            <a:ext cx="11072000" cy="7315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3600" b="1" i="0">
                <a:solidFill>
                  <a:srgbClr val="FFFFFF"/>
                </a:solidFill>
                <a:latin typeface="Manrope"/>
              </a:rPr>
              <a:t>Крупный бренд охранных систем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10312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0" i="1">
                <a:solidFill>
                  <a:srgbClr val="7A7A85"/>
                </a:solidFill>
                <a:latin typeface="Inter"/>
              </a:rPr>
              <a:t>Безопасность · работа с репутацией на 30+ площадках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00" y="2743200"/>
            <a:ext cx="685800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 i="0">
                <a:solidFill>
                  <a:srgbClr val="2B7CE9"/>
                </a:solidFill>
                <a:latin typeface="Manrope"/>
              </a:rPr>
              <a:t>Точка входа.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00" y="3520440"/>
            <a:ext cx="685800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600" b="0" i="0">
                <a:solidFill>
                  <a:srgbClr val="FFFFFF"/>
                </a:solidFill>
                <a:latin typeface="Inter"/>
              </a:rPr>
              <a:t>В выдаче по бренду — массив негативных отзывов.</a:t>
            </a:r>
          </a:p>
          <a:p>
            <a:r>
              <a:rPr sz="1600" b="0" i="0">
                <a:solidFill>
                  <a:srgbClr val="FFFFFF"/>
                </a:solidFill>
                <a:latin typeface="Inter"/>
              </a:rPr>
              <a:t>Конкуренты вытесняют из карточек 2ГИС, Яндекс.Карт.</a:t>
            </a:r>
          </a:p>
          <a:p>
            <a:r>
              <a:rPr sz="1600" b="0" i="0">
                <a:solidFill>
                  <a:srgbClr val="FFFFFF"/>
                </a:solidFill>
                <a:latin typeface="Inter"/>
              </a:rPr>
              <a:t>Доверие падает.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0000" y="4297680"/>
            <a:ext cx="685800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600" b="0" i="0">
                <a:solidFill>
                  <a:srgbClr val="FFFFFF"/>
                </a:solidFill>
                <a:latin typeface="Inter"/>
              </a:rPr>
              <a:t>Запустили систему: регламент работы с отзывами,</a:t>
            </a:r>
          </a:p>
          <a:p>
            <a:r>
              <a:rPr sz="1600" b="0" i="0">
                <a:solidFill>
                  <a:srgbClr val="FFFFFF"/>
                </a:solidFill>
                <a:latin typeface="Inter"/>
              </a:rPr>
              <a:t>карта присутствия, мониторинг через Brand Analytics,</a:t>
            </a:r>
          </a:p>
          <a:p>
            <a:r>
              <a:rPr sz="1600" b="0" i="0">
                <a:solidFill>
                  <a:srgbClr val="FFFFFF"/>
                </a:solidFill>
                <a:latin typeface="Inter"/>
              </a:rPr>
              <a:t>ежемесячные отчёты по динамике.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000" y="5074920"/>
            <a:ext cx="685800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Manrope"/>
              </a:rPr>
              <a:t>Доля негатива упала с 29% до 7%.</a:t>
            </a:r>
          </a:p>
          <a:p>
            <a:r>
              <a:rPr sz="2200" b="1" i="0">
                <a:solidFill>
                  <a:srgbClr val="FFFFFF"/>
                </a:solidFill>
                <a:latin typeface="Manrope"/>
              </a:rPr>
              <a:t>Средний рейтинг бренда — 4,07 ★.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83760" y="2743200"/>
            <a:ext cx="3848240" cy="3108960"/>
          </a:xfrm>
          <a:prstGeom prst="roundRect">
            <a:avLst>
              <a:gd name="adj" fmla="val 5000"/>
            </a:avLst>
          </a:prstGeom>
          <a:solidFill>
            <a:srgbClr val="333336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83760" y="2971800"/>
            <a:ext cx="3848240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000" b="1" i="0">
                <a:solidFill>
                  <a:srgbClr val="7A7A85"/>
                </a:solidFill>
                <a:latin typeface="Inter"/>
              </a:rPr>
              <a:t>ДОЛЯ НЕГАТИВА В ВЫДАЧЕ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66640" y="3383280"/>
            <a:ext cx="1097280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БЫЛО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66640" y="3657600"/>
            <a:ext cx="2385200" cy="994867"/>
          </a:xfrm>
          <a:prstGeom prst="roundRect">
            <a:avLst>
              <a:gd name="adj" fmla="val 10000"/>
            </a:avLst>
          </a:prstGeom>
          <a:solidFill>
            <a:srgbClr val="C8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17600" y="3566160"/>
            <a:ext cx="731520" cy="1177747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r"/>
            <a:r>
              <a:rPr sz="2800" b="1" i="0">
                <a:solidFill>
                  <a:srgbClr val="FFFFFF"/>
                </a:solidFill>
                <a:latin typeface="Manrope"/>
              </a:rPr>
              <a:t>29%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66640" y="4835347"/>
            <a:ext cx="1097280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СТАЛО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66640" y="5109667"/>
            <a:ext cx="572448" cy="994867"/>
          </a:xfrm>
          <a:prstGeom prst="roundRect">
            <a:avLst>
              <a:gd name="adj" fmla="val 1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76248" y="5018227"/>
            <a:ext cx="914400" cy="1177747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Manrope"/>
              </a:rPr>
              <a:t>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83760" y="5440680"/>
            <a:ext cx="384824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200" b="1" i="0">
                <a:solidFill>
                  <a:srgbClr val="2B7CE9"/>
                </a:solidFill>
                <a:latin typeface="Manrope"/>
              </a:rPr>
              <a:t>Средний рейтинг бренда — 4,07 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0000" y="6035040"/>
            <a:ext cx="11072000" cy="548640"/>
          </a:xfrm>
          <a:prstGeom prst="roundRect">
            <a:avLst>
              <a:gd name="adj" fmla="val 10000"/>
            </a:avLst>
          </a:prstGeom>
          <a:solidFill>
            <a:srgbClr val="333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0000" y="6035040"/>
            <a:ext cx="11072000" cy="5486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300" b="1" i="0">
                <a:solidFill>
                  <a:srgbClr val="2B7CE9"/>
                </a:solidFill>
                <a:latin typeface="Manrope"/>
              </a:rPr>
              <a:t>Негатив 29% → 7%   ·   рейтинг 4,07 ★   ·   30+ площадок мониторинга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Доказательство · бонус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280160"/>
            <a:ext cx="11072000" cy="5486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E06A6A"/>
                </a:solidFill>
                <a:latin typeface="Manrope"/>
              </a:rPr>
              <a:t>КЕЙС, КОТОРЫЙ НЕ ПОЛУЧИЛСЯ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1783080"/>
            <a:ext cx="11072000" cy="7315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nrope"/>
              </a:rPr>
              <a:t>Когда мы расстались первыми.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00" y="260604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300" b="0" i="1">
                <a:solidFill>
                  <a:srgbClr val="7A7A85"/>
                </a:solidFill>
                <a:latin typeface="Inter"/>
              </a:rPr>
              <a:t>Интернет-магазин стройматериалов · SEO + контекст · 7 месяцев [TODO: реальный кейс]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00" y="3154680"/>
            <a:ext cx="11072000" cy="8686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 i="0">
                <a:solidFill>
                  <a:srgbClr val="2B7CE9"/>
                </a:solidFill>
                <a:latin typeface="Manrope"/>
              </a:rPr>
              <a:t>2022 год.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0000" y="3794760"/>
            <a:ext cx="11072000" cy="8686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700" b="0" i="0">
                <a:solidFill>
                  <a:srgbClr val="FFFFFF"/>
                </a:solidFill>
                <a:latin typeface="Inter"/>
              </a:rPr>
              <a:t>Зашли в проект на договоре 6 месяцев.</a:t>
            </a:r>
          </a:p>
          <a:p>
            <a:r>
              <a:rPr sz="1700" b="0" i="0">
                <a:solidFill>
                  <a:srgbClr val="FFFFFF"/>
                </a:solidFill>
                <a:latin typeface="Inter"/>
              </a:rPr>
              <a:t>SEO + контекст. Цели — рост обращений на 40%.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000" y="4434840"/>
            <a:ext cx="11072000" cy="8686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600" b="0" i="0">
                <a:solidFill>
                  <a:srgbClr val="CCCCD0"/>
                </a:solidFill>
                <a:latin typeface="Inter"/>
              </a:rPr>
              <a:t>За полгода выросли позиции, но обращений почти нет.</a:t>
            </a:r>
          </a:p>
          <a:p>
            <a:r>
              <a:rPr sz="1600" b="0" i="0">
                <a:solidFill>
                  <a:srgbClr val="CCCCD0"/>
                </a:solidFill>
                <a:latin typeface="Inter"/>
              </a:rPr>
              <a:t>Проблема — в сайте: устаревшая структура, сломанная воронка,</a:t>
            </a:r>
          </a:p>
          <a:p>
            <a:r>
              <a:rPr sz="1600" b="0" i="0">
                <a:solidFill>
                  <a:srgbClr val="CCCCD0"/>
                </a:solidFill>
                <a:latin typeface="Inter"/>
              </a:rPr>
              <a:t>мобильная версия не работает. Клиент не был готов трогать сайт.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0000" y="5074920"/>
            <a:ext cx="11072000" cy="8686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Manrope"/>
              </a:rPr>
              <a:t>Расстались по нашей инициативе на 7-м месяце.</a:t>
            </a:r>
          </a:p>
          <a:p>
            <a:r>
              <a:rPr sz="1800" b="1" i="0">
                <a:solidFill>
                  <a:srgbClr val="FFFFFF"/>
                </a:solidFill>
                <a:latin typeface="Manrope"/>
              </a:rPr>
              <a:t>Вернули нерасходованную часть бюджета.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0000" y="5715000"/>
            <a:ext cx="11072000" cy="8686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600" b="1" i="0">
                <a:solidFill>
                  <a:srgbClr val="2B7CE9"/>
                </a:solidFill>
                <a:latin typeface="Inter"/>
              </a:rPr>
              <a:t>Что поняли: SEO не работает там, где сайт нужно переделать.</a:t>
            </a:r>
          </a:p>
          <a:p>
            <a:r>
              <a:rPr sz="1600" b="1" i="0">
                <a:solidFill>
                  <a:srgbClr val="2B7CE9"/>
                </a:solidFill>
                <a:latin typeface="Inter"/>
              </a:rPr>
              <a:t>С тех пор это в нашем стоп-листе — слайд 8.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0000" y="621792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000" b="0" i="1">
                <a:solidFill>
                  <a:srgbClr val="7A7A85"/>
                </a:solidFill>
                <a:latin typeface="Inter"/>
              </a:rPr>
              <a:t>[ЧЕРНОВИК — заменить на реальную историю от заказчика]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Доказательство · 3/5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280160"/>
            <a:ext cx="11072000" cy="7315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3600" b="1" i="0">
                <a:solidFill>
                  <a:srgbClr val="FFFFFF"/>
                </a:solidFill>
                <a:latin typeface="Manrope"/>
              </a:rPr>
              <a:t>Кого мы ведём годами.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196596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300" b="0" i="1">
                <a:solidFill>
                  <a:srgbClr val="7A7A85"/>
                </a:solidFill>
                <a:latin typeface="Inter"/>
              </a:rPr>
              <a:t>25 Tier-1 клиентов · средний срок сотрудничества — 3,5+ года</a:t>
            </a:r>
          </a:p>
        </p:txBody>
      </p:sp>
      <p:sp>
        <p:nvSpPr>
          <p:cNvPr id="8" name="Rectangle 7"/>
          <p:cNvSpPr/>
          <p:nvPr/>
        </p:nvSpPr>
        <p:spPr>
          <a:xfrm>
            <a:off x="2800280" y="2560320"/>
            <a:ext cx="8000" cy="3429000"/>
          </a:xfrm>
          <a:prstGeom prst="rect">
            <a:avLst/>
          </a:prstGeom>
          <a:solidFill>
            <a:srgbClr val="333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34520" y="2194560"/>
            <a:ext cx="73152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000" b="0" i="0">
                <a:solidFill>
                  <a:srgbClr val="7A7A85"/>
                </a:solidFill>
                <a:latin typeface="Inter"/>
              </a:rPr>
              <a:t>2018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9630" y="2560320"/>
            <a:ext cx="8000" cy="3429000"/>
          </a:xfrm>
          <a:prstGeom prst="rect">
            <a:avLst/>
          </a:prstGeom>
          <a:solidFill>
            <a:srgbClr val="333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3870" y="2194560"/>
            <a:ext cx="73152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000" b="0" i="0">
                <a:solidFill>
                  <a:srgbClr val="7A7A85"/>
                </a:solidFill>
                <a:latin typeface="Inter"/>
              </a:rPr>
              <a:t>2020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78980" y="2560320"/>
            <a:ext cx="8000" cy="3429000"/>
          </a:xfrm>
          <a:prstGeom prst="rect">
            <a:avLst/>
          </a:prstGeom>
          <a:solidFill>
            <a:srgbClr val="333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13220" y="2194560"/>
            <a:ext cx="73152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000" b="0" i="0">
                <a:solidFill>
                  <a:srgbClr val="7A7A85"/>
                </a:solidFill>
                <a:latin typeface="Inter"/>
              </a:rPr>
              <a:t>2022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18330" y="2560320"/>
            <a:ext cx="8000" cy="3429000"/>
          </a:xfrm>
          <a:prstGeom prst="rect">
            <a:avLst/>
          </a:prstGeom>
          <a:solidFill>
            <a:srgbClr val="333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52570" y="2194560"/>
            <a:ext cx="73152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000" b="0" i="0">
                <a:solidFill>
                  <a:srgbClr val="7A7A85"/>
                </a:solidFill>
                <a:latin typeface="Inter"/>
              </a:rPr>
              <a:t>2024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357680" y="2560320"/>
            <a:ext cx="8000" cy="3429000"/>
          </a:xfrm>
          <a:prstGeom prst="rect">
            <a:avLst/>
          </a:prstGeom>
          <a:solidFill>
            <a:srgbClr val="333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91920" y="2194560"/>
            <a:ext cx="73152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000" b="0" i="0">
                <a:solidFill>
                  <a:srgbClr val="7A7A85"/>
                </a:solidFill>
                <a:latin typeface="Inter"/>
              </a:rPr>
              <a:t>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0000" y="2661666"/>
            <a:ext cx="2103120" cy="11125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100" b="1" i="0">
                <a:solidFill>
                  <a:srgbClr val="6B4FE9"/>
                </a:solidFill>
                <a:latin typeface="Manrope"/>
              </a:rPr>
              <a:t>Финансы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880" y="2772918"/>
            <a:ext cx="1920240" cy="11125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100" b="1" i="0">
                <a:solidFill>
                  <a:srgbClr val="2B7CE9"/>
                </a:solidFill>
                <a:latin typeface="Inter"/>
              </a:rPr>
              <a:t>БыстроБанк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00280" y="2797950"/>
            <a:ext cx="8557400" cy="61188"/>
          </a:xfrm>
          <a:prstGeom prst="roundRect">
            <a:avLst>
              <a:gd name="adj" fmla="val 50000"/>
            </a:avLst>
          </a:prstGeom>
          <a:solidFill>
            <a:srgbClr val="28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869955" y="2797950"/>
            <a:ext cx="7487725" cy="61188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2880" y="2884170"/>
            <a:ext cx="1920240" cy="11125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100" b="1" i="0">
                <a:solidFill>
                  <a:srgbClr val="2B7CE9"/>
                </a:solidFill>
                <a:latin typeface="Inter"/>
              </a:rPr>
              <a:t>Трансстройбанк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00280" y="2909202"/>
            <a:ext cx="8557400" cy="61188"/>
          </a:xfrm>
          <a:prstGeom prst="roundRect">
            <a:avLst>
              <a:gd name="adj" fmla="val 50000"/>
            </a:avLst>
          </a:prstGeom>
          <a:solidFill>
            <a:srgbClr val="28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869955" y="2909202"/>
            <a:ext cx="7487725" cy="61188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2880" y="2995422"/>
            <a:ext cx="1920240" cy="11125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100" b="0" i="0">
                <a:solidFill>
                  <a:srgbClr val="FFFFFF"/>
                </a:solidFill>
                <a:latin typeface="Inter"/>
              </a:rPr>
              <a:t>NZT Rusfond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00280" y="3020454"/>
            <a:ext cx="8557400" cy="61188"/>
          </a:xfrm>
          <a:prstGeom prst="roundRect">
            <a:avLst>
              <a:gd name="adj" fmla="val 50000"/>
            </a:avLst>
          </a:prstGeom>
          <a:solidFill>
            <a:srgbClr val="28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078980" y="3020454"/>
            <a:ext cx="4278700" cy="611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2880" y="3106674"/>
            <a:ext cx="1920240" cy="11125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100" b="0" i="0">
                <a:solidFill>
                  <a:srgbClr val="FFFFFF"/>
                </a:solidFill>
                <a:latin typeface="Inter"/>
              </a:rPr>
              <a:t>PROFIT CONF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00280" y="3131706"/>
            <a:ext cx="8557400" cy="61188"/>
          </a:xfrm>
          <a:prstGeom prst="roundRect">
            <a:avLst>
              <a:gd name="adj" fmla="val 50000"/>
            </a:avLst>
          </a:prstGeom>
          <a:solidFill>
            <a:srgbClr val="28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078980" y="3131706"/>
            <a:ext cx="4278700" cy="611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2880" y="3217926"/>
            <a:ext cx="1920240" cy="11125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100" b="0" i="0">
                <a:solidFill>
                  <a:srgbClr val="7A7A85"/>
                </a:solidFill>
                <a:latin typeface="Inter"/>
              </a:rPr>
              <a:t>НПФ «Будущее»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00280" y="3242958"/>
            <a:ext cx="8557400" cy="61188"/>
          </a:xfrm>
          <a:prstGeom prst="roundRect">
            <a:avLst>
              <a:gd name="adj" fmla="val 50000"/>
            </a:avLst>
          </a:prstGeom>
          <a:solidFill>
            <a:srgbClr val="28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218330" y="3242958"/>
            <a:ext cx="2139350" cy="61188"/>
          </a:xfrm>
          <a:prstGeom prst="roundRect">
            <a:avLst>
              <a:gd name="adj" fmla="val 50000"/>
            </a:avLst>
          </a:prstGeom>
          <a:solidFill>
            <a:srgbClr val="7A7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0000" y="3329178"/>
            <a:ext cx="2103120" cy="11125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100" b="1" i="0">
                <a:solidFill>
                  <a:srgbClr val="6B4FE9"/>
                </a:solidFill>
                <a:latin typeface="Manrope"/>
              </a:rPr>
              <a:t>Недвижимость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2880" y="3440430"/>
            <a:ext cx="1920240" cy="11125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100" b="1" i="0">
                <a:solidFill>
                  <a:srgbClr val="2B7CE9"/>
                </a:solidFill>
                <a:latin typeface="Inter"/>
              </a:rPr>
              <a:t>Главстрой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800280" y="3465462"/>
            <a:ext cx="8557400" cy="61188"/>
          </a:xfrm>
          <a:prstGeom prst="roundRect">
            <a:avLst>
              <a:gd name="adj" fmla="val 50000"/>
            </a:avLst>
          </a:prstGeom>
          <a:solidFill>
            <a:srgbClr val="28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3869955" y="3465462"/>
            <a:ext cx="7487725" cy="61188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2880" y="3551682"/>
            <a:ext cx="1920240" cy="11125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100" b="1" i="0">
                <a:solidFill>
                  <a:srgbClr val="2B7CE9"/>
                </a:solidFill>
                <a:latin typeface="Inter"/>
              </a:rPr>
              <a:t>Pioneer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800280" y="3576714"/>
            <a:ext cx="8557400" cy="61188"/>
          </a:xfrm>
          <a:prstGeom prst="roundRect">
            <a:avLst>
              <a:gd name="adj" fmla="val 50000"/>
            </a:avLst>
          </a:prstGeom>
          <a:solidFill>
            <a:srgbClr val="28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3869955" y="3576714"/>
            <a:ext cx="7487725" cy="61188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42880" y="3662934"/>
            <a:ext cx="1920240" cy="11125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100" b="0" i="0">
                <a:solidFill>
                  <a:srgbClr val="FFFFFF"/>
                </a:solidFill>
                <a:latin typeface="Inter"/>
              </a:rPr>
              <a:t>DOGMA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800280" y="3687966"/>
            <a:ext cx="8557400" cy="61188"/>
          </a:xfrm>
          <a:prstGeom prst="roundRect">
            <a:avLst>
              <a:gd name="adj" fmla="val 50000"/>
            </a:avLst>
          </a:prstGeom>
          <a:solidFill>
            <a:srgbClr val="28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7078980" y="3687966"/>
            <a:ext cx="4278700" cy="611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42880" y="3774186"/>
            <a:ext cx="1920240" cy="11125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100" b="0" i="0">
                <a:solidFill>
                  <a:srgbClr val="FFFFFF"/>
                </a:solidFill>
                <a:latin typeface="Inter"/>
              </a:rPr>
              <a:t>Запстрой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800280" y="3799218"/>
            <a:ext cx="8557400" cy="61188"/>
          </a:xfrm>
          <a:prstGeom prst="roundRect">
            <a:avLst>
              <a:gd name="adj" fmla="val 50000"/>
            </a:avLst>
          </a:prstGeom>
          <a:solidFill>
            <a:srgbClr val="28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7078980" y="3799218"/>
            <a:ext cx="4278700" cy="611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42880" y="3885438"/>
            <a:ext cx="1920240" cy="11125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100" b="0" i="0">
                <a:solidFill>
                  <a:srgbClr val="7A7A85"/>
                </a:solidFill>
                <a:latin typeface="Inter"/>
              </a:rPr>
              <a:t>Prime Park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800280" y="3910470"/>
            <a:ext cx="8557400" cy="61188"/>
          </a:xfrm>
          <a:prstGeom prst="roundRect">
            <a:avLst>
              <a:gd name="adj" fmla="val 50000"/>
            </a:avLst>
          </a:prstGeom>
          <a:solidFill>
            <a:srgbClr val="28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9218330" y="3910470"/>
            <a:ext cx="2139350" cy="61188"/>
          </a:xfrm>
          <a:prstGeom prst="roundRect">
            <a:avLst>
              <a:gd name="adj" fmla="val 50000"/>
            </a:avLst>
          </a:prstGeom>
          <a:solidFill>
            <a:srgbClr val="7A7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60000" y="3996690"/>
            <a:ext cx="2103120" cy="11125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100" b="1" i="0">
                <a:solidFill>
                  <a:srgbClr val="6B4FE9"/>
                </a:solidFill>
                <a:latin typeface="Manrope"/>
              </a:rPr>
              <a:t>Промышленность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2880" y="4107942"/>
            <a:ext cx="1920240" cy="11125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100" b="0" i="0">
                <a:solidFill>
                  <a:srgbClr val="FFFFFF"/>
                </a:solidFill>
                <a:latin typeface="Inter"/>
              </a:rPr>
              <a:t>HOHMAN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800280" y="4132974"/>
            <a:ext cx="8557400" cy="61188"/>
          </a:xfrm>
          <a:prstGeom prst="roundRect">
            <a:avLst>
              <a:gd name="adj" fmla="val 50000"/>
            </a:avLst>
          </a:prstGeom>
          <a:solidFill>
            <a:srgbClr val="28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7078980" y="4132974"/>
            <a:ext cx="4278700" cy="611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42880" y="4219194"/>
            <a:ext cx="1920240" cy="11125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100" b="0" i="0">
                <a:solidFill>
                  <a:srgbClr val="FFFFFF"/>
                </a:solidFill>
                <a:latin typeface="Inter"/>
              </a:rPr>
              <a:t>Robomaster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800280" y="4244226"/>
            <a:ext cx="8557400" cy="61188"/>
          </a:xfrm>
          <a:prstGeom prst="roundRect">
            <a:avLst>
              <a:gd name="adj" fmla="val 50000"/>
            </a:avLst>
          </a:prstGeom>
          <a:solidFill>
            <a:srgbClr val="28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7078980" y="4244226"/>
            <a:ext cx="4278700" cy="611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42880" y="4330446"/>
            <a:ext cx="1920240" cy="11125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100" b="0" i="0">
                <a:solidFill>
                  <a:srgbClr val="FFFFFF"/>
                </a:solidFill>
                <a:latin typeface="Inter"/>
              </a:rPr>
              <a:t>РУСЭЛ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800280" y="4355478"/>
            <a:ext cx="8557400" cy="61188"/>
          </a:xfrm>
          <a:prstGeom prst="roundRect">
            <a:avLst>
              <a:gd name="adj" fmla="val 50000"/>
            </a:avLst>
          </a:prstGeom>
          <a:solidFill>
            <a:srgbClr val="28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7078980" y="4355478"/>
            <a:ext cx="4278700" cy="611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42880" y="4441698"/>
            <a:ext cx="1920240" cy="11125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100" b="0" i="0">
                <a:solidFill>
                  <a:srgbClr val="7A7A85"/>
                </a:solidFill>
                <a:latin typeface="Inter"/>
              </a:rPr>
              <a:t>Yarus Networks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800280" y="4466730"/>
            <a:ext cx="8557400" cy="61188"/>
          </a:xfrm>
          <a:prstGeom prst="roundRect">
            <a:avLst>
              <a:gd name="adj" fmla="val 50000"/>
            </a:avLst>
          </a:prstGeom>
          <a:solidFill>
            <a:srgbClr val="28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9218330" y="4466730"/>
            <a:ext cx="2139350" cy="61188"/>
          </a:xfrm>
          <a:prstGeom prst="roundRect">
            <a:avLst>
              <a:gd name="adj" fmla="val 50000"/>
            </a:avLst>
          </a:prstGeom>
          <a:solidFill>
            <a:srgbClr val="7A7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42880" y="4552950"/>
            <a:ext cx="1920240" cy="11125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100" b="0" i="0">
                <a:solidFill>
                  <a:srgbClr val="7A7A85"/>
                </a:solidFill>
                <a:latin typeface="Inter"/>
              </a:rPr>
              <a:t>Эксара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800280" y="4577982"/>
            <a:ext cx="8557400" cy="61188"/>
          </a:xfrm>
          <a:prstGeom prst="roundRect">
            <a:avLst>
              <a:gd name="adj" fmla="val 50000"/>
            </a:avLst>
          </a:prstGeom>
          <a:solidFill>
            <a:srgbClr val="28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9218330" y="4577982"/>
            <a:ext cx="2139350" cy="61188"/>
          </a:xfrm>
          <a:prstGeom prst="roundRect">
            <a:avLst>
              <a:gd name="adj" fmla="val 50000"/>
            </a:avLst>
          </a:prstGeom>
          <a:solidFill>
            <a:srgbClr val="7A7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60000" y="4664202"/>
            <a:ext cx="2103120" cy="11125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100" b="1" i="0">
                <a:solidFill>
                  <a:srgbClr val="6B4FE9"/>
                </a:solidFill>
                <a:latin typeface="Manrope"/>
              </a:rPr>
              <a:t>E-commerce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2880" y="4775454"/>
            <a:ext cx="1920240" cy="11125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100" b="0" i="0">
                <a:solidFill>
                  <a:srgbClr val="FFFFFF"/>
                </a:solidFill>
                <a:latin typeface="Inter"/>
              </a:rPr>
              <a:t>J.Prettier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800280" y="4800486"/>
            <a:ext cx="8557400" cy="61188"/>
          </a:xfrm>
          <a:prstGeom prst="roundRect">
            <a:avLst>
              <a:gd name="adj" fmla="val 50000"/>
            </a:avLst>
          </a:prstGeom>
          <a:solidFill>
            <a:srgbClr val="28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7078980" y="4800486"/>
            <a:ext cx="4278700" cy="611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42880" y="4886706"/>
            <a:ext cx="1920240" cy="11125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100" b="0" i="0">
                <a:solidFill>
                  <a:srgbClr val="FFFFFF"/>
                </a:solidFill>
                <a:latin typeface="Inter"/>
              </a:rPr>
              <a:t>Титан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800280" y="4911738"/>
            <a:ext cx="8557400" cy="61188"/>
          </a:xfrm>
          <a:prstGeom prst="roundRect">
            <a:avLst>
              <a:gd name="adj" fmla="val 50000"/>
            </a:avLst>
          </a:prstGeom>
          <a:solidFill>
            <a:srgbClr val="28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7078980" y="4911738"/>
            <a:ext cx="4278700" cy="611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42880" y="4997958"/>
            <a:ext cx="1920240" cy="11125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100" b="0" i="0">
                <a:solidFill>
                  <a:srgbClr val="FFFFFF"/>
                </a:solidFill>
                <a:latin typeface="Inter"/>
              </a:rPr>
              <a:t>MARKIN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800280" y="5022990"/>
            <a:ext cx="8557400" cy="61188"/>
          </a:xfrm>
          <a:prstGeom prst="roundRect">
            <a:avLst>
              <a:gd name="adj" fmla="val 50000"/>
            </a:avLst>
          </a:prstGeom>
          <a:solidFill>
            <a:srgbClr val="28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7078980" y="5022990"/>
            <a:ext cx="4278700" cy="611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742880" y="5109210"/>
            <a:ext cx="1920240" cy="11125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100" b="0" i="0">
                <a:solidFill>
                  <a:srgbClr val="7A7A85"/>
                </a:solidFill>
                <a:latin typeface="Inter"/>
              </a:rPr>
              <a:t>Coolstream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2800280" y="5134242"/>
            <a:ext cx="8557400" cy="61188"/>
          </a:xfrm>
          <a:prstGeom prst="roundRect">
            <a:avLst>
              <a:gd name="adj" fmla="val 50000"/>
            </a:avLst>
          </a:prstGeom>
          <a:solidFill>
            <a:srgbClr val="28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9218330" y="5134242"/>
            <a:ext cx="2139350" cy="61188"/>
          </a:xfrm>
          <a:prstGeom prst="roundRect">
            <a:avLst>
              <a:gd name="adj" fmla="val 50000"/>
            </a:avLst>
          </a:prstGeom>
          <a:solidFill>
            <a:srgbClr val="7A7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42880" y="5220462"/>
            <a:ext cx="1920240" cy="11125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100" b="0" i="0">
                <a:solidFill>
                  <a:srgbClr val="7A7A85"/>
                </a:solidFill>
                <a:latin typeface="Inter"/>
              </a:rPr>
              <a:t>Latrika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2800280" y="5245494"/>
            <a:ext cx="8557400" cy="61188"/>
          </a:xfrm>
          <a:prstGeom prst="roundRect">
            <a:avLst>
              <a:gd name="adj" fmla="val 50000"/>
            </a:avLst>
          </a:prstGeom>
          <a:solidFill>
            <a:srgbClr val="28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9218330" y="5245494"/>
            <a:ext cx="2139350" cy="61188"/>
          </a:xfrm>
          <a:prstGeom prst="roundRect">
            <a:avLst>
              <a:gd name="adj" fmla="val 50000"/>
            </a:avLst>
          </a:prstGeom>
          <a:solidFill>
            <a:srgbClr val="7A7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60000" y="5331714"/>
            <a:ext cx="2103120" cy="11125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100" b="1" i="0">
                <a:solidFill>
                  <a:srgbClr val="6B4FE9"/>
                </a:solidFill>
                <a:latin typeface="Manrope"/>
              </a:rPr>
              <a:t>IT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42880" y="5442966"/>
            <a:ext cx="1920240" cy="11125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100" b="1" i="0">
                <a:solidFill>
                  <a:srgbClr val="2B7CE9"/>
                </a:solidFill>
                <a:latin typeface="Inter"/>
              </a:rPr>
              <a:t>NGENIX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800280" y="5467998"/>
            <a:ext cx="8557400" cy="61188"/>
          </a:xfrm>
          <a:prstGeom prst="roundRect">
            <a:avLst>
              <a:gd name="adj" fmla="val 50000"/>
            </a:avLst>
          </a:prstGeom>
          <a:solidFill>
            <a:srgbClr val="28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3869955" y="5467998"/>
            <a:ext cx="7487725" cy="61188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42880" y="5554218"/>
            <a:ext cx="1920240" cy="11125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100" b="0" i="0">
                <a:solidFill>
                  <a:srgbClr val="FFFFFF"/>
                </a:solidFill>
                <a:latin typeface="Inter"/>
              </a:rPr>
              <a:t>DIS Group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2800280" y="5579250"/>
            <a:ext cx="8557400" cy="61188"/>
          </a:xfrm>
          <a:prstGeom prst="roundRect">
            <a:avLst>
              <a:gd name="adj" fmla="val 50000"/>
            </a:avLst>
          </a:prstGeom>
          <a:solidFill>
            <a:srgbClr val="28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7078980" y="5579250"/>
            <a:ext cx="4278700" cy="611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42880" y="5665470"/>
            <a:ext cx="1920240" cy="11125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100" b="0" i="0">
                <a:solidFill>
                  <a:srgbClr val="FFFFFF"/>
                </a:solidFill>
                <a:latin typeface="Inter"/>
              </a:rPr>
              <a:t>SBER API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2800280" y="5690502"/>
            <a:ext cx="8557400" cy="61188"/>
          </a:xfrm>
          <a:prstGeom prst="roundRect">
            <a:avLst>
              <a:gd name="adj" fmla="val 50000"/>
            </a:avLst>
          </a:prstGeom>
          <a:solidFill>
            <a:srgbClr val="28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7078980" y="5690502"/>
            <a:ext cx="4278700" cy="611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742880" y="5776722"/>
            <a:ext cx="1920240" cy="11125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100" b="0" i="0">
                <a:solidFill>
                  <a:srgbClr val="FFFFFF"/>
                </a:solidFill>
                <a:latin typeface="Inter"/>
              </a:rPr>
              <a:t>SBER DEVICES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2800280" y="5801754"/>
            <a:ext cx="8557400" cy="61188"/>
          </a:xfrm>
          <a:prstGeom prst="roundRect">
            <a:avLst>
              <a:gd name="adj" fmla="val 50000"/>
            </a:avLst>
          </a:prstGeom>
          <a:solidFill>
            <a:srgbClr val="28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7078980" y="5801754"/>
            <a:ext cx="4278700" cy="611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742880" y="5887974"/>
            <a:ext cx="1920240" cy="11125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100" b="0" i="0">
                <a:solidFill>
                  <a:srgbClr val="7A7A85"/>
                </a:solidFill>
                <a:latin typeface="Inter"/>
              </a:rPr>
              <a:t>textback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2800280" y="5913006"/>
            <a:ext cx="8557400" cy="61188"/>
          </a:xfrm>
          <a:prstGeom prst="roundRect">
            <a:avLst>
              <a:gd name="adj" fmla="val 50000"/>
            </a:avLst>
          </a:prstGeom>
          <a:solidFill>
            <a:srgbClr val="28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ounded Rectangle 96"/>
          <p:cNvSpPr/>
          <p:nvPr/>
        </p:nvSpPr>
        <p:spPr>
          <a:xfrm>
            <a:off x="9218330" y="5913006"/>
            <a:ext cx="2139350" cy="61188"/>
          </a:xfrm>
          <a:prstGeom prst="roundRect">
            <a:avLst>
              <a:gd name="adj" fmla="val 50000"/>
            </a:avLst>
          </a:prstGeom>
          <a:solidFill>
            <a:srgbClr val="7A7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560000" y="6135624"/>
            <a:ext cx="320040" cy="18288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971480" y="6080760"/>
            <a:ext cx="3200400" cy="29260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100" b="0" i="0">
                <a:solidFill>
                  <a:srgbClr val="CCCCD0"/>
                </a:solidFill>
                <a:latin typeface="Inter"/>
              </a:rPr>
              <a:t>5+ лет (Tier-1 длинная дистанция)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3943280" y="6135624"/>
            <a:ext cx="32004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4354760" y="6080760"/>
            <a:ext cx="3200400" cy="29260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100" b="0" i="0">
                <a:solidFill>
                  <a:srgbClr val="CCCCD0"/>
                </a:solidFill>
                <a:latin typeface="Inter"/>
              </a:rPr>
              <a:t>3–5 лет (зрелые отношения)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7326560" y="6135624"/>
            <a:ext cx="320040" cy="182880"/>
          </a:xfrm>
          <a:prstGeom prst="roundRect">
            <a:avLst>
              <a:gd name="adj" fmla="val 50000"/>
            </a:avLst>
          </a:prstGeom>
          <a:solidFill>
            <a:srgbClr val="7A7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7738040" y="6080760"/>
            <a:ext cx="3200400" cy="29260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100" b="0" i="0">
                <a:solidFill>
                  <a:srgbClr val="CCCCD0"/>
                </a:solidFill>
                <a:latin typeface="Inter"/>
              </a:rPr>
              <a:t>1–3 года (новые)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60000" y="6446520"/>
            <a:ext cx="1107200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900" b="0" i="1">
                <a:solidFill>
                  <a:srgbClr val="7A7A85"/>
                </a:solidFill>
                <a:latin typeface="Inter"/>
              </a:rPr>
              <a:t>Распределение по длительности — иллюстративное. Точные даты старта по каждому клиенту — [TODO: подтвердить с заказчиком].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Доказательство · 4/5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0000" y="1463040"/>
            <a:ext cx="4114800" cy="4572000"/>
          </a:xfrm>
          <a:prstGeom prst="roundRect">
            <a:avLst>
              <a:gd name="adj" fmla="val 4000"/>
            </a:avLst>
          </a:prstGeom>
          <a:solidFill>
            <a:srgbClr val="333336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0000" y="1463040"/>
            <a:ext cx="4114800" cy="4572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00" b="1" i="0">
                <a:solidFill>
                  <a:srgbClr val="7A7A85"/>
                </a:solidFill>
                <a:latin typeface="Inter"/>
              </a:rPr>
              <a:t>КОМАНДА · 50+ человек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6657" y="2040240"/>
            <a:ext cx="538285" cy="538285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6657" y="2040240"/>
            <a:ext cx="538285" cy="538285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nrope"/>
              </a:rPr>
              <a:t>А.К.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0000" y="2598525"/>
            <a:ext cx="12916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900" b="0" i="0">
                <a:solidFill>
                  <a:srgbClr val="CCCCD0"/>
                </a:solidFill>
                <a:latin typeface="Inter"/>
              </a:rPr>
              <a:t>Frontend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48257" y="2040240"/>
            <a:ext cx="538285" cy="538285"/>
          </a:xfrm>
          <a:prstGeom prst="roundRect">
            <a:avLst>
              <a:gd name="adj" fmla="val 5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348257" y="2040240"/>
            <a:ext cx="538285" cy="538285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nrope"/>
              </a:rPr>
              <a:t>Е.С.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71600" y="2598525"/>
            <a:ext cx="12916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900" b="0" i="0">
                <a:solidFill>
                  <a:srgbClr val="CCCCD0"/>
                </a:solidFill>
                <a:latin typeface="Inter"/>
              </a:rPr>
              <a:t>Backend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39857" y="2040240"/>
            <a:ext cx="538285" cy="538285"/>
          </a:xfrm>
          <a:prstGeom prst="roundRect">
            <a:avLst>
              <a:gd name="adj" fmla="val 50000"/>
            </a:avLst>
          </a:prstGeom>
          <a:solidFill>
            <a:srgbClr val="E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39857" y="2040240"/>
            <a:ext cx="538285" cy="538285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nrope"/>
              </a:rPr>
              <a:t>М.П.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63200" y="2598525"/>
            <a:ext cx="12916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900" b="0" i="0">
                <a:solidFill>
                  <a:srgbClr val="CCCCD0"/>
                </a:solidFill>
                <a:latin typeface="Inter"/>
              </a:rPr>
              <a:t>SEO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6657" y="3018940"/>
            <a:ext cx="538285" cy="538285"/>
          </a:xfrm>
          <a:prstGeom prst="roundRect">
            <a:avLst>
              <a:gd name="adj" fmla="val 50000"/>
            </a:avLst>
          </a:prstGeom>
          <a:solidFill>
            <a:srgbClr val="C9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6657" y="3018940"/>
            <a:ext cx="538285" cy="538285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nrope"/>
              </a:rPr>
              <a:t>Д.В.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0000" y="3577225"/>
            <a:ext cx="12916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900" b="0" i="0">
                <a:solidFill>
                  <a:srgbClr val="CCCCD0"/>
                </a:solidFill>
                <a:latin typeface="Inter"/>
              </a:rPr>
              <a:t>Контекст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48257" y="3018940"/>
            <a:ext cx="538285" cy="538285"/>
          </a:xfrm>
          <a:prstGeom prst="roundRect">
            <a:avLst>
              <a:gd name="adj" fmla="val 50000"/>
            </a:avLst>
          </a:prstGeom>
          <a:solidFill>
            <a:srgbClr val="4AD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348257" y="3018940"/>
            <a:ext cx="538285" cy="538285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nrope"/>
              </a:rPr>
              <a:t>О.Р.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1600" y="3577225"/>
            <a:ext cx="12916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900" b="0" i="0">
                <a:solidFill>
                  <a:srgbClr val="CCCCD0"/>
                </a:solidFill>
                <a:latin typeface="Inter"/>
              </a:rPr>
              <a:t>UX/UI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39857" y="3018940"/>
            <a:ext cx="538285" cy="538285"/>
          </a:xfrm>
          <a:prstGeom prst="roundRect">
            <a:avLst>
              <a:gd name="adj" fmla="val 50000"/>
            </a:avLst>
          </a:prstGeom>
          <a:solidFill>
            <a:srgbClr val="2EA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39857" y="3018940"/>
            <a:ext cx="538285" cy="538285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nrope"/>
              </a:rPr>
              <a:t>И.Б.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63200" y="3577225"/>
            <a:ext cx="12916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900" b="0" i="0">
                <a:solidFill>
                  <a:srgbClr val="CCCCD0"/>
                </a:solidFill>
                <a:latin typeface="Inter"/>
              </a:rPr>
              <a:t>ORM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6657" y="3997640"/>
            <a:ext cx="538285" cy="538285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56657" y="3997640"/>
            <a:ext cx="538285" cy="538285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nrope"/>
              </a:rPr>
              <a:t>Т.Н.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000" y="4555925"/>
            <a:ext cx="12916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900" b="0" i="0">
                <a:solidFill>
                  <a:srgbClr val="CCCCD0"/>
                </a:solidFill>
                <a:latin typeface="Inter"/>
              </a:rPr>
              <a:t>Аналитика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348257" y="3997640"/>
            <a:ext cx="538285" cy="538285"/>
          </a:xfrm>
          <a:prstGeom prst="roundRect">
            <a:avLst>
              <a:gd name="adj" fmla="val 5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348257" y="3997640"/>
            <a:ext cx="538285" cy="538285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nrope"/>
              </a:rPr>
              <a:t>С.Г.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71600" y="4555925"/>
            <a:ext cx="12916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900" b="0" i="0">
                <a:solidFill>
                  <a:srgbClr val="CCCCD0"/>
                </a:solidFill>
                <a:latin typeface="Inter"/>
              </a:rPr>
              <a:t>PM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39857" y="3997640"/>
            <a:ext cx="538285" cy="538285"/>
          </a:xfrm>
          <a:prstGeom prst="roundRect">
            <a:avLst>
              <a:gd name="adj" fmla="val 50000"/>
            </a:avLst>
          </a:prstGeom>
          <a:solidFill>
            <a:srgbClr val="E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39857" y="3997640"/>
            <a:ext cx="538285" cy="538285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nrope"/>
              </a:rPr>
              <a:t>А.М.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63200" y="4555925"/>
            <a:ext cx="12916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900" b="0" i="0">
                <a:solidFill>
                  <a:srgbClr val="CCCCD0"/>
                </a:solidFill>
                <a:latin typeface="Inter"/>
              </a:rPr>
              <a:t>QA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56657" y="4976340"/>
            <a:ext cx="538285" cy="538285"/>
          </a:xfrm>
          <a:prstGeom prst="roundRect">
            <a:avLst>
              <a:gd name="adj" fmla="val 50000"/>
            </a:avLst>
          </a:prstGeom>
          <a:solidFill>
            <a:srgbClr val="C9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56657" y="4976340"/>
            <a:ext cx="538285" cy="538285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nrope"/>
              </a:rPr>
              <a:t>Н.Л.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0000" y="5534625"/>
            <a:ext cx="12916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900" b="0" i="0">
                <a:solidFill>
                  <a:srgbClr val="CCCCD0"/>
                </a:solidFill>
                <a:latin typeface="Inter"/>
              </a:rPr>
              <a:t>Контент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348257" y="4976340"/>
            <a:ext cx="538285" cy="538285"/>
          </a:xfrm>
          <a:prstGeom prst="roundRect">
            <a:avLst>
              <a:gd name="adj" fmla="val 50000"/>
            </a:avLst>
          </a:prstGeom>
          <a:solidFill>
            <a:srgbClr val="4AD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348257" y="4976340"/>
            <a:ext cx="538285" cy="538285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nrope"/>
              </a:rPr>
              <a:t>К.Ш.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71600" y="5534625"/>
            <a:ext cx="12916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900" b="0" i="0">
                <a:solidFill>
                  <a:srgbClr val="CCCCD0"/>
                </a:solidFill>
                <a:latin typeface="Inter"/>
              </a:rPr>
              <a:t>Тех. лид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39857" y="4976340"/>
            <a:ext cx="538285" cy="538285"/>
          </a:xfrm>
          <a:prstGeom prst="roundRect">
            <a:avLst>
              <a:gd name="adj" fmla="val 50000"/>
            </a:avLst>
          </a:prstGeom>
          <a:solidFill>
            <a:srgbClr val="2EA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639857" y="4976340"/>
            <a:ext cx="538285" cy="538285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nrope"/>
              </a:rPr>
              <a:t>П.Ж.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63200" y="5534625"/>
            <a:ext cx="12916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900" b="0" i="0">
                <a:solidFill>
                  <a:srgbClr val="CCCCD0"/>
                </a:solidFill>
                <a:latin typeface="Inter"/>
              </a:rPr>
              <a:t>Директор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32000" y="1463040"/>
            <a:ext cx="1371600" cy="13716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0" b="1" i="0">
                <a:solidFill>
                  <a:srgbClr val="2B7CE9"/>
                </a:solidFill>
                <a:latin typeface="Manrope"/>
              </a:rPr>
              <a:t>«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32000" y="2286000"/>
            <a:ext cx="6500000" cy="2743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400" b="0" i="1">
                <a:solidFill>
                  <a:srgbClr val="000000"/>
                </a:solidFill>
                <a:latin typeface="Manrope"/>
              </a:rPr>
              <a:t>Мы отказываемся от проектов,</a:t>
            </a:r>
          </a:p>
          <a:p>
            <a:r>
              <a:rPr sz="2400" b="0" i="1">
                <a:solidFill>
                  <a:srgbClr val="000000"/>
                </a:solidFill>
                <a:latin typeface="Manrope"/>
              </a:rPr>
              <a:t>где клиент платит за SEO,</a:t>
            </a:r>
          </a:p>
          <a:p>
            <a:r>
              <a:rPr sz="2400" b="0" i="1">
                <a:solidFill>
                  <a:srgbClr val="000000"/>
                </a:solidFill>
                <a:latin typeface="Manrope"/>
              </a:rPr>
              <a:t>но не готов трогать сайт.</a:t>
            </a:r>
          </a:p>
          <a:p>
            <a:endParaRPr sz="2400" b="0" i="1">
              <a:solidFill>
                <a:srgbClr val="000000"/>
              </a:solidFill>
              <a:latin typeface="Manrope"/>
            </a:endParaRPr>
          </a:p>
          <a:p>
            <a:r>
              <a:rPr sz="2400" b="0" i="1">
                <a:solidFill>
                  <a:srgbClr val="000000"/>
                </a:solidFill>
                <a:latin typeface="Manrope"/>
              </a:rPr>
              <a:t>Это нечестно для обеих сторон.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32000" y="4572000"/>
            <a:ext cx="6500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 i="0">
                <a:solidFill>
                  <a:srgbClr val="7A7A85"/>
                </a:solidFill>
                <a:latin typeface="Inter"/>
              </a:rPr>
              <a:t>— [Имя Фамилия], директор по производству  ·  [TODO]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32000" y="4937760"/>
            <a:ext cx="6500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 i="1">
                <a:solidFill>
                  <a:srgbClr val="7A7A85"/>
                </a:solidFill>
                <a:latin typeface="Inter"/>
              </a:rPr>
              <a:t>[ ЧЕРНОВИК — заменить на реальную цитату руководителя ]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132000" y="5577840"/>
            <a:ext cx="650000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132000" y="5577840"/>
            <a:ext cx="6500000" cy="502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Manrope"/>
              </a:rPr>
              <a:t>50+ специалистов  ·  6 направлений  ·  один офис в Москве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История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280160"/>
            <a:ext cx="11072000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3800" b="1" i="0">
                <a:solidFill>
                  <a:srgbClr val="000000"/>
                </a:solidFill>
                <a:latin typeface="Manrope"/>
              </a:rPr>
              <a:t>От первого проекта до 70+ ежемесячно.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19456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 i="1">
                <a:solidFill>
                  <a:srgbClr val="7A7A85"/>
                </a:solidFill>
                <a:latin typeface="Inter"/>
              </a:rPr>
              <a:t>От первого договора до 70+ проектов ежемесячно — за 6 лет.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00" y="3566160"/>
            <a:ext cx="10912000" cy="8000"/>
          </a:xfrm>
          <a:prstGeom prst="rect">
            <a:avLst/>
          </a:prstGeom>
          <a:solidFill>
            <a:srgbClr val="CCC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0000" y="2926080"/>
            <a:ext cx="2134400" cy="4114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2000" b="1" i="0">
                <a:solidFill>
                  <a:srgbClr val="2B7CE9"/>
                </a:solidFill>
                <a:latin typeface="Manrope"/>
              </a:rPr>
              <a:t>2019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37200" y="3480160"/>
            <a:ext cx="180000" cy="18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60000" y="3746160"/>
            <a:ext cx="2134400" cy="232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2880" y="3974760"/>
            <a:ext cx="1768640" cy="471278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400" b="1" i="0" dirty="0" err="1">
                <a:solidFill>
                  <a:srgbClr val="000000"/>
                </a:solidFill>
                <a:latin typeface="Manrope"/>
              </a:rPr>
              <a:t>Основание</a:t>
            </a:r>
            <a:r>
              <a:rPr sz="1400" b="1" i="0" dirty="0">
                <a:solidFill>
                  <a:srgbClr val="000000"/>
                </a:solidFill>
                <a:latin typeface="Manrope"/>
              </a:rPr>
              <a:t> </a:t>
            </a:r>
            <a:r>
              <a:rPr sz="1400" b="1" i="0" dirty="0" err="1">
                <a:solidFill>
                  <a:srgbClr val="000000"/>
                </a:solidFill>
                <a:latin typeface="Manrope"/>
              </a:rPr>
              <a:t>Acoola</a:t>
            </a:r>
            <a:r>
              <a:rPr lang="ru-RU" sz="1400" b="1" i="0" dirty="0">
                <a:solidFill>
                  <a:srgbClr val="000000"/>
                </a:solidFill>
                <a:latin typeface="Manrope"/>
              </a:rPr>
              <a:t> </a:t>
            </a:r>
            <a:r>
              <a:rPr lang="en-US" sz="1400" b="1" i="0" dirty="0">
                <a:solidFill>
                  <a:srgbClr val="000000"/>
                </a:solidFill>
                <a:latin typeface="Manrope"/>
              </a:rPr>
              <a:t>Team</a:t>
            </a:r>
            <a:endParaRPr sz="1400" b="1" i="0" dirty="0">
              <a:solidFill>
                <a:srgbClr val="000000"/>
              </a:solidFill>
              <a:latin typeface="Manrope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2880" y="5026320"/>
            <a:ext cx="1768640" cy="9487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000" b="0" i="0">
                <a:solidFill>
                  <a:srgbClr val="7A7A85"/>
                </a:solidFill>
                <a:latin typeface="Inter"/>
              </a:rPr>
              <a:t>Первая команда — разработка сайтов под бизнес-задачи.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94400" y="2926080"/>
            <a:ext cx="2134400" cy="4114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2000" b="1" i="0">
                <a:solidFill>
                  <a:srgbClr val="2B7CE9"/>
                </a:solidFill>
                <a:latin typeface="Manrope"/>
              </a:rPr>
              <a:t>2020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71600" y="3480160"/>
            <a:ext cx="180000" cy="18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794400" y="3746160"/>
            <a:ext cx="2134400" cy="232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77280" y="3974760"/>
            <a:ext cx="1768640" cy="8686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Manrope"/>
              </a:rPr>
              <a:t>Золотой партнёр</a:t>
            </a:r>
          </a:p>
          <a:p>
            <a:pPr algn="ctr"/>
            <a:r>
              <a:rPr sz="1400" b="1" i="0">
                <a:solidFill>
                  <a:srgbClr val="000000"/>
                </a:solidFill>
                <a:latin typeface="Manrope"/>
              </a:rPr>
              <a:t>1С Битрикс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7280" y="5026320"/>
            <a:ext cx="1768640" cy="9487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000" b="0" i="0">
                <a:solidFill>
                  <a:srgbClr val="7A7A85"/>
                </a:solidFill>
                <a:latin typeface="Inter"/>
              </a:rPr>
              <a:t>Подтверждённая экспертиза CMS-разработки.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8800" y="2926080"/>
            <a:ext cx="2134400" cy="4114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2000" b="1" i="0">
                <a:solidFill>
                  <a:srgbClr val="2B7CE9"/>
                </a:solidFill>
                <a:latin typeface="Manrope"/>
              </a:rPr>
              <a:t>2022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06000" y="3480160"/>
            <a:ext cx="180000" cy="18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028800" y="3746160"/>
            <a:ext cx="2134400" cy="232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11680" y="3974760"/>
            <a:ext cx="1768640" cy="8686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Manrope"/>
              </a:rPr>
              <a:t>50+ команда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1680" y="5026320"/>
            <a:ext cx="1768640" cy="9487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000" b="0" i="0">
                <a:solidFill>
                  <a:srgbClr val="7A7A85"/>
                </a:solidFill>
                <a:latin typeface="Inter"/>
              </a:rPr>
              <a:t>Расширение до 6 направлений в одной команде.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3200" y="2926080"/>
            <a:ext cx="2134400" cy="4114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2000" b="1" i="0">
                <a:solidFill>
                  <a:srgbClr val="2B7CE9"/>
                </a:solidFill>
                <a:latin typeface="Manrope"/>
              </a:rPr>
              <a:t>2024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40400" y="3480160"/>
            <a:ext cx="180000" cy="18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263200" y="3746160"/>
            <a:ext cx="2134400" cy="232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46080" y="3974760"/>
            <a:ext cx="1768640" cy="8686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Manrope"/>
              </a:rPr>
              <a:t>NPS 100</a:t>
            </a:r>
          </a:p>
          <a:p>
            <a:pPr algn="ctr"/>
            <a:r>
              <a:rPr sz="1400" b="1" i="0">
                <a:solidFill>
                  <a:srgbClr val="000000"/>
                </a:solidFill>
                <a:latin typeface="Manrope"/>
              </a:rPr>
              <a:t>за последний год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46080" y="5026320"/>
            <a:ext cx="1768640" cy="9487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000" b="0" i="0">
                <a:solidFill>
                  <a:srgbClr val="7A7A85"/>
                </a:solidFill>
                <a:latin typeface="Inter"/>
              </a:rPr>
              <a:t>По независимой оценке программы качества 1С Битрикс.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97600" y="2926080"/>
            <a:ext cx="2134400" cy="4114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2000" b="1" i="0">
                <a:solidFill>
                  <a:srgbClr val="6B4FE9"/>
                </a:solidFill>
                <a:latin typeface="Manrope"/>
              </a:rPr>
              <a:t>2025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74800" y="3480160"/>
            <a:ext cx="180000" cy="180000"/>
          </a:xfrm>
          <a:prstGeom prst="roundRect">
            <a:avLst>
              <a:gd name="adj" fmla="val 5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497600" y="3746160"/>
            <a:ext cx="2134400" cy="2320320"/>
          </a:xfrm>
          <a:prstGeom prst="roundRect">
            <a:avLst>
              <a:gd name="adj" fmla="val 5000"/>
            </a:avLst>
          </a:prstGeom>
          <a:solidFill>
            <a:srgbClr val="ECE6FE"/>
          </a:solidFill>
          <a:ln w="6350">
            <a:solidFill>
              <a:srgbClr val="6B4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80480" y="3974760"/>
            <a:ext cx="1768640" cy="8686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Manrope"/>
              </a:rPr>
              <a:t>Запуск GEO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0480" y="5026320"/>
            <a:ext cx="1768640" cy="9487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000" b="0" i="0">
                <a:solidFill>
                  <a:srgbClr val="7A7A85"/>
                </a:solidFill>
                <a:latin typeface="Inter"/>
              </a:rPr>
              <a:t>Новое направление — видимость бренда в AI-поиске.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0000" y="635508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200" b="0" i="1">
                <a:solidFill>
                  <a:srgbClr val="2B7CE9"/>
                </a:solidFill>
                <a:latin typeface="Inter"/>
              </a:rPr>
              <a:t>70+ проектов ежемесячно · 3,5+ года средний срок сотрудничества · 95% довольных клиентов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Доказательство · 5/5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371600"/>
            <a:ext cx="11072000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3800" b="1" i="0">
                <a:solidFill>
                  <a:srgbClr val="000000"/>
                </a:solidFill>
                <a:latin typeface="Manrope"/>
              </a:rPr>
              <a:t>Внешняя валидация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0000" y="2651760"/>
            <a:ext cx="1768800" cy="1691640"/>
          </a:xfrm>
          <a:prstGeom prst="roundRect">
            <a:avLst>
              <a:gd name="adj" fmla="val 7000"/>
            </a:avLst>
          </a:prstGeom>
          <a:solidFill>
            <a:srgbClr val="C9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4592" y="2816352"/>
            <a:ext cx="1439616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Manrope"/>
              </a:rPr>
              <a:t>Золотой партнёр</a:t>
            </a:r>
          </a:p>
          <a:p>
            <a:r>
              <a:rPr sz="1400" b="1" i="0">
                <a:solidFill>
                  <a:srgbClr val="FFFFFF"/>
                </a:solidFill>
                <a:latin typeface="Manrope"/>
              </a:rPr>
              <a:t>1С Битрикс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592" y="3749040"/>
            <a:ext cx="1439616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CCCCD0"/>
                </a:solidFill>
                <a:latin typeface="Inter"/>
              </a:rPr>
              <a:t>Автоматизируем бизнес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08800" y="2651760"/>
            <a:ext cx="1768800" cy="1691640"/>
          </a:xfrm>
          <a:prstGeom prst="roundRect">
            <a:avLst>
              <a:gd name="adj" fmla="val 7000"/>
            </a:avLst>
          </a:prstGeom>
          <a:solidFill>
            <a:srgbClr val="C8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73392" y="2816352"/>
            <a:ext cx="1439616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Manrope"/>
              </a:rPr>
              <a:t>Мониторинг</a:t>
            </a:r>
          </a:p>
          <a:p>
            <a:r>
              <a:rPr sz="1400" b="1" i="0">
                <a:solidFill>
                  <a:srgbClr val="FFFFFF"/>
                </a:solidFill>
                <a:latin typeface="Manrope"/>
              </a:rPr>
              <a:t>1С Битрикс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3392" y="3749040"/>
            <a:ext cx="1439616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CCCCD0"/>
                </a:solidFill>
                <a:latin typeface="Inter"/>
              </a:rPr>
              <a:t>Участник программы качества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7600" y="2651760"/>
            <a:ext cx="1768800" cy="1691640"/>
          </a:xfrm>
          <a:prstGeom prst="roundRect">
            <a:avLst>
              <a:gd name="adj" fmla="val 7000"/>
            </a:avLst>
          </a:prstGeom>
          <a:solidFill>
            <a:srgbClr val="1A4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22192" y="2816352"/>
            <a:ext cx="1439616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Manrope"/>
              </a:rPr>
              <a:t>Сертифицированное</a:t>
            </a:r>
          </a:p>
          <a:p>
            <a:r>
              <a:rPr sz="1400" b="1" i="0">
                <a:solidFill>
                  <a:srgbClr val="FFFFFF"/>
                </a:solidFill>
                <a:latin typeface="Manrope"/>
              </a:rPr>
              <a:t>агентство Яндекса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2192" y="3749040"/>
            <a:ext cx="1439616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CCCCD0"/>
                </a:solidFill>
                <a:latin typeface="Inter"/>
              </a:rPr>
              <a:t>Яндекс.Директ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06400" y="2651760"/>
            <a:ext cx="1768800" cy="1691640"/>
          </a:xfrm>
          <a:prstGeom prst="roundRect">
            <a:avLst>
              <a:gd name="adj" fmla="val 7000"/>
            </a:avLst>
          </a:prstGeom>
          <a:solidFill>
            <a:srgbClr val="1F1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70992" y="2816352"/>
            <a:ext cx="1439616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Manrope"/>
              </a:rPr>
              <a:t>Google</a:t>
            </a:r>
          </a:p>
          <a:p>
            <a:r>
              <a:rPr sz="1400" b="1" i="0">
                <a:solidFill>
                  <a:srgbClr val="FFFFFF"/>
                </a:solidFill>
                <a:latin typeface="Manrope"/>
              </a:rPr>
              <a:t>Partner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0992" y="3749040"/>
            <a:ext cx="1439616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CCCCD0"/>
                </a:solidFill>
                <a:latin typeface="Inter"/>
              </a:rPr>
              <a:t>Сертифицированный партнёр Google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49520" y="2651760"/>
            <a:ext cx="3482480" cy="1691640"/>
          </a:xfrm>
          <a:prstGeom prst="roundRect">
            <a:avLst>
              <a:gd name="adj" fmla="val 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49520" y="2788920"/>
            <a:ext cx="3482480" cy="10058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8400" b="1" i="0">
                <a:solidFill>
                  <a:srgbClr val="FFFFFF"/>
                </a:solidFill>
                <a:latin typeface="Manrope"/>
              </a:rPr>
              <a:t>95%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9520" y="3886200"/>
            <a:ext cx="348248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Inter"/>
              </a:rPr>
              <a:t>довольных клиентов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0000" y="4572000"/>
            <a:ext cx="270800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2880" y="4846320"/>
            <a:ext cx="234224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500" b="1" i="0">
                <a:solidFill>
                  <a:srgbClr val="000000"/>
                </a:solidFill>
                <a:latin typeface="Manrope"/>
              </a:rPr>
              <a:t>Яндекс.Метрика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880" y="5349240"/>
            <a:ext cx="234224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 i="0">
                <a:solidFill>
                  <a:srgbClr val="7A7A85"/>
                </a:solidFill>
                <a:latin typeface="Inter"/>
              </a:rPr>
              <a:t>сертификация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48000" y="4572000"/>
            <a:ext cx="270800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30880" y="4846320"/>
            <a:ext cx="234224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500" b="1" i="0">
                <a:solidFill>
                  <a:srgbClr val="000000"/>
                </a:solidFill>
                <a:latin typeface="Manrope"/>
              </a:rPr>
              <a:t>Google 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30880" y="5349240"/>
            <a:ext cx="234224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 i="0">
                <a:solidFill>
                  <a:srgbClr val="7A7A85"/>
                </a:solidFill>
                <a:latin typeface="Inter"/>
              </a:rPr>
              <a:t>сертификация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36000" y="4572000"/>
            <a:ext cx="270800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18880" y="4846320"/>
            <a:ext cx="234224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500" b="1" i="0">
                <a:solidFill>
                  <a:srgbClr val="000000"/>
                </a:solidFill>
                <a:latin typeface="Manrope"/>
              </a:rPr>
              <a:t>Brand Analytics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8880" y="5349240"/>
            <a:ext cx="234224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 i="0">
                <a:solidFill>
                  <a:srgbClr val="7A7A85"/>
                </a:solidFill>
                <a:latin typeface="Inter"/>
              </a:rPr>
              <a:t>сертификация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24000" y="4572000"/>
            <a:ext cx="270800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06880" y="4846320"/>
            <a:ext cx="234224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500" b="1" i="0">
                <a:solidFill>
                  <a:srgbClr val="000000"/>
                </a:solidFill>
                <a:latin typeface="Manrope"/>
              </a:rPr>
              <a:t>Calltouch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06880" y="5349240"/>
            <a:ext cx="234224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 i="0">
                <a:solidFill>
                  <a:srgbClr val="7A7A85"/>
                </a:solidFill>
                <a:latin typeface="Inter"/>
              </a:rPr>
              <a:t>сертификация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0000" y="635508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000" b="0" i="1">
                <a:solidFill>
                  <a:srgbClr val="7A7A85"/>
                </a:solidFill>
                <a:latin typeface="Inter"/>
              </a:rPr>
              <a:t>NPS 100 за последний год · 95 за общий период — программа мониторинга качества 1С Битрикс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Что бывает, если выбрать дешевле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280160"/>
            <a:ext cx="11072000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3800" b="1" i="0">
                <a:solidFill>
                  <a:srgbClr val="000000"/>
                </a:solidFill>
                <a:latin typeface="Manrope"/>
              </a:rPr>
              <a:t>Цена ошибки выбора подрядчика.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19456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 i="1">
                <a:solidFill>
                  <a:srgbClr val="7A7A85"/>
                </a:solidFill>
                <a:latin typeface="Inter"/>
              </a:rPr>
              <a:t>Иллюстративный сценарий [TODO: подтвердить числа с заказчиком]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00" y="2743200"/>
            <a:ext cx="77724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1" i="0">
                <a:solidFill>
                  <a:srgbClr val="C83E3E"/>
                </a:solidFill>
                <a:latin typeface="Inter"/>
              </a:rPr>
              <a:t>ВАРИАНТ A — Фрилансер за 80 000 ₽/мес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0000" y="3246120"/>
            <a:ext cx="188310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C8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2880" y="3429000"/>
            <a:ext cx="151734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1" i="0">
                <a:solidFill>
                  <a:srgbClr val="C83E3E"/>
                </a:solidFill>
                <a:latin typeface="Manrope"/>
              </a:rPr>
              <a:t>М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880" y="3840480"/>
            <a:ext cx="1517340" cy="5029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000000"/>
                </a:solidFill>
                <a:latin typeface="Manrope"/>
              </a:rPr>
              <a:t>Найм фрилансера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880" y="4434840"/>
            <a:ext cx="1517340" cy="10972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 i="0">
                <a:solidFill>
                  <a:srgbClr val="7A7A85"/>
                </a:solidFill>
                <a:latin typeface="Inter"/>
              </a:rPr>
              <a:t>Экономия −170 000 ₽</a:t>
            </a:r>
          </a:p>
          <a:p>
            <a:r>
              <a:rPr sz="1100" b="0" i="0">
                <a:solidFill>
                  <a:srgbClr val="7A7A85"/>
                </a:solidFill>
                <a:latin typeface="Inter"/>
              </a:rPr>
              <a:t>vs наша вилка от 250 000 ₽/мес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23100" y="3246120"/>
            <a:ext cx="188310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C8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05980" y="3429000"/>
            <a:ext cx="151734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1" i="0">
                <a:solidFill>
                  <a:srgbClr val="C83E3E"/>
                </a:solidFill>
                <a:latin typeface="Manrope"/>
              </a:rPr>
              <a:t>М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5980" y="3840480"/>
            <a:ext cx="1517340" cy="5029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000000"/>
                </a:solidFill>
                <a:latin typeface="Manrope"/>
              </a:rPr>
              <a:t>Сайт не доработан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05980" y="4434840"/>
            <a:ext cx="1517340" cy="10972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 i="0">
                <a:solidFill>
                  <a:srgbClr val="7A7A85"/>
                </a:solidFill>
                <a:latin typeface="Inter"/>
              </a:rPr>
              <a:t>Бюджет на контекст слит</a:t>
            </a:r>
          </a:p>
          <a:p>
            <a:r>
              <a:rPr sz="1100" b="0" i="0">
                <a:solidFill>
                  <a:srgbClr val="7A7A85"/>
                </a:solidFill>
                <a:latin typeface="Inter"/>
              </a:rPr>
              <a:t>−450 000 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6200" y="3246120"/>
            <a:ext cx="188310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C8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69080" y="3429000"/>
            <a:ext cx="151734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1" i="0">
                <a:solidFill>
                  <a:srgbClr val="C83E3E"/>
                </a:solidFill>
                <a:latin typeface="Manrope"/>
              </a:rPr>
              <a:t>М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9080" y="3840480"/>
            <a:ext cx="1517340" cy="5029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000000"/>
                </a:solidFill>
                <a:latin typeface="Manrope"/>
              </a:rPr>
              <a:t>Новый подрядчик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9080" y="4434840"/>
            <a:ext cx="1517340" cy="10972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 i="0">
                <a:solidFill>
                  <a:srgbClr val="7A7A85"/>
                </a:solidFill>
                <a:latin typeface="Inter"/>
              </a:rPr>
              <a:t>Переделка с нуля</a:t>
            </a:r>
          </a:p>
          <a:p>
            <a:r>
              <a:rPr sz="1100" b="0" i="0">
                <a:solidFill>
                  <a:srgbClr val="7A7A85"/>
                </a:solidFill>
                <a:latin typeface="Inter"/>
              </a:rPr>
              <a:t>−350 000 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9300" y="3246120"/>
            <a:ext cx="188310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C8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32180" y="3429000"/>
            <a:ext cx="151734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1" i="0">
                <a:solidFill>
                  <a:srgbClr val="C83E3E"/>
                </a:solidFill>
                <a:latin typeface="Manrope"/>
              </a:rPr>
              <a:t>М 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32180" y="3840480"/>
            <a:ext cx="1517340" cy="5029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000000"/>
                </a:solidFill>
                <a:latin typeface="Manrope"/>
              </a:rPr>
              <a:t>Сайт работает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32180" y="4434840"/>
            <a:ext cx="1517340" cy="10972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 i="0">
                <a:solidFill>
                  <a:srgbClr val="7A7A85"/>
                </a:solidFill>
                <a:latin typeface="Inter"/>
              </a:rPr>
              <a:t>Простой 8 месяцев</a:t>
            </a:r>
          </a:p>
          <a:p>
            <a:r>
              <a:rPr sz="1100" b="0" i="0">
                <a:solidFill>
                  <a:srgbClr val="7A7A85"/>
                </a:solidFill>
                <a:latin typeface="Inter"/>
              </a:rPr>
              <a:t>~600 000 ₽ упущенной выручки</a:t>
            </a:r>
          </a:p>
          <a:p>
            <a:r>
              <a:rPr sz="1100" b="0" i="0">
                <a:solidFill>
                  <a:srgbClr val="7A7A85"/>
                </a:solidFill>
                <a:latin typeface="Inter"/>
              </a:rPr>
              <a:t>[TODO: уточнить под нишу]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06720" y="2743200"/>
            <a:ext cx="3025280" cy="3291840"/>
          </a:xfrm>
          <a:prstGeom prst="roundRect">
            <a:avLst>
              <a:gd name="adj" fmla="val 5000"/>
            </a:avLst>
          </a:prstGeom>
          <a:solidFill>
            <a:srgbClr val="C8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81040" y="3108960"/>
            <a:ext cx="247664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Inter"/>
              </a:rPr>
              <a:t>ИТОГ ЗА ГОД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81040" y="3657600"/>
            <a:ext cx="2476640" cy="13716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200" b="1" i="0">
                <a:solidFill>
                  <a:srgbClr val="FFFFFF"/>
                </a:solidFill>
                <a:latin typeface="Manrope"/>
              </a:rPr>
              <a:t>−1 230 000 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1040" y="4937760"/>
            <a:ext cx="247664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300" b="0" i="0">
                <a:solidFill>
                  <a:srgbClr val="FFFFFF"/>
                </a:solidFill>
                <a:latin typeface="Inter"/>
              </a:rPr>
              <a:t>+ 8 месяцев простоя</a:t>
            </a:r>
          </a:p>
          <a:p>
            <a:r>
              <a:rPr sz="1300" b="0" i="0">
                <a:solidFill>
                  <a:srgbClr val="FFFFFF"/>
                </a:solidFill>
                <a:latin typeface="Inter"/>
              </a:rPr>
              <a:t>в продажах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0000" y="621792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200" b="1" i="1">
                <a:solidFill>
                  <a:srgbClr val="2B7CE9"/>
                </a:solidFill>
                <a:latin typeface="Inter"/>
              </a:rPr>
              <a:t>С нами было бы — от 250 000 ₽/мес × 12 = 3 000 000 ₽ за год + работающий сайт + рост обращений.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Спектр · карта услуг по жизни сайта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280160"/>
            <a:ext cx="11072000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3800" b="1" i="0">
                <a:solidFill>
                  <a:srgbClr val="000000"/>
                </a:solidFill>
                <a:latin typeface="Manrope"/>
              </a:rPr>
              <a:t>Один партнёр на весь путь сайта.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14884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0" i="1">
                <a:solidFill>
                  <a:srgbClr val="7A7A85"/>
                </a:solidFill>
                <a:latin typeface="Inter"/>
              </a:rPr>
              <a:t>От первой строчки кода до видимости в AI-поиске. Цены — с сайта acoola.team.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00" y="3306470"/>
            <a:ext cx="10912000" cy="8000"/>
          </a:xfrm>
          <a:prstGeom prst="rect">
            <a:avLst/>
          </a:prstGeom>
          <a:solidFill>
            <a:srgbClr val="CCC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369333" y="3230470"/>
            <a:ext cx="160000" cy="1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0000" y="2697480"/>
            <a:ext cx="1778666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900" b="1" i="0">
                <a:solidFill>
                  <a:srgbClr val="2B7CE9"/>
                </a:solidFill>
                <a:latin typeface="Inter"/>
              </a:rPr>
              <a:t>ДО ЗАПУСКА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0000" y="3486470"/>
            <a:ext cx="1778666" cy="251429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335033" y="3803462"/>
            <a:ext cx="30000" cy="152400"/>
          </a:xfrm>
          <a:prstGeom prst="rect">
            <a:avLst/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533633" y="3803462"/>
            <a:ext cx="30000" cy="152400"/>
          </a:xfrm>
          <a:prstGeom prst="rect">
            <a:avLst/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434333" y="3765362"/>
            <a:ext cx="30000" cy="2286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00" y="4217990"/>
            <a:ext cx="1618666" cy="7772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Manrope"/>
              </a:rPr>
              <a:t>Разработка сайта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00" y="5040950"/>
            <a:ext cx="1618666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100" b="1" i="0">
                <a:solidFill>
                  <a:srgbClr val="2B7CE9"/>
                </a:solidFill>
                <a:latin typeface="Manrope"/>
              </a:rPr>
              <a:t>от 190 000 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00" y="5452430"/>
            <a:ext cx="1618666" cy="41117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900" b="0" i="0">
                <a:solidFill>
                  <a:srgbClr val="7A7A85"/>
                </a:solidFill>
                <a:latin typeface="Inter"/>
              </a:rPr>
              <a:t>Сайт-актив, готовый</a:t>
            </a:r>
          </a:p>
          <a:p>
            <a:pPr algn="ctr"/>
            <a:r>
              <a:rPr sz="900" b="0" i="0">
                <a:solidFill>
                  <a:srgbClr val="7A7A85"/>
                </a:solidFill>
                <a:latin typeface="Inter"/>
              </a:rPr>
              <a:t>к продвижению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27999" y="3230470"/>
            <a:ext cx="160000" cy="1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418666" y="2697480"/>
            <a:ext cx="1778666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900" b="1" i="0">
                <a:solidFill>
                  <a:srgbClr val="2B7CE9"/>
                </a:solidFill>
                <a:latin typeface="Inter"/>
              </a:rPr>
              <a:t>ПРИ ЗАПУСКЕ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18666" y="3486470"/>
            <a:ext cx="1778666" cy="251429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170839" y="374250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216559" y="3788222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262279" y="3833942"/>
            <a:ext cx="91440" cy="9144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498666" y="4217990"/>
            <a:ext cx="1618666" cy="7772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Manrope"/>
              </a:rPr>
              <a:t>Контекстная реклама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98666" y="5040950"/>
            <a:ext cx="1618666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100" b="1" i="0">
                <a:solidFill>
                  <a:srgbClr val="2B7CE9"/>
                </a:solidFill>
                <a:latin typeface="Manrope"/>
              </a:rPr>
              <a:t>от 35 000 ₽/мес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98666" y="5452430"/>
            <a:ext cx="1618666" cy="41117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900" b="0" i="0">
                <a:solidFill>
                  <a:srgbClr val="7A7A85"/>
                </a:solidFill>
                <a:latin typeface="Inter"/>
              </a:rPr>
              <a:t>Первые заявки</a:t>
            </a:r>
          </a:p>
          <a:p>
            <a:pPr algn="ctr"/>
            <a:r>
              <a:rPr sz="900" b="0" i="0">
                <a:solidFill>
                  <a:srgbClr val="7A7A85"/>
                </a:solidFill>
                <a:latin typeface="Inter"/>
              </a:rPr>
              <a:t>за дни, не месяцы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86665" y="3230470"/>
            <a:ext cx="160000" cy="1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77332" y="2697480"/>
            <a:ext cx="1778666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900" b="1" i="0">
                <a:solidFill>
                  <a:srgbClr val="2B7CE9"/>
                </a:solidFill>
                <a:latin typeface="Inter"/>
              </a:rPr>
              <a:t>ЧЕРЕЗ МЕСЯЦ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77332" y="3486470"/>
            <a:ext cx="1778666" cy="251429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090465" y="3765362"/>
            <a:ext cx="152400" cy="228600"/>
          </a:xfrm>
          <a:prstGeom prst="roundRect">
            <a:avLst>
              <a:gd name="adj" fmla="val 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052365" y="3727262"/>
            <a:ext cx="228600" cy="82296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57332" y="4217990"/>
            <a:ext cx="1618666" cy="7772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Manrope"/>
              </a:rPr>
              <a:t>SEO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57332" y="5040950"/>
            <a:ext cx="1618666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100" b="1" i="0">
                <a:solidFill>
                  <a:srgbClr val="2B7CE9"/>
                </a:solidFill>
                <a:latin typeface="Manrope"/>
              </a:rPr>
              <a:t>от 70 000 ₽/мес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57332" y="5452430"/>
            <a:ext cx="1618666" cy="41117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900" b="0" i="0">
                <a:solidFill>
                  <a:srgbClr val="7A7A85"/>
                </a:solidFill>
                <a:latin typeface="Inter"/>
              </a:rPr>
              <a:t>Системный рост</a:t>
            </a:r>
          </a:p>
          <a:p>
            <a:pPr algn="ctr"/>
            <a:r>
              <a:rPr sz="900" b="0" i="0">
                <a:solidFill>
                  <a:srgbClr val="7A7A85"/>
                </a:solidFill>
                <a:latin typeface="Inter"/>
              </a:rPr>
              <a:t>обращений из органики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45331" y="3230470"/>
            <a:ext cx="160000" cy="1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35998" y="2697480"/>
            <a:ext cx="1778666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900" b="1" i="0">
                <a:solidFill>
                  <a:srgbClr val="2B7CE9"/>
                </a:solidFill>
                <a:latin typeface="Inter"/>
              </a:rPr>
              <a:t>ЧЕРЕЗ 3 МЕСЯЦА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35998" y="3486470"/>
            <a:ext cx="1778666" cy="251429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899601" y="3731072"/>
            <a:ext cx="251460" cy="297180"/>
          </a:xfrm>
          <a:prstGeom prst="roundRect">
            <a:avLst>
              <a:gd name="adj" fmla="val 3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15998" y="4217990"/>
            <a:ext cx="1618666" cy="7772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Manrope"/>
              </a:rPr>
              <a:t>Управление репутацией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5998" y="5040950"/>
            <a:ext cx="1618666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100" b="1" i="0">
                <a:solidFill>
                  <a:srgbClr val="2B7CE9"/>
                </a:solidFill>
                <a:latin typeface="Manrope"/>
              </a:rPr>
              <a:t>от 50 000 ₽/мес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5998" y="5452430"/>
            <a:ext cx="1618666" cy="41117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900" b="0" i="0">
                <a:solidFill>
                  <a:srgbClr val="7A7A85"/>
                </a:solidFill>
                <a:latin typeface="Inter"/>
              </a:rPr>
              <a:t>Защищаем то,</a:t>
            </a:r>
          </a:p>
          <a:p>
            <a:pPr algn="ctr"/>
            <a:r>
              <a:rPr sz="900" b="0" i="0">
                <a:solidFill>
                  <a:srgbClr val="7A7A85"/>
                </a:solidFill>
                <a:latin typeface="Inter"/>
              </a:rPr>
              <a:t>что вы построили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03997" y="3230470"/>
            <a:ext cx="160000" cy="1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994664" y="2697480"/>
            <a:ext cx="1778666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900" b="1" i="0">
                <a:solidFill>
                  <a:srgbClr val="2B7CE9"/>
                </a:solidFill>
                <a:latin typeface="Inter"/>
              </a:rPr>
              <a:t>ПОСТОЯННО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94664" y="3486470"/>
            <a:ext cx="1778666" cy="251429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8819989" y="378822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8769697" y="3948242"/>
            <a:ext cx="228600" cy="27432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074664" y="4217990"/>
            <a:ext cx="1618666" cy="7772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Manrope"/>
              </a:rPr>
              <a:t>Техническая техподдержка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74664" y="5040950"/>
            <a:ext cx="1618666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100" b="1" i="0">
                <a:solidFill>
                  <a:srgbClr val="2B7CE9"/>
                </a:solidFill>
                <a:latin typeface="Manrope"/>
              </a:rPr>
              <a:t>от 17 000 ₽/мес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74664" y="5452430"/>
            <a:ext cx="1618666" cy="41117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900" b="0" i="0">
                <a:solidFill>
                  <a:srgbClr val="7A7A85"/>
                </a:solidFill>
                <a:latin typeface="Inter"/>
              </a:rPr>
              <a:t>Сайт всегда</a:t>
            </a:r>
          </a:p>
          <a:p>
            <a:pPr algn="ctr"/>
            <a:r>
              <a:rPr sz="900" b="0" i="0">
                <a:solidFill>
                  <a:srgbClr val="7A7A85"/>
                </a:solidFill>
                <a:latin typeface="Inter"/>
              </a:rPr>
              <a:t>на связи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662663" y="3230470"/>
            <a:ext cx="160000" cy="160000"/>
          </a:xfrm>
          <a:prstGeom prst="roundRect">
            <a:avLst>
              <a:gd name="adj" fmla="val 5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853330" y="2697480"/>
            <a:ext cx="1778666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900" b="1" i="0">
                <a:solidFill>
                  <a:srgbClr val="6B4FE9"/>
                </a:solidFill>
                <a:latin typeface="Inter"/>
              </a:rPr>
              <a:t>С 2025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853330" y="3486470"/>
            <a:ext cx="1778666" cy="2514290"/>
          </a:xfrm>
          <a:prstGeom prst="roundRect">
            <a:avLst>
              <a:gd name="adj" fmla="val 5000"/>
            </a:avLst>
          </a:prstGeom>
          <a:solidFill>
            <a:srgbClr val="ECE6FE"/>
          </a:solidFill>
          <a:ln w="6350">
            <a:solidFill>
              <a:srgbClr val="6B4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10662653" y="3799652"/>
            <a:ext cx="160020" cy="160020"/>
          </a:xfrm>
          <a:prstGeom prst="roundRect">
            <a:avLst>
              <a:gd name="adj" fmla="val 5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10728947" y="3705926"/>
            <a:ext cx="27432" cy="82296"/>
          </a:xfrm>
          <a:prstGeom prst="roundRect">
            <a:avLst>
              <a:gd name="adj" fmla="val 5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10728947" y="3971102"/>
            <a:ext cx="27432" cy="82296"/>
          </a:xfrm>
          <a:prstGeom prst="roundRect">
            <a:avLst>
              <a:gd name="adj" fmla="val 5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10568927" y="3865946"/>
            <a:ext cx="82296" cy="27432"/>
          </a:xfrm>
          <a:prstGeom prst="roundRect">
            <a:avLst>
              <a:gd name="adj" fmla="val 5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10834103" y="3865946"/>
            <a:ext cx="82296" cy="27432"/>
          </a:xfrm>
          <a:prstGeom prst="roundRect">
            <a:avLst>
              <a:gd name="adj" fmla="val 5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933330" y="4217990"/>
            <a:ext cx="1618666" cy="7772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Manrope"/>
              </a:rPr>
              <a:t>GEO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33330" y="5040950"/>
            <a:ext cx="1618666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100" b="1" i="0">
                <a:solidFill>
                  <a:srgbClr val="6B4FE9"/>
                </a:solidFill>
                <a:latin typeface="Manrope"/>
              </a:rPr>
              <a:t>от 90 000 ₽/мес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33330" y="5452430"/>
            <a:ext cx="1618666" cy="41117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900" b="0" i="0">
                <a:solidFill>
                  <a:srgbClr val="7A7A85"/>
                </a:solidFill>
                <a:latin typeface="Inter"/>
              </a:rPr>
              <a:t>Видимость бренда</a:t>
            </a:r>
          </a:p>
          <a:p>
            <a:pPr algn="ctr"/>
            <a:r>
              <a:rPr sz="900" b="0" i="0">
                <a:solidFill>
                  <a:srgbClr val="7A7A85"/>
                </a:solidFill>
                <a:latin typeface="Inter"/>
              </a:rPr>
              <a:t>в AI-поиске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0000" y="635508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200" b="0" i="1">
                <a:solidFill>
                  <a:srgbClr val="2B7CE9"/>
                </a:solidFill>
                <a:latin typeface="Inter"/>
              </a:rPr>
              <a:t>Один договор · один план · одна точка ответственности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Финал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280160"/>
            <a:ext cx="11072000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5200" b="1" i="0">
                <a:solidFill>
                  <a:srgbClr val="FFFFFF"/>
                </a:solidFill>
                <a:latin typeface="Manrope"/>
              </a:rPr>
              <a:t>Один контракт или пять?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19456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0" i="1">
                <a:solidFill>
                  <a:srgbClr val="7A7A85"/>
                </a:solidFill>
                <a:latin typeface="Inter"/>
              </a:rPr>
              <a:t>То, чем мы отличаемся, — устройство, а не магия.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2926080"/>
            <a:ext cx="5398840" cy="2743200"/>
          </a:xfrm>
          <a:prstGeom prst="roundRect">
            <a:avLst>
              <a:gd name="adj" fmla="val 6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0040" y="3200400"/>
            <a:ext cx="475876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1" i="0">
                <a:solidFill>
                  <a:srgbClr val="7A7A85"/>
                </a:solidFill>
                <a:latin typeface="Inter"/>
              </a:rPr>
              <a:t>ВАРИАНТ A — 5 ПОДРЯДЧИКОВ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040" y="3703320"/>
            <a:ext cx="4758760" cy="9601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0" i="0">
                <a:solidFill>
                  <a:srgbClr val="CCCCD0"/>
                </a:solidFill>
                <a:latin typeface="Inter"/>
              </a:rPr>
              <a:t>Дизайн — у одного. Разработка — у другого.</a:t>
            </a:r>
          </a:p>
          <a:p>
            <a:r>
              <a:rPr sz="1400" b="0" i="0">
                <a:solidFill>
                  <a:srgbClr val="CCCCD0"/>
                </a:solidFill>
                <a:latin typeface="Inter"/>
              </a:rPr>
              <a:t>SEO — у третьего. Контекст — у четвёртого.</a:t>
            </a:r>
          </a:p>
          <a:p>
            <a:r>
              <a:rPr sz="1400" b="0" i="0">
                <a:solidFill>
                  <a:srgbClr val="CCCCD0"/>
                </a:solidFill>
                <a:latin typeface="Inter"/>
              </a:rPr>
              <a:t>Поддержка — у пятого.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0040" y="4754880"/>
            <a:ext cx="475876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 i="1">
                <a:solidFill>
                  <a:srgbClr val="7A7A85"/>
                </a:solidFill>
                <a:latin typeface="Inter"/>
              </a:rPr>
              <a:t>5 счетов · 5 KPI · 5 разных стандартов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040" y="5166360"/>
            <a:ext cx="475876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Manrope"/>
              </a:rPr>
              <a:t>Никто не отвечает за общий результат.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160" y="2926080"/>
            <a:ext cx="5398840" cy="2743200"/>
          </a:xfrm>
          <a:prstGeom prst="roundRect">
            <a:avLst>
              <a:gd name="adj" fmla="val 6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53200" y="3200400"/>
            <a:ext cx="475876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Inter"/>
              </a:rPr>
              <a:t>ВАРИАНТ B — 1 КОМАНДА · 6 НАПРАВЛЕНИЙ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200" y="3703320"/>
            <a:ext cx="4758760" cy="9601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300" b="0" i="0">
                <a:solidFill>
                  <a:srgbClr val="FFFFFF"/>
                </a:solidFill>
                <a:latin typeface="Inter"/>
              </a:rPr>
              <a:t>Разработка сайта / SEO / Контекстная реклама /</a:t>
            </a:r>
          </a:p>
          <a:p>
            <a:r>
              <a:rPr sz="1300" b="0" i="0">
                <a:solidFill>
                  <a:srgbClr val="FFFFFF"/>
                </a:solidFill>
                <a:latin typeface="Inter"/>
              </a:rPr>
              <a:t>Управление репутацией / Техническая техподдержка / GEO —</a:t>
            </a:r>
          </a:p>
          <a:p>
            <a:r>
              <a:rPr sz="1300" b="0" i="0">
                <a:solidFill>
                  <a:srgbClr val="FFFFFF"/>
                </a:solidFill>
                <a:latin typeface="Inter"/>
              </a:rPr>
              <a:t>один договор, один план, одна точка ответственности.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200" y="4754880"/>
            <a:ext cx="475876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 i="1">
                <a:solidFill>
                  <a:srgbClr val="DDE9FB"/>
                </a:solidFill>
                <a:latin typeface="Inter"/>
              </a:rPr>
              <a:t>Среди клиентов — Сбер, БыстроБанк, Главстрой, Pioneer.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200" y="5166360"/>
            <a:ext cx="475876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Manrope"/>
              </a:rPr>
              <a:t>95% продлевают. Средний срок — 3,5+ года.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0000" y="589788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400" b="0" i="1">
                <a:solidFill>
                  <a:srgbClr val="7A7A85"/>
                </a:solidFill>
                <a:latin typeface="Inter"/>
              </a:rPr>
              <a:t>Если узнали себя в варианте слева — мы и есть та самая альтернатива.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0000" y="5989320"/>
            <a:ext cx="11072000" cy="640080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0000" y="5989320"/>
            <a:ext cx="11072000" cy="6400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anrope"/>
              </a:rPr>
              <a:t>hello@acoola.team   ·   +7 499 938-48-27   ·   acoola.team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6B4FE9"/>
                </a:solidFill>
                <a:latin typeface="Inter"/>
              </a:rPr>
              <a:t>Бонус — забирайте, даже если не работаете с нами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280160"/>
            <a:ext cx="11072000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3800" b="1" i="0">
                <a:solidFill>
                  <a:srgbClr val="000000"/>
                </a:solidFill>
                <a:latin typeface="Manrope"/>
              </a:rPr>
              <a:t>Готов ли ваш сайт к AI-поиску?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19456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0" i="1">
                <a:solidFill>
                  <a:srgbClr val="7A7A85"/>
                </a:solidFill>
                <a:latin typeface="Inter"/>
              </a:rPr>
              <a:t>5 вопросов самопроверки. «Да» на 4+ — отлично. Меньше 2 — вы невидимы в 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2743200"/>
            <a:ext cx="215040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2880" y="2971800"/>
            <a:ext cx="178464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200" b="1" i="0">
                <a:solidFill>
                  <a:srgbClr val="6B4FE9"/>
                </a:solidFill>
                <a:latin typeface="Manrope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880" y="3520440"/>
            <a:ext cx="1784640" cy="12801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300" b="1" i="0">
                <a:solidFill>
                  <a:srgbClr val="000000"/>
                </a:solidFill>
                <a:latin typeface="Manrope"/>
              </a:rPr>
              <a:t>Schema.org на ключевых страницах?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880" y="4846320"/>
            <a:ext cx="178464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 i="0">
                <a:solidFill>
                  <a:srgbClr val="7A7A85"/>
                </a:solidFill>
                <a:latin typeface="Inter"/>
              </a:rPr>
              <a:t>Структурированная разметка помогает AI парсить ваш контент в ответ.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90400" y="2743200"/>
            <a:ext cx="215040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73280" y="2971800"/>
            <a:ext cx="178464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200" b="1" i="0">
                <a:solidFill>
                  <a:srgbClr val="6B4FE9"/>
                </a:solidFill>
                <a:latin typeface="Manrope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3280" y="3520440"/>
            <a:ext cx="1784640" cy="12801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300" b="1" i="0">
                <a:solidFill>
                  <a:srgbClr val="000000"/>
                </a:solidFill>
                <a:latin typeface="Manrope"/>
              </a:rPr>
              <a:t>В robots.txt разрешены AI-боты?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3280" y="4846320"/>
            <a:ext cx="178464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 i="0">
                <a:solidFill>
                  <a:srgbClr val="7A7A85"/>
                </a:solidFill>
                <a:latin typeface="Inter"/>
              </a:rPr>
              <a:t>GPTBot, PerplexityBot, ClaudeBot должны видеть сайт. Иначе вы вне их базы.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0800" y="2743200"/>
            <a:ext cx="215040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03680" y="2971800"/>
            <a:ext cx="178464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200" b="1" i="0">
                <a:solidFill>
                  <a:srgbClr val="6B4FE9"/>
                </a:solidFill>
                <a:latin typeface="Manrope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03680" y="3520440"/>
            <a:ext cx="1784640" cy="12801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300" b="1" i="0">
                <a:solidFill>
                  <a:srgbClr val="000000"/>
                </a:solidFill>
                <a:latin typeface="Manrope"/>
              </a:rPr>
              <a:t>Бренд упоминают в отраслевых медиа?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03680" y="4846320"/>
            <a:ext cx="178464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 i="0">
                <a:solidFill>
                  <a:srgbClr val="7A7A85"/>
                </a:solidFill>
                <a:latin typeface="Inter"/>
              </a:rPr>
              <a:t>AI цитирует не сайт-визитку, а статьи в VC, Habr, профильных СМИ.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51200" y="2743200"/>
            <a:ext cx="215040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34080" y="2971800"/>
            <a:ext cx="178464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200" b="1" i="0">
                <a:solidFill>
                  <a:srgbClr val="6B4FE9"/>
                </a:solidFill>
                <a:latin typeface="Manrope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34080" y="3520440"/>
            <a:ext cx="1784640" cy="12801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300" b="1" i="0">
                <a:solidFill>
                  <a:srgbClr val="000000"/>
                </a:solidFill>
                <a:latin typeface="Manrope"/>
              </a:rPr>
              <a:t>Краткий ответ в первых 100 словах?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34080" y="4846320"/>
            <a:ext cx="178464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 i="0">
                <a:solidFill>
                  <a:srgbClr val="7A7A85"/>
                </a:solidFill>
                <a:latin typeface="Inter"/>
              </a:rPr>
              <a:t>На ключевых страницах. Чтобы AI было что выдернуть в цитату.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81600" y="2743200"/>
            <a:ext cx="215040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64480" y="2971800"/>
            <a:ext cx="178464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200" b="1" i="0">
                <a:solidFill>
                  <a:srgbClr val="6B4FE9"/>
                </a:solidFill>
                <a:latin typeface="Manrope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64480" y="3520440"/>
            <a:ext cx="1784640" cy="12801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300" b="1" i="0">
                <a:solidFill>
                  <a:srgbClr val="000000"/>
                </a:solidFill>
                <a:latin typeface="Manrope"/>
              </a:rPr>
              <a:t>Мониторите видимость в ChatGPT/Perplexity?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64480" y="4846320"/>
            <a:ext cx="178464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 i="0">
                <a:solidFill>
                  <a:srgbClr val="7A7A85"/>
                </a:solidFill>
                <a:latin typeface="Inter"/>
              </a:rPr>
              <a:t>Замеряете, как часто бренд появляется в AI-ответах? Если нет — не управляете.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0000" y="5989320"/>
            <a:ext cx="11072000" cy="640080"/>
          </a:xfrm>
          <a:prstGeom prst="roundRect">
            <a:avLst>
              <a:gd name="adj" fmla="val 15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0000" y="5989320"/>
            <a:ext cx="11072000" cy="6400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anrope"/>
              </a:rPr>
              <a:t>Меньше 2 «да» — мы это и решаем. GEO-аудит за 3 дня: hello@acoola.team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2338</Words>
  <Application>Microsoft Macintosh PowerPoint</Application>
  <PresentationFormat>Широкоэкранный</PresentationFormat>
  <Paragraphs>474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8" baseType="lpstr">
      <vt:lpstr>Arial</vt:lpstr>
      <vt:lpstr>Calibri</vt:lpstr>
      <vt:lpstr>Inter</vt:lpstr>
      <vt:lpstr>Manrope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Evgeny Shchemelev</cp:lastModifiedBy>
  <cp:revision>2</cp:revision>
  <dcterms:created xsi:type="dcterms:W3CDTF">2013-01-27T09:14:16Z</dcterms:created>
  <dcterms:modified xsi:type="dcterms:W3CDTF">2026-05-12T11:28:49Z</dcterms:modified>
  <cp:category/>
</cp:coreProperties>
</file>